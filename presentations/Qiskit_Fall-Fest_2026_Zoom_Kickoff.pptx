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54"/>
  </p:notesMasterIdLst>
  <p:handoutMasterIdLst>
    <p:handoutMasterId r:id="rId55"/>
  </p:handoutMasterIdLst>
  <p:sldIdLst>
    <p:sldId id="620" r:id="rId2"/>
    <p:sldId id="622" r:id="rId3"/>
    <p:sldId id="619" r:id="rId4"/>
    <p:sldId id="616" r:id="rId5"/>
    <p:sldId id="623" r:id="rId6"/>
    <p:sldId id="405" r:id="rId7"/>
    <p:sldId id="628" r:id="rId8"/>
    <p:sldId id="629" r:id="rId9"/>
    <p:sldId id="308" r:id="rId10"/>
    <p:sldId id="317" r:id="rId11"/>
    <p:sldId id="630" r:id="rId12"/>
    <p:sldId id="269" r:id="rId13"/>
    <p:sldId id="265" r:id="rId14"/>
    <p:sldId id="271" r:id="rId15"/>
    <p:sldId id="272" r:id="rId16"/>
    <p:sldId id="273" r:id="rId17"/>
    <p:sldId id="279" r:id="rId18"/>
    <p:sldId id="280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7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631" r:id="rId49"/>
    <p:sldId id="624" r:id="rId50"/>
    <p:sldId id="625" r:id="rId51"/>
    <p:sldId id="621" r:id="rId52"/>
    <p:sldId id="627" r:id="rId53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>
            <p14:sldId id="620"/>
            <p14:sldId id="622"/>
            <p14:sldId id="619"/>
            <p14:sldId id="616"/>
            <p14:sldId id="623"/>
            <p14:sldId id="405"/>
            <p14:sldId id="628"/>
            <p14:sldId id="629"/>
            <p14:sldId id="308"/>
            <p14:sldId id="317"/>
            <p14:sldId id="630"/>
            <p14:sldId id="269"/>
            <p14:sldId id="265"/>
            <p14:sldId id="271"/>
            <p14:sldId id="272"/>
            <p14:sldId id="273"/>
            <p14:sldId id="279"/>
            <p14:sldId id="280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7"/>
            <p14:sldId id="309"/>
            <p14:sldId id="310"/>
            <p14:sldId id="311"/>
            <p14:sldId id="312"/>
            <p14:sldId id="313"/>
            <p14:sldId id="314"/>
            <p14:sldId id="315"/>
            <p14:sldId id="631"/>
            <p14:sldId id="624"/>
            <p14:sldId id="625"/>
            <p14:sldId id="621"/>
            <p14:sldId id="62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72A"/>
    <a:srgbClr val="697077"/>
    <a:srgbClr val="FF7EB6"/>
    <a:srgbClr val="BE95FF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4"/>
    <p:restoredTop sz="96327"/>
  </p:normalViewPr>
  <p:slideViewPr>
    <p:cSldViewPr snapToGrid="0" snapToObjects="1">
      <p:cViewPr varScale="1">
        <p:scale>
          <a:sx n="66" d="100"/>
          <a:sy n="66" d="100"/>
        </p:scale>
        <p:origin x="92" y="100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0A94-A339-BA54-2E85-90092486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EF168-517F-F422-3B55-D275C6810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AD252-7BE1-12ED-B46B-B54EC6C19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16C6-436F-CAF0-959F-B7203F4CB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7F92-E21C-D3BA-7F49-13D01C631B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5161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1817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08898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97FF4-B2C5-31A8-8539-A97B37DA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577C8-8C59-0F3D-8EC6-37C5A9B4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DEBE7-20AC-4F10-3C00-D72445AB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52EA6-0DFE-12E3-79B2-49A31D13C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493C6-113E-C92C-A38C-04B65C3324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6224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310B2-FFF5-A3CC-7668-83F48B6F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9546D-AFD2-F134-8872-D5EC9B1CF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D62CF-FEB5-DEA7-FB78-F1470D0B4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7C1A4-2BC6-00B3-F986-9355258BC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1754-95C2-7897-7E66-3A8E173146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882653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6427-9611-9241-5F32-A5E49D02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BD6B3-F4AC-A5EB-3000-C9EFEF2BB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2535A-8019-4F6E-9E81-002BA95D7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765B2-410C-F352-94B6-F2E66040A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F3472-C357-9FFD-E8B3-4D1082350A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90030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9F9E-6697-27DE-E6AC-A075E48A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313D8-11A3-67FF-7F95-37CD7B88D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1BA85-3A33-EC24-4D7A-C3393C058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0B797-BB2B-A09A-84AD-26FB6D38A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0B931-B516-2C8E-CC59-3229E846DA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8091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78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945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8513158" y="15748382"/>
            <a:ext cx="372473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875">
              <a:spcBef>
                <a:spcPts val="164"/>
              </a:spcBef>
            </a:pPr>
            <a:fld id="{81D60167-4931-47E6-BA6A-407CBD079E47}" type="slidenum">
              <a:rPr lang="en-US" spc="109" smtClean="0"/>
              <a:pPr marL="90875">
                <a:spcBef>
                  <a:spcPts val="164"/>
                </a:spcBef>
              </a:pPr>
              <a:t>‹#›</a:t>
            </a:fld>
            <a:endParaRPr lang="en-US" spc="109" dirty="0"/>
          </a:p>
        </p:txBody>
      </p:sp>
    </p:spTree>
    <p:extLst>
      <p:ext uri="{BB962C8B-B14F-4D97-AF65-F5344CB8AC3E}">
        <p14:creationId xmlns:p14="http://schemas.microsoft.com/office/powerpoint/2010/main" val="5645720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28513158" y="15748382"/>
            <a:ext cx="372473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875">
              <a:spcBef>
                <a:spcPts val="164"/>
              </a:spcBef>
            </a:pPr>
            <a:fld id="{81D60167-4931-47E6-BA6A-407CBD079E47}" type="slidenum">
              <a:rPr lang="en-US" spc="109" smtClean="0"/>
              <a:pPr marL="90875">
                <a:spcBef>
                  <a:spcPts val="164"/>
                </a:spcBef>
              </a:pPr>
              <a:t>‹#›</a:t>
            </a:fld>
            <a:endParaRPr lang="en-US" spc="109" dirty="0"/>
          </a:p>
        </p:txBody>
      </p:sp>
    </p:spTree>
    <p:extLst>
      <p:ext uri="{BB962C8B-B14F-4D97-AF65-F5344CB8AC3E}">
        <p14:creationId xmlns:p14="http://schemas.microsoft.com/office/powerpoint/2010/main" val="2565687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78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28513158" y="15748382"/>
            <a:ext cx="372473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875">
              <a:spcBef>
                <a:spcPts val="164"/>
              </a:spcBef>
            </a:pPr>
            <a:fld id="{81D60167-4931-47E6-BA6A-407CBD079E47}" type="slidenum">
              <a:rPr lang="en-US" spc="109" smtClean="0"/>
              <a:pPr marL="90875">
                <a:spcBef>
                  <a:spcPts val="164"/>
                </a:spcBef>
              </a:pPr>
              <a:t>‹#›</a:t>
            </a:fld>
            <a:endParaRPr lang="en-US" spc="109" dirty="0"/>
          </a:p>
        </p:txBody>
      </p:sp>
    </p:spTree>
    <p:extLst>
      <p:ext uri="{BB962C8B-B14F-4D97-AF65-F5344CB8AC3E}">
        <p14:creationId xmlns:p14="http://schemas.microsoft.com/office/powerpoint/2010/main" val="21330016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78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19359" y="3154680"/>
            <a:ext cx="10608422" cy="57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2559394" y="3154680"/>
            <a:ext cx="10608422" cy="57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8513158" y="15748382"/>
            <a:ext cx="372473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875">
              <a:spcBef>
                <a:spcPts val="164"/>
              </a:spcBef>
            </a:pPr>
            <a:fld id="{81D60167-4931-47E6-BA6A-407CBD079E47}" type="slidenum">
              <a:rPr lang="en-US" spc="109" smtClean="0"/>
              <a:pPr marL="90875">
                <a:spcBef>
                  <a:spcPts val="164"/>
                </a:spcBef>
              </a:pPr>
              <a:t>‹#›</a:t>
            </a:fld>
            <a:endParaRPr lang="en-US" spc="109" dirty="0"/>
          </a:p>
        </p:txBody>
      </p:sp>
    </p:spTree>
    <p:extLst>
      <p:ext uri="{BB962C8B-B14F-4D97-AF65-F5344CB8AC3E}">
        <p14:creationId xmlns:p14="http://schemas.microsoft.com/office/powerpoint/2010/main" val="130623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  <p:sldLayoutId id="2147483963" r:id="rId46"/>
    <p:sldLayoutId id="2147483964" r:id="rId47"/>
    <p:sldLayoutId id="2147483965" r:id="rId48"/>
    <p:sldLayoutId id="2147483966" r:id="rId49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quantum/events/fall-fest-202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ibm.com/quantum/hardware#roadma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attleQuantumComputingMeetup/qiskit_fallfest_202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eetup.com/seattle-quantum-computing-meetup/events/316848957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meetup.com/seattle-quantum-computing-meetup/eve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iscord.gg/UWpn5R6bp" TargetMode="External"/><Relationship Id="rId5" Type="http://schemas.openxmlformats.org/officeDocument/2006/relationships/hyperlink" Target="https://forms.gle/wfyYZZ68VCtTRZ3q7" TargetMode="External"/><Relationship Id="rId10" Type="http://schemas.openxmlformats.org/officeDocument/2006/relationships/hyperlink" Target="https://www.meetup.com/seattle-quantum-computing-meetup/events/316774512/" TargetMode="External"/><Relationship Id="rId4" Type="http://schemas.openxmlformats.org/officeDocument/2006/relationships/hyperlink" Target="https://github.com/SeattleQuantumComputingMeetup/qiskit_fallfest_2026" TargetMode="External"/><Relationship Id="rId9" Type="http://schemas.openxmlformats.org/officeDocument/2006/relationships/hyperlink" Target="https://www.meetup.com/seattle-quantum-computing-meetup/events/316849069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github.com/SeattleQuantumComputingMeetup/qiskit_fallfest_2026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rahacks.io/hackathon/564/businesschallenge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github.com/SeattleQuantumComputingMeetup/qiskit_fallfest_2026/tree/main/hackathon_prompts" TargetMode="External"/><Relationship Id="rId12" Type="http://schemas.openxmlformats.org/officeDocument/2006/relationships/hyperlink" Target="https://www.ibm.com/quantum/blog/qiskit-advocate-progra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quantum.cloud.ibm.com/docs/en/tutorials" TargetMode="External"/><Relationship Id="rId11" Type="http://schemas.openxmlformats.org/officeDocument/2006/relationships/hyperlink" Target="https://www.ibm.com/training/certification/ibm-certified-quantum-computation-using-qiskit-v2x-developer-associate-C9008400" TargetMode="External"/><Relationship Id="rId5" Type="http://schemas.openxmlformats.org/officeDocument/2006/relationships/hyperlink" Target="https://quantum.cloud.ibm.com/learning/en/courses" TargetMode="External"/><Relationship Id="rId10" Type="http://schemas.openxmlformats.org/officeDocument/2006/relationships/hyperlink" Target="https://github.com/dlab-berkeley/vibe-coding-for-research" TargetMode="External"/><Relationship Id="rId4" Type="http://schemas.openxmlformats.org/officeDocument/2006/relationships/hyperlink" Target="https://github.com/SeattleQuantumComputingMeetup/qiskit_fallfest_2026" TargetMode="External"/><Relationship Id="rId9" Type="http://schemas.openxmlformats.org/officeDocument/2006/relationships/hyperlink" Target="https://www.ibm.com/quantum/hardwar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www.youtube.com/playlist?list=PLOFEBzvs-Vvr0uEoGFo08n4-WrM_8fft2" TargetMode="External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eattleQuantumComputingMeetup/qiskit_fallfest_2026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quantum.cloud.ibm.com/docs/en/tutorials/hello-world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6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quantum.cloud.ibm.com/learning/en/courses/use-a-qc-today/your-first-quantum-experiment" TargetMode="Externa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s://www.youtube.com/watch?v=l5I9M3C2wzg" TargetMode="Externa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qiskit-community/qgss-2026/blob/main/lab-0/QGSS2026_Lab0.ipynb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1.png"/><Relationship Id="rId5" Type="http://schemas.openxmlformats.org/officeDocument/2006/relationships/image" Target="../media/image23.jpg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youtube.com/watch?v=47loAu08F2w&amp;list=PLcYB0kKPI4a8&amp;index=5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10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27.png"/><Relationship Id="rId2" Type="http://schemas.openxmlformats.org/officeDocument/2006/relationships/hyperlink" Target="https://quantum.cloud.ibm.com/docs/en/tutorials/quantum-approximate-optimization-algorithm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hyperlink" Target="https://quantum.cloud.ibm.com/learning/en/courses/quantum-computing-in-practice/utility-scale-qaoa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hyperlink" Target="https://quantum.cloud.ibm.com/docs/en/tutorials/combine-error-mitigation-techniques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30.jpg"/><Relationship Id="rId2" Type="http://schemas.openxmlformats.org/officeDocument/2006/relationships/hyperlink" Target="https://www.youtube.com/watch?v=l5V8J_yMEis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17.png"/><Relationship Id="rId7" Type="http://schemas.openxmlformats.org/officeDocument/2006/relationships/image" Target="../media/image30.jpg"/><Relationship Id="rId2" Type="http://schemas.openxmlformats.org/officeDocument/2006/relationships/hyperlink" Target="http://youtube.com/watch?v=ix52wx4_zek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quantum.cloud.ibm.com/docs/en/guides/addons" TargetMode="External"/><Relationship Id="rId1" Type="http://schemas.openxmlformats.org/officeDocument/2006/relationships/slideLayout" Target="../slideLayouts/slideLayout46.xml"/><Relationship Id="rId5" Type="http://schemas.openxmlformats.org/officeDocument/2006/relationships/hyperlink" Target="https://github.com/qiskit-community/qgss-2025-lecture-notes/blob/main/Day%205%20-%20Practical%20Quantum%20Techniques%20by%20Joana%20Fraxanet%20Morales.pdf" TargetMode="Externa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6.xml"/><Relationship Id="rId5" Type="http://schemas.openxmlformats.org/officeDocument/2006/relationships/hyperlink" Target="https://quantum.cloud.ibm.com/docs/en/guides/get-started-with-executor" TargetMode="Externa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hyperlink" Target="https://github.com/Qiskit/qiskit-addon-sqd" TargetMode="External"/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iskit-Extensions/mthree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hyperlink" Target="https://github.com/qiskit-community/qgss-2025-lecture-notes/blob/main/Day%205%20-%20Practical%20Quantum%20Algorithms%20by%20Joana%20Fraxanet%20Morales.pdf" TargetMode="External"/><Relationship Id="rId7" Type="http://schemas.openxmlformats.org/officeDocument/2006/relationships/image" Target="../media/image26.png"/><Relationship Id="rId2" Type="http://schemas.openxmlformats.org/officeDocument/2006/relationships/hyperlink" Target="https://quantum.cloud.ibm.com/docs/en/tutorials/sample-based-quantum-diagonalization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5.png"/><Relationship Id="rId5" Type="http://schemas.openxmlformats.org/officeDocument/2006/relationships/image" Target="../media/image10.jp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39.jpg"/><Relationship Id="rId2" Type="http://schemas.openxmlformats.org/officeDocument/2006/relationships/hyperlink" Target="https://youtube.com/watch?v=WuaoaknYDrk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17.png"/><Relationship Id="rId7" Type="http://schemas.openxmlformats.org/officeDocument/2006/relationships/image" Target="../media/image38.jpg"/><Relationship Id="rId2" Type="http://schemas.openxmlformats.org/officeDocument/2006/relationships/hyperlink" Target="https://quantum.cloud.ibm.com/docs/en/tutorials/advanced-techniques-for-qaoa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Relationship Id="rId9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hyperlink" Target="https://www.youtube.com/watch?v=D5cAo5O6xZM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41.jp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42.jpg"/><Relationship Id="rId2" Type="http://schemas.openxmlformats.org/officeDocument/2006/relationships/hyperlink" Target="https://quantum.cloud.ibm.com/docs/en/tutorials/warm-start-qaoa" TargetMode="Externa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hyperlink" Target="https://github.com/qiskit-community/qgss-2026/blob/main/lab-4/QGSS2026_Lab4a.ipynb" TargetMode="External"/><Relationship Id="rId7" Type="http://schemas.openxmlformats.org/officeDocument/2006/relationships/image" Target="../media/image29.png"/><Relationship Id="rId2" Type="http://schemas.openxmlformats.org/officeDocument/2006/relationships/hyperlink" Target="https://www.youtube.com/watch?v=aBlZlTWWjuE" TargetMode="Externa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5.png"/><Relationship Id="rId11" Type="http://schemas.openxmlformats.org/officeDocument/2006/relationships/hyperlink" Target="https://quantum-advantage-tracker.github.io/" TargetMode="External"/><Relationship Id="rId5" Type="http://schemas.openxmlformats.org/officeDocument/2006/relationships/image" Target="../media/image10.jpg"/><Relationship Id="rId10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43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11.png"/><Relationship Id="rId4" Type="http://schemas.openxmlformats.org/officeDocument/2006/relationships/image" Target="../media/image46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iscord.gg/rRc8uj34s" TargetMode="External"/><Relationship Id="rId5" Type="http://schemas.openxmlformats.org/officeDocument/2006/relationships/hyperlink" Target="https://github.com/SeattleQuantumComputingMeetup/qiskit_fallfest_2026" TargetMode="External"/><Relationship Id="rId4" Type="http://schemas.openxmlformats.org/officeDocument/2006/relationships/hyperlink" Target="https://forms.gle/bRnicddwZMJeXm8G6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8565-7F8C-02B2-C023-76DFC301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8D1FA-790B-BE98-6D1F-5A6EAB6BE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697077"/>
                </a:solidFill>
                <a:latin typeface="IBM Plex Mono" panose="020B0509050203000203" pitchFamily="49" charset="77"/>
              </a:rPr>
              <a:t>Qiskit</a:t>
            </a:r>
            <a:r>
              <a:rPr lang="en-US" dirty="0">
                <a:solidFill>
                  <a:srgbClr val="697077"/>
                </a:solidFill>
                <a:latin typeface="IBM Plex Mono" panose="020B0509050203000203" pitchFamily="49" charset="77"/>
              </a:rPr>
              <a:t> Fall Fest 202</a:t>
            </a:r>
            <a:r>
              <a:rPr lang="en-US" altLang="ko-KR" dirty="0">
                <a:solidFill>
                  <a:srgbClr val="697077"/>
                </a:solidFill>
                <a:latin typeface="IBM Plex Mono" panose="020B0509050203000203" pitchFamily="49" charset="77"/>
              </a:rPr>
              <a:t>6</a:t>
            </a:r>
            <a:endParaRPr lang="en-US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EB306-8B59-F739-1EC6-FA841CDA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25" y="1527048"/>
            <a:ext cx="10099675" cy="933767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Decade in the Cloud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br>
              <a:rPr lang="en-US" sz="6600" dirty="0">
                <a:solidFill>
                  <a:schemeClr val="tx1"/>
                </a:solidFill>
                <a:latin typeface="+mj-lt"/>
              </a:rPr>
            </a:br>
            <a:r>
              <a:rPr lang="en-US" sz="6600" dirty="0">
                <a:solidFill>
                  <a:schemeClr val="tx1"/>
                </a:solidFill>
                <a:latin typeface="+mj-lt"/>
              </a:rPr>
              <a:t>Welcome!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3635637-1E5E-106A-A762-CEC4372BF058}"/>
              </a:ext>
            </a:extLst>
          </p:cNvPr>
          <p:cNvSpPr txBox="1">
            <a:spLocks/>
          </p:cNvSpPr>
          <p:nvPr/>
        </p:nvSpPr>
        <p:spPr>
          <a:xfrm>
            <a:off x="576072" y="7103267"/>
            <a:ext cx="5991963" cy="18047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IBM Plex Sans Medm" panose="020B0503050203000203" pitchFamily="34" charset="0"/>
              </a:rPr>
              <a:t>Natalie Hawkins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latin typeface="+mj-lt"/>
              </a:rPr>
              <a:t>Lead Organizer, QFF26</a:t>
            </a:r>
          </a:p>
          <a:p>
            <a:r>
              <a:rPr lang="en-US" sz="2800" dirty="0">
                <a:effectLst/>
                <a:latin typeface="+mj-lt"/>
              </a:rPr>
              <a:t>Tier 2 </a:t>
            </a:r>
            <a:r>
              <a:rPr lang="en-US" sz="2800" dirty="0" err="1">
                <a:effectLst/>
                <a:latin typeface="+mj-lt"/>
              </a:rPr>
              <a:t>Qiskit</a:t>
            </a:r>
            <a:r>
              <a:rPr lang="en-US" sz="2800" dirty="0">
                <a:effectLst/>
                <a:latin typeface="+mj-lt"/>
              </a:rPr>
              <a:t> Advocate</a:t>
            </a:r>
            <a:br>
              <a:rPr lang="en-US" sz="2800" dirty="0">
                <a:effectLst/>
                <a:latin typeface="+mj-lt"/>
              </a:rPr>
            </a:br>
            <a:r>
              <a:rPr lang="en-US" sz="2800" dirty="0">
                <a:latin typeface="+mj-lt"/>
              </a:rPr>
              <a:t>Seattle Quantum Computing Meetup </a:t>
            </a:r>
            <a:endParaRPr lang="en-US" sz="2800" dirty="0"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71F0B-D9E0-C64D-108B-A65871DB2028}"/>
              </a:ext>
            </a:extLst>
          </p:cNvPr>
          <p:cNvSpPr txBox="1"/>
          <p:nvPr/>
        </p:nvSpPr>
        <p:spPr>
          <a:xfrm>
            <a:off x="22983568" y="-32127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8913B-B5E9-C59B-A3BC-AD70A2C1C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3708" y="706779"/>
            <a:ext cx="9897395" cy="121408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09C3CE-733E-92EC-CCE7-E1B2BC03C7D3}"/>
              </a:ext>
            </a:extLst>
          </p:cNvPr>
          <p:cNvSpPr txBox="1"/>
          <p:nvPr/>
        </p:nvSpPr>
        <p:spPr>
          <a:xfrm>
            <a:off x="27679135" y="415187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CC417-8BA4-A5E9-55CA-C21D2D16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73" y="10759408"/>
            <a:ext cx="2859087" cy="28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4566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AEBC-7C59-3E8D-1965-34A74DD7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DBF73A-F1A9-1A8C-EC0C-E9A669A97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9244" y="544512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DE21B1-6DF0-841C-2C92-0F1F0039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84048"/>
            <a:ext cx="17648134" cy="11599405"/>
          </a:xfrm>
        </p:spPr>
        <p:txBody>
          <a:bodyPr/>
          <a:lstStyle/>
          <a:p>
            <a:r>
              <a:rPr lang="en-US" sz="8600" b="1" dirty="0"/>
              <a:t>QFF26 Kickoff Agenda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What is </a:t>
            </a:r>
            <a:r>
              <a:rPr lang="en-US" dirty="0" err="1"/>
              <a:t>Qiskit</a:t>
            </a:r>
            <a:r>
              <a:rPr lang="en-US" dirty="0"/>
              <a:t> Fall Fest?  What is </a:t>
            </a:r>
            <a:r>
              <a:rPr lang="en-US" dirty="0" err="1"/>
              <a:t>Qiskit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What are we going to do? </a:t>
            </a:r>
            <a:r>
              <a:rPr lang="en-US" dirty="0">
                <a:sym typeface="Wingdings" panose="05000000000000000000" pitchFamily="2" charset="2"/>
              </a:rPr>
              <a:t> Have Fun!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How can I earn an IBM Quantum Certificate?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What’s next event-wise?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How can I learn more?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6D7752-B0CA-B36E-70B0-26AA0862F6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4A026-5348-ADBB-704C-C1248C1D4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1988" y="8989729"/>
            <a:ext cx="3333750" cy="333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E33B21-DA60-2089-BCAF-0839CBC53303}"/>
              </a:ext>
            </a:extLst>
          </p:cNvPr>
          <p:cNvSpPr txBox="1"/>
          <p:nvPr/>
        </p:nvSpPr>
        <p:spPr>
          <a:xfrm>
            <a:off x="20145675" y="6734275"/>
            <a:ext cx="3672655" cy="2276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Please scan this QR code to register with IBM Quantum:</a:t>
            </a:r>
          </a:p>
        </p:txBody>
      </p:sp>
    </p:spTree>
    <p:extLst>
      <p:ext uri="{BB962C8B-B14F-4D97-AF65-F5344CB8AC3E}">
        <p14:creationId xmlns:p14="http://schemas.microsoft.com/office/powerpoint/2010/main" val="84397903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30839A-819A-AF21-5CC3-5B32ACCF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4" y="420624"/>
            <a:ext cx="22699995" cy="97972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QFF26 – Global Event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gradFill>
                  <a:gsLst>
                    <a:gs pos="0">
                      <a:srgbClr val="FF7EB6"/>
                    </a:gs>
                    <a:gs pos="99000">
                      <a:srgbClr val="BE95FF"/>
                    </a:gs>
                  </a:gsLst>
                  <a:lin ang="0" scaled="0"/>
                </a:gradFill>
              </a:rPr>
              <a:t>4000+ Applications, IBMQ Selected 200 Hosts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Oct 5 – Nov 30,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A0412B-DB96-0F56-F7E2-9534B49DB656}"/>
              </a:ext>
            </a:extLst>
          </p:cNvPr>
          <p:cNvSpPr txBox="1"/>
          <p:nvPr/>
        </p:nvSpPr>
        <p:spPr>
          <a:xfrm>
            <a:off x="1222744" y="10877107"/>
            <a:ext cx="14577237" cy="1616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S" dirty="0">
              <a:sym typeface="IBM Plex Sa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69448-3E91-A76C-23D9-3EF40471C309}"/>
              </a:ext>
            </a:extLst>
          </p:cNvPr>
          <p:cNvSpPr txBox="1"/>
          <p:nvPr/>
        </p:nvSpPr>
        <p:spPr>
          <a:xfrm>
            <a:off x="786808" y="11685181"/>
            <a:ext cx="19755293" cy="120032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/>
              </a:rPr>
              <a:t>https://www.ibm.com/quantum/events/fall-fest-2026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SQCM bird = Kookaburra -&gt; </a:t>
            </a:r>
            <a:r>
              <a:rPr lang="en-US" dirty="0">
                <a:solidFill>
                  <a:schemeClr val="bg1"/>
                </a:solidFill>
                <a:hlinkClick r:id="rId4"/>
              </a:rPr>
              <a:t>https://www.ibm.com/quantum/hardware#roadmap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1803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B111D-6739-7594-2611-E23FA3D75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9244" y="384046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0FC785-4B73-1374-CE3A-190BCF86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84047"/>
            <a:ext cx="22614934" cy="1159884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What’s in it for you?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5400" i="1" dirty="0">
                <a:solidFill>
                  <a:schemeClr val="tx1"/>
                </a:solidFill>
              </a:rPr>
              <a:t>From IBM Quantum: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-Participant Certificate </a:t>
            </a:r>
            <a:r>
              <a:rPr lang="en-US" sz="54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-Winning Certificate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-Learning Opportunity and Badge(s)</a:t>
            </a:r>
            <a:br>
              <a:rPr lang="en-US" sz="5400" dirty="0">
                <a:solidFill>
                  <a:schemeClr val="tx1"/>
                </a:solidFill>
              </a:rPr>
            </a:b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i="1" dirty="0">
                <a:solidFill>
                  <a:schemeClr val="tx1"/>
                </a:solidFill>
              </a:rPr>
              <a:t>From SQCM: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-A chance to present?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-Community, Collaborators, Learning Opportunity</a:t>
            </a:r>
            <a:br>
              <a:rPr lang="en-US" sz="5400" dirty="0">
                <a:solidFill>
                  <a:schemeClr val="tx1"/>
                </a:solidFill>
              </a:rPr>
            </a:b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i="1" dirty="0">
                <a:solidFill>
                  <a:schemeClr val="tx1"/>
                </a:solidFill>
              </a:rPr>
              <a:t>From </a:t>
            </a:r>
            <a:r>
              <a:rPr lang="en-US" sz="5400" i="1" dirty="0" err="1">
                <a:solidFill>
                  <a:schemeClr val="tx1"/>
                </a:solidFill>
              </a:rPr>
              <a:t>Packt</a:t>
            </a:r>
            <a:r>
              <a:rPr lang="en-US" sz="5400" i="1" dirty="0">
                <a:solidFill>
                  <a:schemeClr val="tx1"/>
                </a:solidFill>
              </a:rPr>
              <a:t> Publishing:</a:t>
            </a:r>
            <a:br>
              <a:rPr lang="en-US" sz="5400" i="1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-a copy of </a:t>
            </a:r>
            <a:r>
              <a:rPr lang="en-US" sz="5400" i="1" dirty="0"/>
              <a:t>Quantum Chemistry and Computing for the Curious?</a:t>
            </a:r>
            <a:br>
              <a:rPr lang="en-US" sz="5400" dirty="0"/>
            </a:b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4860-B80A-E3E0-1A24-4210B3E952F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424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41AC1-FD18-DE39-2E18-8A40CF2B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19EC01-B420-BB79-0C00-9CDC8EEE3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10109201"/>
            <a:ext cx="1892300" cy="18923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3CC3CB-A510-7EA6-1E4A-B945EF4624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Oct 6 – Nov 30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B4B7B-721A-D7B7-2383-7F453B6C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/>
              <a:t>What are we going to do?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5D6E71A0-13C2-6858-4E44-F39DF589ED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80A4A-40E4-9578-219B-74B1320E6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endParaRPr lang="en-US" dirty="0">
              <a:solidFill>
                <a:srgbClr val="8A3FFC"/>
              </a:solidFill>
            </a:endParaRPr>
          </a:p>
          <a:p>
            <a:endParaRPr lang="en-US" dirty="0"/>
          </a:p>
          <a:p>
            <a:r>
              <a:rPr lang="en-US" dirty="0"/>
              <a:t>Is an open-source software development kit (SDK) used to program, optimize, and execute quantum programs on real quantum hardware or classical simulators.</a:t>
            </a:r>
          </a:p>
          <a:p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06B59C81-36E7-3538-2B4A-D5F5F45616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DB81A-6A19-D07B-3A0B-76D00BBB68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Applications, Algorithms</a:t>
            </a:r>
          </a:p>
          <a:p>
            <a:endParaRPr lang="en-US" dirty="0"/>
          </a:p>
          <a:p>
            <a:r>
              <a:rPr lang="en-US" dirty="0"/>
              <a:t>We have </a:t>
            </a:r>
            <a:r>
              <a:rPr lang="en-US" dirty="0" err="1"/>
              <a:t>Qiskit</a:t>
            </a:r>
            <a:r>
              <a:rPr lang="en-US" dirty="0"/>
              <a:t> coding exercises to help you see how quantum computers can be applied to a real world problem, such as finding ground state energy, using the Sample-based quantum diagonalization (SQD) algorithm.   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82F61F6C-A4D9-5626-A690-4D6C0C3569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9338A4-6D22-C3CB-A205-7C8F24FF80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Real Quantum Hardware</a:t>
            </a:r>
          </a:p>
          <a:p>
            <a:endParaRPr lang="en-US" dirty="0"/>
          </a:p>
          <a:p>
            <a:r>
              <a:rPr lang="en-US" dirty="0"/>
              <a:t>IBM Quantum offers 10 mins of free QPU use per month.  </a:t>
            </a:r>
          </a:p>
          <a:p>
            <a:endParaRPr lang="en-US" dirty="0"/>
          </a:p>
          <a:p>
            <a:r>
              <a:rPr lang="en-US" dirty="0"/>
              <a:t>You can create an account on the IBM Quantum Platform and run jobs on real quantum hardware. 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FBD6BF-E2B0-8EC3-08D0-19743F79C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Presentations</a:t>
            </a:r>
          </a:p>
          <a:p>
            <a:endParaRPr lang="en-US" dirty="0"/>
          </a:p>
          <a:p>
            <a:r>
              <a:rPr lang="en-US" dirty="0"/>
              <a:t>We are aiming to have short talks by people working on quantum problems in industry and academia, and by you, participants of the </a:t>
            </a:r>
            <a:r>
              <a:rPr lang="en-US" dirty="0" err="1"/>
              <a:t>Qiskit</a:t>
            </a:r>
            <a:r>
              <a:rPr lang="en-US" dirty="0"/>
              <a:t> Fall Fest 2026!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29ED9-0E0C-0D56-405F-E222EB53CF9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DF9F4-BFE1-9FB9-A23D-B75917FCDE0A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39813-A543-2565-5C23-FF333AE7972E}"/>
              </a:ext>
            </a:extLst>
          </p:cNvPr>
          <p:cNvSpPr txBox="1"/>
          <p:nvPr/>
        </p:nvSpPr>
        <p:spPr>
          <a:xfrm>
            <a:off x="576072" y="4761131"/>
            <a:ext cx="11044239" cy="200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i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Schedule of Events: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3"/>
              </a:rPr>
              <a:t>https://github.com/SeattleQuantumComputingMeetup/qiskit_fallfest_2026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D076F-0443-1761-C8A4-C8CEACA21C42}"/>
              </a:ext>
            </a:extLst>
          </p:cNvPr>
          <p:cNvSpPr txBox="1"/>
          <p:nvPr/>
        </p:nvSpPr>
        <p:spPr>
          <a:xfrm>
            <a:off x="576072" y="7794364"/>
            <a:ext cx="9792585" cy="22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i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Target: 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Software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devs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, researchers, students</a:t>
            </a:r>
          </a:p>
        </p:txBody>
      </p:sp>
    </p:spTree>
    <p:extLst>
      <p:ext uri="{BB962C8B-B14F-4D97-AF65-F5344CB8AC3E}">
        <p14:creationId xmlns:p14="http://schemas.microsoft.com/office/powerpoint/2010/main" val="15514821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3DC846-0D09-8E6B-1A44-03FD1FB41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84049"/>
            <a:ext cx="18286087" cy="1155994"/>
          </a:xfrm>
        </p:spPr>
        <p:txBody>
          <a:bodyPr/>
          <a:lstStyle/>
          <a:p>
            <a:r>
              <a:rPr lang="en-US" dirty="0"/>
              <a:t>Highlights from the SQCM </a:t>
            </a:r>
            <a:r>
              <a:rPr lang="en-US" dirty="0" err="1"/>
              <a:t>github</a:t>
            </a:r>
            <a:r>
              <a:rPr lang="en-US" dirty="0"/>
              <a:t> page for QFF26: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88F6F-C66C-FFF6-F027-434CCBD37F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A10B7-E568-C5AC-DF82-EBDB12F958F7}"/>
              </a:ext>
            </a:extLst>
          </p:cNvPr>
          <p:cNvSpPr txBox="1"/>
          <p:nvPr/>
        </p:nvSpPr>
        <p:spPr>
          <a:xfrm>
            <a:off x="576072" y="2145624"/>
            <a:ext cx="15555869" cy="792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https://github.com/SeattleQuantumComputingMeetup/qiskit_fallfest_2026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4FD76-3DD7-1B4A-D6A9-7118E5F057FF}"/>
              </a:ext>
            </a:extLst>
          </p:cNvPr>
          <p:cNvSpPr txBox="1"/>
          <p:nvPr/>
        </p:nvSpPr>
        <p:spPr>
          <a:xfrm>
            <a:off x="576071" y="3403600"/>
            <a:ext cx="18953587" cy="2467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b="1" dirty="0"/>
              <a:t>What to do: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u="sng" dirty="0">
                <a:hlinkClick r:id="rId5"/>
              </a:rPr>
              <a:t>Register here</a:t>
            </a:r>
            <a:r>
              <a:rPr lang="en-US" dirty="0"/>
              <a:t> so that we have your name when awarding an IBM Quantum Certificate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u="sng" dirty="0">
                <a:hlinkClick r:id="rId6"/>
              </a:rPr>
              <a:t>If you haven't previously, join the SQCM Discord</a:t>
            </a:r>
            <a:r>
              <a:rPr lang="en-US" dirty="0"/>
              <a:t> to engage with others during the fall fest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u="sng" dirty="0">
                <a:hlinkClick r:id="rId7"/>
              </a:rPr>
              <a:t>Join the </a:t>
            </a:r>
            <a:r>
              <a:rPr lang="en-US" u="sng" dirty="0" err="1">
                <a:hlinkClick r:id="rId7"/>
              </a:rPr>
              <a:t>Qiskit</a:t>
            </a:r>
            <a:r>
              <a:rPr lang="en-US" u="sng" dirty="0">
                <a:hlinkClick r:id="rId7"/>
              </a:rPr>
              <a:t> Fall Fest 2026 Kickoff zoom</a:t>
            </a:r>
            <a:r>
              <a:rPr lang="en-US" dirty="0"/>
              <a:t> on Tu, Oct 6, at 12noon, 4pm, or 6pm PT</a:t>
            </a: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A35BD7-FD95-BF5D-B01D-66505F0D4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58764"/>
              </p:ext>
            </p:extLst>
          </p:nvPr>
        </p:nvGraphicFramePr>
        <p:xfrm>
          <a:off x="576071" y="6670307"/>
          <a:ext cx="22590124" cy="594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9793">
                  <a:extLst>
                    <a:ext uri="{9D8B030D-6E8A-4147-A177-3AD203B41FA5}">
                      <a16:colId xmlns:a16="http://schemas.microsoft.com/office/drawing/2014/main" val="2089811698"/>
                    </a:ext>
                  </a:extLst>
                </a:gridCol>
                <a:gridCol w="8345269">
                  <a:extLst>
                    <a:ext uri="{9D8B030D-6E8A-4147-A177-3AD203B41FA5}">
                      <a16:colId xmlns:a16="http://schemas.microsoft.com/office/drawing/2014/main" val="1287743334"/>
                    </a:ext>
                  </a:extLst>
                </a:gridCol>
                <a:gridCol w="5647531">
                  <a:extLst>
                    <a:ext uri="{9D8B030D-6E8A-4147-A177-3AD203B41FA5}">
                      <a16:colId xmlns:a16="http://schemas.microsoft.com/office/drawing/2014/main" val="2668689767"/>
                    </a:ext>
                  </a:extLst>
                </a:gridCol>
                <a:gridCol w="5647531">
                  <a:extLst>
                    <a:ext uri="{9D8B030D-6E8A-4147-A177-3AD203B41FA5}">
                      <a16:colId xmlns:a16="http://schemas.microsoft.com/office/drawing/2014/main" val="3701797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Date</a:t>
                      </a:r>
                      <a:endParaRPr lang="en-US" sz="2000" b="1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Time</a:t>
                      </a:r>
                      <a:endParaRPr lang="en-US" sz="2000" b="1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Activity</a:t>
                      </a:r>
                      <a:endParaRPr lang="en-US" sz="2000" b="1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Location</a:t>
                      </a:r>
                      <a:endParaRPr lang="en-US" sz="2000" b="1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628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Oct 6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12noon, 4pm, or 6pm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u="sng">
                          <a:solidFill>
                            <a:srgbClr val="21272A"/>
                          </a:solidFill>
                          <a:effectLst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Qiskit Fall Fest 2026 Zoom Kickoff</a:t>
                      </a:r>
                      <a:endParaRPr lang="en-US" sz="2000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Zoom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716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Oct 8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4pm-6pm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u="sng">
                          <a:solidFill>
                            <a:srgbClr val="21272A"/>
                          </a:solidFill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Quantum Computing Happy Hour, RSVP</a:t>
                      </a:r>
                      <a:endParaRPr lang="en-US" sz="2000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Seattle TBD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8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Oct 13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5pm-7pm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u="sng">
                          <a:solidFill>
                            <a:srgbClr val="21272A"/>
                          </a:solidFill>
                          <a:effectLst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Quantum Computing Happy Hour, RSVP</a:t>
                      </a:r>
                      <a:endParaRPr lang="en-US" sz="2000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Forum Social House, Lincoln Square, Bellevue, WA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13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Oct 20, 21, or 22?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4pm?, 5pm?, or 6pm?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Industry Presentations related to Quantum Computing Research, Programming, Jobs, and Qiskit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TBD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06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Nov 3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12:00 - 1:00 pm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IBM Quantum Presentation, Alex Choquette, Global Strategic Research Development, IBM Quantum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online, </a:t>
                      </a:r>
                      <a:r>
                        <a:rPr lang="en-US" sz="2000" u="sng">
                          <a:solidFill>
                            <a:srgbClr val="21272A"/>
                          </a:solidFill>
                          <a:effectLst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RSVP here</a:t>
                      </a:r>
                      <a:endParaRPr lang="en-US" sz="2000">
                        <a:solidFill>
                          <a:srgbClr val="21272A"/>
                        </a:solidFill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39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Nov 24 or Dec 1 or later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TBD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Participant Qiskit Project Presentations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TBD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804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Nov 30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10:00 am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Deadline for Winning Certificate work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submit online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34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Dec 8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6:30 am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Closing Ceremony, by Serena Godwin, Qiskit Fall Fest Lead at IBM Quantum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On24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1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rgbClr val="21272A"/>
                          </a:solidFill>
                          <a:effectLst/>
                        </a:rPr>
                        <a:t>Up to Early Dec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--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Participation and Winner Certificates Will Be Awarded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21272A"/>
                          </a:solidFill>
                          <a:effectLst/>
                        </a:rPr>
                        <a:t>delivered online</a:t>
                      </a:r>
                    </a:p>
                  </a:txBody>
                  <a:tcPr marL="82550" marR="8255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0141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A574B1-69FB-8487-FF79-C18BC0EAA51D}"/>
              </a:ext>
            </a:extLst>
          </p:cNvPr>
          <p:cNvSpPr txBox="1"/>
          <p:nvPr/>
        </p:nvSpPr>
        <p:spPr>
          <a:xfrm>
            <a:off x="399799" y="5865056"/>
            <a:ext cx="12195208" cy="64633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effectLst/>
                <a:latin typeface="+mn-lt"/>
              </a:rPr>
              <a:t>Schedule of Events:</a:t>
            </a:r>
            <a:endParaRPr lang="en-US" sz="3600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61CB-0644-C455-472A-3CD5A12E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D4DB6E-EC5A-A0DF-3AA0-8F7AA0819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6E147-7467-E990-6537-5D6954AA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84049"/>
            <a:ext cx="18286087" cy="1155994"/>
          </a:xfrm>
        </p:spPr>
        <p:txBody>
          <a:bodyPr/>
          <a:lstStyle/>
          <a:p>
            <a:r>
              <a:rPr lang="en-US" dirty="0"/>
              <a:t>Highlights from the SQCM </a:t>
            </a:r>
            <a:r>
              <a:rPr lang="en-US" dirty="0" err="1"/>
              <a:t>github</a:t>
            </a:r>
            <a:r>
              <a:rPr lang="en-US" dirty="0"/>
              <a:t> page for QFF26: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EE8D83-9997-9CEB-4E4A-4E214D648B7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A72FC-DC8B-0111-DE85-C156504049F0}"/>
              </a:ext>
            </a:extLst>
          </p:cNvPr>
          <p:cNvSpPr txBox="1"/>
          <p:nvPr/>
        </p:nvSpPr>
        <p:spPr>
          <a:xfrm>
            <a:off x="576072" y="2145624"/>
            <a:ext cx="15555869" cy="792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https://github.com/SeattleQuantumComputingMeetup/qiskit_fallfest_2026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A0DE6-DBDA-E6F7-B79A-6B36D801F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1" y="3087720"/>
            <a:ext cx="13907844" cy="5666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46A12F-DECB-95DB-8C4A-466E4ECC7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624" y="8867594"/>
            <a:ext cx="8778240" cy="39340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59A139-2D52-FD48-CDC0-6632B1ADA9A6}"/>
              </a:ext>
            </a:extLst>
          </p:cNvPr>
          <p:cNvSpPr txBox="1"/>
          <p:nvPr/>
        </p:nvSpPr>
        <p:spPr>
          <a:xfrm>
            <a:off x="10019899" y="10087277"/>
            <a:ext cx="11964202" cy="2714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4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Use the SQD Algorithm to find ground state energy</a:t>
            </a: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Lab 1: string of magnets</a:t>
            </a: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Lab 2: H2 electron orbitals</a:t>
            </a: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Lab 3: stretched-N2 and H2O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A6AB13B-A294-D57E-F7D4-2CFD21EFFC79}"/>
              </a:ext>
            </a:extLst>
          </p:cNvPr>
          <p:cNvSpPr/>
          <p:nvPr/>
        </p:nvSpPr>
        <p:spPr bwMode="auto">
          <a:xfrm>
            <a:off x="553925" y="7382023"/>
            <a:ext cx="3536812" cy="914954"/>
          </a:xfrm>
          <a:custGeom>
            <a:avLst/>
            <a:gdLst>
              <a:gd name="csX0" fmla="*/ 3036298 w 3536812"/>
              <a:gd name="csY0" fmla="*/ 289312 h 914954"/>
              <a:gd name="csX1" fmla="*/ 2737915 w 3536812"/>
              <a:gd name="csY1" fmla="*/ 212310 h 914954"/>
              <a:gd name="csX2" fmla="*/ 2391406 w 3536812"/>
              <a:gd name="csY2" fmla="*/ 116057 h 914954"/>
              <a:gd name="csX3" fmla="*/ 1967894 w 3536812"/>
              <a:gd name="csY3" fmla="*/ 87181 h 914954"/>
              <a:gd name="csX4" fmla="*/ 1669511 w 3536812"/>
              <a:gd name="csY4" fmla="*/ 48680 h 914954"/>
              <a:gd name="csX5" fmla="*/ 331599 w 3536812"/>
              <a:gd name="csY5" fmla="*/ 164183 h 914954"/>
              <a:gd name="csX6" fmla="*/ 139094 w 3536812"/>
              <a:gd name="csY6" fmla="*/ 260436 h 914954"/>
              <a:gd name="csX7" fmla="*/ 23591 w 3536812"/>
              <a:gd name="csY7" fmla="*/ 414440 h 914954"/>
              <a:gd name="csX8" fmla="*/ 23591 w 3536812"/>
              <a:gd name="csY8" fmla="*/ 770575 h 914954"/>
              <a:gd name="csX9" fmla="*/ 514479 w 3536812"/>
              <a:gd name="csY9" fmla="*/ 847577 h 914954"/>
              <a:gd name="csX10" fmla="*/ 1448130 w 3536812"/>
              <a:gd name="csY10" fmla="*/ 914954 h 914954"/>
              <a:gd name="csX11" fmla="*/ 2632037 w 3536812"/>
              <a:gd name="csY11" fmla="*/ 857202 h 914954"/>
              <a:gd name="csX12" fmla="*/ 2737915 w 3536812"/>
              <a:gd name="csY12" fmla="*/ 818701 h 914954"/>
              <a:gd name="csX13" fmla="*/ 3296180 w 3536812"/>
              <a:gd name="csY13" fmla="*/ 722449 h 914954"/>
              <a:gd name="csX14" fmla="*/ 3440559 w 3536812"/>
              <a:gd name="csY14" fmla="*/ 645446 h 914954"/>
              <a:gd name="csX15" fmla="*/ 3536812 w 3536812"/>
              <a:gd name="csY15" fmla="*/ 424065 h 914954"/>
              <a:gd name="csX16" fmla="*/ 3507936 w 3536812"/>
              <a:gd name="csY16" fmla="*/ 144933 h 914954"/>
              <a:gd name="csX17" fmla="*/ 3402058 w 3536812"/>
              <a:gd name="csY17" fmla="*/ 10179 h 914954"/>
              <a:gd name="csX18" fmla="*/ 3344307 w 3536812"/>
              <a:gd name="csY18" fmla="*/ 554 h 914954"/>
              <a:gd name="csX19" fmla="*/ 2940046 w 3536812"/>
              <a:gd name="csY19" fmla="*/ 19804 h 914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36812" h="914954">
                <a:moveTo>
                  <a:pt x="3036298" y="289312"/>
                </a:moveTo>
                <a:cubicBezTo>
                  <a:pt x="2898318" y="234118"/>
                  <a:pt x="3056371" y="294492"/>
                  <a:pt x="2737915" y="212310"/>
                </a:cubicBezTo>
                <a:cubicBezTo>
                  <a:pt x="2621841" y="182356"/>
                  <a:pt x="2509730" y="135285"/>
                  <a:pt x="2391406" y="116057"/>
                </a:cubicBezTo>
                <a:cubicBezTo>
                  <a:pt x="2251740" y="93361"/>
                  <a:pt x="2108780" y="100330"/>
                  <a:pt x="1967894" y="87181"/>
                </a:cubicBezTo>
                <a:cubicBezTo>
                  <a:pt x="1868042" y="77861"/>
                  <a:pt x="1768972" y="61514"/>
                  <a:pt x="1669511" y="48680"/>
                </a:cubicBezTo>
                <a:cubicBezTo>
                  <a:pt x="1223540" y="87181"/>
                  <a:pt x="775004" y="102831"/>
                  <a:pt x="331599" y="164183"/>
                </a:cubicBezTo>
                <a:cubicBezTo>
                  <a:pt x="260534" y="174016"/>
                  <a:pt x="194774" y="215196"/>
                  <a:pt x="139094" y="260436"/>
                </a:cubicBezTo>
                <a:cubicBezTo>
                  <a:pt x="89292" y="300900"/>
                  <a:pt x="62092" y="363105"/>
                  <a:pt x="23591" y="414440"/>
                </a:cubicBezTo>
                <a:cubicBezTo>
                  <a:pt x="18887" y="454423"/>
                  <a:pt x="-27054" y="743819"/>
                  <a:pt x="23591" y="770575"/>
                </a:cubicBezTo>
                <a:cubicBezTo>
                  <a:pt x="170040" y="847944"/>
                  <a:pt x="349278" y="835655"/>
                  <a:pt x="514479" y="847577"/>
                </a:cubicBezTo>
                <a:lnTo>
                  <a:pt x="1448130" y="914954"/>
                </a:lnTo>
                <a:cubicBezTo>
                  <a:pt x="1842766" y="895703"/>
                  <a:pt x="2238028" y="886606"/>
                  <a:pt x="2632037" y="857202"/>
                </a:cubicBezTo>
                <a:cubicBezTo>
                  <a:pt x="2669486" y="854407"/>
                  <a:pt x="2701111" y="826168"/>
                  <a:pt x="2737915" y="818701"/>
                </a:cubicBezTo>
                <a:cubicBezTo>
                  <a:pt x="2922978" y="781152"/>
                  <a:pt x="3110092" y="754533"/>
                  <a:pt x="3296180" y="722449"/>
                </a:cubicBezTo>
                <a:cubicBezTo>
                  <a:pt x="3344306" y="696781"/>
                  <a:pt x="3397968" y="679519"/>
                  <a:pt x="3440559" y="645446"/>
                </a:cubicBezTo>
                <a:cubicBezTo>
                  <a:pt x="3488296" y="607256"/>
                  <a:pt x="3524830" y="460011"/>
                  <a:pt x="3536812" y="424065"/>
                </a:cubicBezTo>
                <a:cubicBezTo>
                  <a:pt x="3527187" y="331021"/>
                  <a:pt x="3536895" y="233878"/>
                  <a:pt x="3507936" y="144933"/>
                </a:cubicBezTo>
                <a:cubicBezTo>
                  <a:pt x="3490251" y="90615"/>
                  <a:pt x="3444892" y="47974"/>
                  <a:pt x="3402058" y="10179"/>
                </a:cubicBezTo>
                <a:cubicBezTo>
                  <a:pt x="3387424" y="-2733"/>
                  <a:pt x="3363819" y="148"/>
                  <a:pt x="3344307" y="554"/>
                </a:cubicBezTo>
                <a:cubicBezTo>
                  <a:pt x="3209430" y="3364"/>
                  <a:pt x="3074800" y="13387"/>
                  <a:pt x="2940046" y="19804"/>
                </a:cubicBezTo>
              </a:path>
            </a:pathLst>
          </a:custGeom>
          <a:ln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6734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6595-D5F6-9AC3-E435-ECB50A57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0059D6-ABEC-6A75-D9D4-67D7AE1AF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C918D4-B779-4564-F921-87BB93F7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84049"/>
            <a:ext cx="18286087" cy="1155994"/>
          </a:xfrm>
        </p:spPr>
        <p:txBody>
          <a:bodyPr/>
          <a:lstStyle/>
          <a:p>
            <a:r>
              <a:rPr lang="en-US" dirty="0"/>
              <a:t>Highlights from the SQCM </a:t>
            </a:r>
            <a:r>
              <a:rPr lang="en-US" dirty="0" err="1"/>
              <a:t>github</a:t>
            </a:r>
            <a:r>
              <a:rPr lang="en-US" dirty="0"/>
              <a:t> page for QFF26: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1F06CA-2FDC-07E7-D36B-29E68C6DEB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3EBF1-B48E-CB33-A37E-C1B2330F65E2}"/>
              </a:ext>
            </a:extLst>
          </p:cNvPr>
          <p:cNvSpPr txBox="1"/>
          <p:nvPr/>
        </p:nvSpPr>
        <p:spPr>
          <a:xfrm>
            <a:off x="576072" y="2145624"/>
            <a:ext cx="15555869" cy="792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https://github.com/SeattleQuantumComputingMeetup/qiskit_fallfest_2026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AA5F2-8087-6DF8-F00E-313D52D85A17}"/>
              </a:ext>
            </a:extLst>
          </p:cNvPr>
          <p:cNvSpPr txBox="1"/>
          <p:nvPr/>
        </p:nvSpPr>
        <p:spPr>
          <a:xfrm>
            <a:off x="576071" y="3403599"/>
            <a:ext cx="23053950" cy="9234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b="1" dirty="0"/>
              <a:t>How can I earn a Winning Certificate? (it’s completely flexible - pick one, or design one of your own)</a:t>
            </a:r>
          </a:p>
          <a:p>
            <a:endParaRPr lang="en-US" b="1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dirty="0"/>
              <a:t>Complete one or more of the </a:t>
            </a:r>
            <a:r>
              <a:rPr lang="en-US" dirty="0" err="1"/>
              <a:t>Qiskit</a:t>
            </a:r>
            <a:r>
              <a:rPr lang="en-US" dirty="0"/>
              <a:t> Jupyter Notebooks on the SQD Algorithm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dirty="0"/>
              <a:t>Complete one or more classes on the IBM Quantum Learning platform, </a:t>
            </a:r>
            <a:r>
              <a:rPr lang="en-US" dirty="0">
                <a:hlinkClick r:id="rId5"/>
              </a:rPr>
              <a:t>https://quantum.cloud.ibm.com/learning/en/courses</a:t>
            </a:r>
            <a:endParaRPr lang="en-US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dirty="0"/>
              <a:t>Complete a tutorial on the IBM Quantum platform, </a:t>
            </a:r>
            <a:r>
              <a:rPr lang="en-US" dirty="0">
                <a:hlinkClick r:id="rId6"/>
              </a:rPr>
              <a:t>https://quantum.cloud.ibm.com/docs/en/tutorials</a:t>
            </a:r>
            <a:endParaRPr lang="en-US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dirty="0"/>
              <a:t>Work on a hackathon prompt from the SQCM QFF26 directory: </a:t>
            </a:r>
            <a:r>
              <a:rPr lang="en-US" dirty="0">
                <a:hlinkClick r:id="rId7"/>
              </a:rPr>
              <a:t>https://github.com/SeattleQuantumComputingMeetup/qiskit_fallfest_2026/tree/main/hackathon_prompts</a:t>
            </a:r>
            <a:endParaRPr lang="en-US" dirty="0"/>
          </a:p>
          <a:p>
            <a:pPr marL="571500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Write a proposal for a start-up related to quantum technologies, something like, 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8"/>
              </a:rPr>
              <a:t>https://dorahacks.io/hackathon/564/businesschallenge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marL="571500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Write an article, say, for Medium or Substack, or just for yourself, related to quantum computing, could be a report on a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Qiskit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Quantum Seminar that you watched on the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Qiskit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YouTube channel, or on the 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9"/>
              </a:rPr>
              <a:t>QPU Roadmap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marL="571500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10"/>
              </a:rPr>
              <a:t>Vibe code a research paper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, take the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11"/>
              </a:rPr>
              <a:t>Qiskit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11"/>
              </a:rPr>
              <a:t> Developer Certification exam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, join the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12"/>
              </a:rPr>
              <a:t>Qiskit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12"/>
              </a:rPr>
              <a:t> Advocate Program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marL="571500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Create a piece of art or music related to quantum technologies</a:t>
            </a:r>
          </a:p>
        </p:txBody>
      </p:sp>
    </p:spTree>
    <p:extLst>
      <p:ext uri="{BB962C8B-B14F-4D97-AF65-F5344CB8AC3E}">
        <p14:creationId xmlns:p14="http://schemas.microsoft.com/office/powerpoint/2010/main" val="3169644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52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6309668" cy="4594170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33" dirty="0">
                <a:latin typeface="Calibri"/>
                <a:cs typeface="Calibri"/>
              </a:rPr>
              <a:t>Learn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the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212" dirty="0">
                <a:latin typeface="Calibri"/>
                <a:cs typeface="Calibri"/>
              </a:rPr>
              <a:t>basics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67" dirty="0">
                <a:latin typeface="Calibri"/>
                <a:cs typeface="Calibri"/>
              </a:rPr>
              <a:t>of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quantum </a:t>
            </a:r>
            <a:r>
              <a:rPr sz="3578" spc="133" dirty="0">
                <a:latin typeface="Calibri"/>
                <a:cs typeface="Calibri"/>
              </a:rPr>
              <a:t>computing</a:t>
            </a:r>
            <a:r>
              <a:rPr sz="3578" spc="109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and</a:t>
            </a:r>
            <a:r>
              <a:rPr sz="3578" spc="91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how</a:t>
            </a:r>
            <a:r>
              <a:rPr sz="3578" spc="103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to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solve </a:t>
            </a:r>
            <a:r>
              <a:rPr sz="3578" spc="164" dirty="0">
                <a:latin typeface="Calibri"/>
                <a:cs typeface="Calibri"/>
              </a:rPr>
              <a:t>real-</a:t>
            </a:r>
            <a:r>
              <a:rPr sz="3578" spc="109" dirty="0">
                <a:latin typeface="Calibri"/>
                <a:cs typeface="Calibri"/>
              </a:rPr>
              <a:t>world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problems</a:t>
            </a:r>
            <a:r>
              <a:rPr sz="3578" spc="91" dirty="0">
                <a:latin typeface="Calibri"/>
                <a:cs typeface="Calibri"/>
              </a:rPr>
              <a:t> </a:t>
            </a:r>
            <a:r>
              <a:rPr sz="3578" spc="61" dirty="0">
                <a:latin typeface="Calibri"/>
                <a:cs typeface="Calibri"/>
              </a:rPr>
              <a:t>with </a:t>
            </a:r>
            <a:r>
              <a:rPr sz="3578" spc="176" dirty="0">
                <a:latin typeface="Calibri"/>
                <a:cs typeface="Calibri"/>
              </a:rPr>
              <a:t>IBM </a:t>
            </a: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services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and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88" dirty="0">
                <a:latin typeface="Calibri"/>
                <a:cs typeface="Calibri"/>
              </a:rPr>
              <a:t>systems</a:t>
            </a:r>
            <a:endParaRPr sz="3578">
              <a:latin typeface="Calibri"/>
              <a:cs typeface="Calibri"/>
            </a:endParaRPr>
          </a:p>
          <a:p>
            <a:pPr>
              <a:spcBef>
                <a:spcPts val="1249"/>
              </a:spcBef>
            </a:pPr>
            <a:endParaRPr sz="3578">
              <a:latin typeface="Calibri"/>
              <a:cs typeface="Calibri"/>
            </a:endParaRPr>
          </a:p>
          <a:p>
            <a:pPr marL="15403" marR="1129008">
              <a:lnSpc>
                <a:spcPct val="100699"/>
              </a:lnSpc>
            </a:pPr>
            <a:r>
              <a:rPr sz="3578" spc="164" dirty="0">
                <a:latin typeface="Calibri"/>
                <a:cs typeface="Calibri"/>
              </a:rPr>
              <a:t>Courses,</a:t>
            </a:r>
            <a:r>
              <a:rPr sz="3578" spc="85" dirty="0">
                <a:latin typeface="Calibri"/>
                <a:cs typeface="Calibri"/>
              </a:rPr>
              <a:t> tutorials,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and </a:t>
            </a:r>
            <a:r>
              <a:rPr sz="3578" spc="127" dirty="0">
                <a:latin typeface="Calibri"/>
                <a:cs typeface="Calibri"/>
              </a:rPr>
              <a:t>educational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58" dirty="0">
                <a:latin typeface="Calibri"/>
                <a:cs typeface="Calibri"/>
              </a:rPr>
              <a:t>resources</a:t>
            </a:r>
            <a:r>
              <a:rPr sz="3578" spc="91" dirty="0">
                <a:latin typeface="Calibri"/>
                <a:cs typeface="Calibri"/>
              </a:rPr>
              <a:t> </a:t>
            </a:r>
            <a:r>
              <a:rPr sz="3578" spc="73" dirty="0">
                <a:latin typeface="Calibri"/>
                <a:cs typeface="Calibri"/>
              </a:rPr>
              <a:t>by </a:t>
            </a:r>
            <a:r>
              <a:rPr sz="3578" spc="146" dirty="0">
                <a:latin typeface="Calibri"/>
                <a:cs typeface="Calibri"/>
              </a:rPr>
              <a:t>leading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experts.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52662" y="1316467"/>
            <a:ext cx="13983235" cy="10957397"/>
            <a:chOff x="7379787" y="1085476"/>
            <a:chExt cx="11529695" cy="9034780"/>
          </a:xfrm>
        </p:grpSpPr>
        <p:pic>
          <p:nvPicPr>
            <p:cNvPr id="5" name="object 5" descr="A screenshot of a computer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9787" y="1085476"/>
              <a:ext cx="11529531" cy="9034425"/>
            </a:xfrm>
            <a:prstGeom prst="rect">
              <a:avLst/>
            </a:prstGeom>
          </p:spPr>
        </p:pic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4871" y="1100666"/>
              <a:ext cx="11457904" cy="89626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390997" y="1096688"/>
              <a:ext cx="11466195" cy="8970645"/>
            </a:xfrm>
            <a:custGeom>
              <a:avLst/>
              <a:gdLst/>
              <a:ahLst/>
              <a:cxnLst/>
              <a:rect l="l" t="t" r="r" b="b"/>
              <a:pathLst>
                <a:path w="11466194" h="8970645">
                  <a:moveTo>
                    <a:pt x="0" y="8970647"/>
                  </a:moveTo>
                  <a:lnTo>
                    <a:pt x="11465756" y="8970647"/>
                  </a:lnTo>
                  <a:lnTo>
                    <a:pt x="11465756" y="0"/>
                  </a:lnTo>
                  <a:lnTo>
                    <a:pt x="0" y="0"/>
                  </a:lnTo>
                  <a:lnTo>
                    <a:pt x="0" y="8970647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9</a:t>
            </a:fld>
            <a:endParaRPr spc="10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908" y="374887"/>
            <a:ext cx="21555575" cy="132927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2025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8760"/>
            <a:ext cx="451736" cy="265247"/>
          </a:xfrm>
          <a:prstGeom prst="rect">
            <a:avLst/>
          </a:prstGeom>
        </p:spPr>
        <p:txBody>
          <a:bodyPr vert="horz" wrap="square" lIns="0" tIns="22334" rIns="0" bIns="0" rtlCol="0" anchor="b" anchorCtr="0">
            <a:spAutoFit/>
          </a:bodyPr>
          <a:lstStyle/>
          <a:p>
            <a:pPr marL="90875">
              <a:spcBef>
                <a:spcPts val="176"/>
              </a:spcBef>
            </a:pPr>
            <a:fld id="{81D60167-4931-47E6-BA6A-407CBD079E47}" type="slidenum">
              <a:rPr spc="109" dirty="0"/>
              <a:pPr marL="90875">
                <a:spcBef>
                  <a:spcPts val="176"/>
                </a:spcBef>
              </a:pPr>
              <a:t>10</a:t>
            </a:fld>
            <a:endParaRPr spc="10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816E-3F4B-C9CE-CAB7-6FBEA05E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27E8A4-DF25-32DC-0FD5-C92B867C8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1D0C55-E22F-66DF-CA26-C3652566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84049"/>
            <a:ext cx="18286087" cy="1155994"/>
          </a:xfrm>
        </p:spPr>
        <p:txBody>
          <a:bodyPr/>
          <a:lstStyle/>
          <a:p>
            <a:r>
              <a:rPr lang="en-US" dirty="0"/>
              <a:t>Highlights from the SQCM </a:t>
            </a:r>
            <a:r>
              <a:rPr lang="en-US" dirty="0" err="1"/>
              <a:t>github</a:t>
            </a:r>
            <a:r>
              <a:rPr lang="en-US" dirty="0"/>
              <a:t> page for QFF26: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3CDD3-FC6F-6E8C-11A9-A210F716EF8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E4529-13A0-BF1D-AF45-9F9AF2AA4E74}"/>
              </a:ext>
            </a:extLst>
          </p:cNvPr>
          <p:cNvSpPr txBox="1"/>
          <p:nvPr/>
        </p:nvSpPr>
        <p:spPr>
          <a:xfrm>
            <a:off x="576072" y="2145624"/>
            <a:ext cx="15555869" cy="792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https://github.com/SeattleQuantumComputingMeetup/qiskit_fallfest_2026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71BD3-8B21-FB16-943F-949D4E07D7C6}"/>
              </a:ext>
            </a:extLst>
          </p:cNvPr>
          <p:cNvSpPr txBox="1"/>
          <p:nvPr/>
        </p:nvSpPr>
        <p:spPr>
          <a:xfrm>
            <a:off x="576071" y="3403600"/>
            <a:ext cx="22736316" cy="901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b="1" dirty="0"/>
              <a:t>Comments on the “group project” idea:</a:t>
            </a:r>
          </a:p>
          <a:p>
            <a:endParaRPr lang="en-US" b="1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dirty="0"/>
              <a:t>I am working on reviewing your backgrounds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 have a few projects in mind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IBM Quantum runs a program called QAMP =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Qiskit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Advocate Mentorship Program, in which small groups work on a research project; I was a mentor on a project last year.</a:t>
            </a:r>
          </a:p>
          <a:p>
            <a:pPr lvl="0"/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We can discuss at a future Happy Hour, or schedule a zoom, or on the SQCM Discord’s Category: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Qiskit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Fall Fest 2026, etc.</a:t>
            </a:r>
          </a:p>
        </p:txBody>
      </p:sp>
    </p:spTree>
    <p:extLst>
      <p:ext uri="{BB962C8B-B14F-4D97-AF65-F5344CB8AC3E}">
        <p14:creationId xmlns:p14="http://schemas.microsoft.com/office/powerpoint/2010/main" val="129626595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742" y="3135"/>
            <a:ext cx="5087473" cy="266505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15"/>
              </a:spcBef>
            </a:pPr>
            <a:r>
              <a:rPr sz="17222" spc="-12" dirty="0"/>
              <a:t>Qiskit</a:t>
            </a:r>
            <a:endParaRPr sz="17222"/>
          </a:p>
        </p:txBody>
      </p:sp>
      <p:sp>
        <p:nvSpPr>
          <p:cNvPr id="4" name="object 4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58211" y="12916743"/>
            <a:ext cx="268775" cy="263691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15403">
              <a:spcBef>
                <a:spcPts val="164"/>
              </a:spcBef>
            </a:pPr>
            <a:r>
              <a:rPr sz="1577" spc="91" dirty="0">
                <a:latin typeface="Calibri"/>
                <a:cs typeface="Calibri"/>
              </a:rPr>
              <a:t>14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4F20A-8E61-D771-1315-9C3007AD7565}"/>
              </a:ext>
            </a:extLst>
          </p:cNvPr>
          <p:cNvSpPr txBox="1"/>
          <p:nvPr/>
        </p:nvSpPr>
        <p:spPr>
          <a:xfrm>
            <a:off x="2175309" y="1335024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460B88-338F-9C36-84F1-9021074F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133" y="11025389"/>
            <a:ext cx="1892300" cy="1892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1BA019-DFCD-E056-8E00-85931B5374BA}"/>
              </a:ext>
            </a:extLst>
          </p:cNvPr>
          <p:cNvSpPr txBox="1"/>
          <p:nvPr/>
        </p:nvSpPr>
        <p:spPr>
          <a:xfrm>
            <a:off x="9332045" y="1258658"/>
            <a:ext cx="12378088" cy="725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b="1" dirty="0" err="1"/>
              <a:t>Qiskit</a:t>
            </a:r>
            <a:r>
              <a:rPr lang="en-US" dirty="0"/>
              <a:t> is an open-source, Python-based software development kit (SDK) used to program quantum computers.  There is some Rust underneath, and a C/C++-interface exists. </a:t>
            </a:r>
          </a:p>
          <a:p>
            <a:endParaRPr lang="en-US" dirty="0"/>
          </a:p>
          <a:p>
            <a:r>
              <a:rPr lang="en-US" dirty="0"/>
              <a:t>Developed by IBM in 2017, </a:t>
            </a:r>
            <a:r>
              <a:rPr lang="en-US" dirty="0" err="1"/>
              <a:t>Qiskit</a:t>
            </a:r>
            <a:r>
              <a:rPr lang="en-US" dirty="0"/>
              <a:t> lets developers and researchers build quantum circuits, run simulations, and execute code on real quantum hardware or using simulators. </a:t>
            </a:r>
          </a:p>
          <a:p>
            <a:endParaRPr lang="en-US" dirty="0"/>
          </a:p>
          <a:p>
            <a:r>
              <a:rPr lang="en-US" dirty="0"/>
              <a:t>Pronounced "kiss-kit", it serves as a leading industry tool for quantum information science. </a:t>
            </a:r>
          </a:p>
          <a:p>
            <a:endParaRPr lang="en-US" dirty="0"/>
          </a:p>
          <a:p>
            <a:r>
              <a:rPr lang="en-US" dirty="0"/>
              <a:t>(Google Gemini, AI Overview, w/a few mods)</a:t>
            </a: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1134" y="5457538"/>
            <a:ext cx="18916682" cy="1398555"/>
            <a:chOff x="1944828" y="4499942"/>
            <a:chExt cx="15597505" cy="1153160"/>
          </a:xfrm>
        </p:grpSpPr>
        <p:sp>
          <p:nvSpPr>
            <p:cNvPr id="3" name="object 3"/>
            <p:cNvSpPr/>
            <p:nvPr/>
          </p:nvSpPr>
          <p:spPr>
            <a:xfrm>
              <a:off x="2299119" y="5016602"/>
              <a:ext cx="15231110" cy="188595"/>
            </a:xfrm>
            <a:custGeom>
              <a:avLst/>
              <a:gdLst/>
              <a:ahLst/>
              <a:cxnLst/>
              <a:rect l="l" t="t" r="r" b="b"/>
              <a:pathLst>
                <a:path w="15231110" h="188595">
                  <a:moveTo>
                    <a:pt x="15042059" y="0"/>
                  </a:moveTo>
                  <a:lnTo>
                    <a:pt x="15042059" y="188452"/>
                  </a:lnTo>
                  <a:lnTo>
                    <a:pt x="15167694" y="125634"/>
                  </a:lnTo>
                  <a:lnTo>
                    <a:pt x="15073468" y="125634"/>
                  </a:lnTo>
                  <a:lnTo>
                    <a:pt x="15073468" y="62817"/>
                  </a:lnTo>
                  <a:lnTo>
                    <a:pt x="15167694" y="62817"/>
                  </a:lnTo>
                  <a:lnTo>
                    <a:pt x="15042059" y="0"/>
                  </a:lnTo>
                  <a:close/>
                </a:path>
                <a:path w="15231110" h="188595">
                  <a:moveTo>
                    <a:pt x="15042059" y="62817"/>
                  </a:moveTo>
                  <a:lnTo>
                    <a:pt x="0" y="62817"/>
                  </a:lnTo>
                  <a:lnTo>
                    <a:pt x="0" y="125634"/>
                  </a:lnTo>
                  <a:lnTo>
                    <a:pt x="15042059" y="125634"/>
                  </a:lnTo>
                  <a:lnTo>
                    <a:pt x="15042059" y="62817"/>
                  </a:lnTo>
                  <a:close/>
                </a:path>
                <a:path w="15231110" h="188595">
                  <a:moveTo>
                    <a:pt x="15167694" y="62817"/>
                  </a:moveTo>
                  <a:lnTo>
                    <a:pt x="15073468" y="62817"/>
                  </a:lnTo>
                  <a:lnTo>
                    <a:pt x="15073468" y="125634"/>
                  </a:lnTo>
                  <a:lnTo>
                    <a:pt x="15167694" y="125634"/>
                  </a:lnTo>
                  <a:lnTo>
                    <a:pt x="15230511" y="94226"/>
                  </a:lnTo>
                  <a:lnTo>
                    <a:pt x="15167694" y="62817"/>
                  </a:lnTo>
                  <a:close/>
                </a:path>
              </a:pathLst>
            </a:custGeom>
            <a:solidFill>
              <a:srgbClr val="0E61FD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" name="object 4"/>
            <p:cNvSpPr/>
            <p:nvPr/>
          </p:nvSpPr>
          <p:spPr>
            <a:xfrm>
              <a:off x="2299119" y="4764076"/>
              <a:ext cx="15227300" cy="688975"/>
            </a:xfrm>
            <a:custGeom>
              <a:avLst/>
              <a:gdLst/>
              <a:ahLst/>
              <a:cxnLst/>
              <a:rect l="l" t="t" r="r" b="b"/>
              <a:pathLst>
                <a:path w="15227300" h="688975">
                  <a:moveTo>
                    <a:pt x="0" y="0"/>
                  </a:moveTo>
                  <a:lnTo>
                    <a:pt x="0" y="688479"/>
                  </a:lnTo>
                </a:path>
                <a:path w="15227300" h="688975">
                  <a:moveTo>
                    <a:pt x="7515480" y="0"/>
                  </a:moveTo>
                  <a:lnTo>
                    <a:pt x="7515480" y="688479"/>
                  </a:lnTo>
                </a:path>
                <a:path w="15227300" h="688975">
                  <a:moveTo>
                    <a:pt x="15226952" y="0"/>
                  </a:moveTo>
                  <a:lnTo>
                    <a:pt x="15226952" y="688479"/>
                  </a:lnTo>
                </a:path>
              </a:pathLst>
            </a:custGeom>
            <a:ln w="31408">
              <a:solidFill>
                <a:srgbClr val="0E61FD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5" name="object 5"/>
            <p:cNvSpPr/>
            <p:nvPr/>
          </p:nvSpPr>
          <p:spPr>
            <a:xfrm>
              <a:off x="1944827" y="4499955"/>
              <a:ext cx="8103870" cy="1153160"/>
            </a:xfrm>
            <a:custGeom>
              <a:avLst/>
              <a:gdLst/>
              <a:ahLst/>
              <a:cxnLst/>
              <a:rect l="l" t="t" r="r" b="b"/>
              <a:pathLst>
                <a:path w="8103870" h="1153160">
                  <a:moveTo>
                    <a:pt x="8103451" y="0"/>
                  </a:moveTo>
                  <a:lnTo>
                    <a:pt x="8038427" y="0"/>
                  </a:lnTo>
                  <a:lnTo>
                    <a:pt x="8038427" y="66040"/>
                  </a:lnTo>
                  <a:lnTo>
                    <a:pt x="8038427" y="1088390"/>
                  </a:lnTo>
                  <a:lnTo>
                    <a:pt x="65011" y="1088390"/>
                  </a:lnTo>
                  <a:lnTo>
                    <a:pt x="65011" y="66040"/>
                  </a:lnTo>
                  <a:lnTo>
                    <a:pt x="8038427" y="66040"/>
                  </a:lnTo>
                  <a:lnTo>
                    <a:pt x="8038427" y="0"/>
                  </a:lnTo>
                  <a:lnTo>
                    <a:pt x="0" y="0"/>
                  </a:lnTo>
                  <a:lnTo>
                    <a:pt x="0" y="66040"/>
                  </a:lnTo>
                  <a:lnTo>
                    <a:pt x="0" y="1088390"/>
                  </a:lnTo>
                  <a:lnTo>
                    <a:pt x="0" y="1153160"/>
                  </a:lnTo>
                  <a:lnTo>
                    <a:pt x="8103451" y="1153160"/>
                  </a:lnTo>
                  <a:lnTo>
                    <a:pt x="8103451" y="1088605"/>
                  </a:lnTo>
                  <a:lnTo>
                    <a:pt x="8103451" y="1088390"/>
                  </a:lnTo>
                  <a:lnTo>
                    <a:pt x="8103451" y="66040"/>
                  </a:lnTo>
                  <a:lnTo>
                    <a:pt x="8103451" y="65417"/>
                  </a:lnTo>
                  <a:lnTo>
                    <a:pt x="8103451" y="0"/>
                  </a:lnTo>
                  <a:close/>
                </a:path>
              </a:pathLst>
            </a:custGeom>
            <a:solidFill>
              <a:srgbClr val="9F1752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56067" y="324445"/>
            <a:ext cx="10274293" cy="1961766"/>
          </a:xfrm>
          <a:prstGeom prst="rect">
            <a:avLst/>
          </a:prstGeom>
        </p:spPr>
        <p:txBody>
          <a:bodyPr vert="horz" wrap="square" lIns="0" tIns="139393" rIns="0" bIns="0" rtlCol="0">
            <a:spAutoFit/>
          </a:bodyPr>
          <a:lstStyle/>
          <a:p>
            <a:pPr marL="15403" marR="6161">
              <a:lnSpc>
                <a:spcPts val="7058"/>
              </a:lnSpc>
              <a:spcBef>
                <a:spcPts val="1098"/>
              </a:spcBef>
            </a:pPr>
            <a:r>
              <a:rPr sz="6610" spc="138" dirty="0"/>
              <a:t>Where</a:t>
            </a:r>
            <a:r>
              <a:rPr sz="6610" spc="103" dirty="0"/>
              <a:t> </a:t>
            </a:r>
            <a:r>
              <a:rPr lang="en-US" sz="6610" spc="200" dirty="0"/>
              <a:t>is everybody on </a:t>
            </a:r>
            <a:r>
              <a:rPr sz="6610" spc="109" dirty="0"/>
              <a:t>their</a:t>
            </a:r>
            <a:r>
              <a:rPr sz="6610" spc="18" dirty="0"/>
              <a:t> </a:t>
            </a:r>
            <a:r>
              <a:rPr sz="6610" spc="224" dirty="0"/>
              <a:t>Quantum</a:t>
            </a:r>
            <a:r>
              <a:rPr sz="6610" spc="55" dirty="0"/>
              <a:t> </a:t>
            </a:r>
            <a:r>
              <a:rPr sz="6610" spc="121" dirty="0"/>
              <a:t>journey?</a:t>
            </a:r>
            <a:endParaRPr sz="6610" dirty="0"/>
          </a:p>
        </p:txBody>
      </p:sp>
      <p:sp>
        <p:nvSpPr>
          <p:cNvPr id="7" name="object 7"/>
          <p:cNvSpPr txBox="1"/>
          <p:nvPr/>
        </p:nvSpPr>
        <p:spPr>
          <a:xfrm>
            <a:off x="1513536" y="7068049"/>
            <a:ext cx="2546817" cy="1453063"/>
          </a:xfrm>
          <a:prstGeom prst="rect">
            <a:avLst/>
          </a:prstGeom>
        </p:spPr>
        <p:txBody>
          <a:bodyPr vert="horz" wrap="square" lIns="0" tIns="81634" rIns="0" bIns="0" rtlCol="0">
            <a:spAutoFit/>
          </a:bodyPr>
          <a:lstStyle/>
          <a:p>
            <a:pPr marL="2310" algn="ctr">
              <a:spcBef>
                <a:spcPts val="643"/>
              </a:spcBef>
            </a:pPr>
            <a:r>
              <a:rPr sz="4245" spc="146" dirty="0">
                <a:latin typeface="Calibri"/>
                <a:cs typeface="Calibri"/>
              </a:rPr>
              <a:t>What’s</a:t>
            </a:r>
            <a:endParaRPr sz="4245">
              <a:latin typeface="Calibri"/>
              <a:cs typeface="Calibri"/>
            </a:endParaRPr>
          </a:p>
          <a:p>
            <a:pPr algn="ctr">
              <a:spcBef>
                <a:spcPts val="526"/>
              </a:spcBef>
            </a:pPr>
            <a:r>
              <a:rPr sz="4245" spc="152" dirty="0">
                <a:latin typeface="Calibri"/>
                <a:cs typeface="Calibri"/>
              </a:rPr>
              <a:t>Quantum?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0856" y="4535199"/>
            <a:ext cx="355030" cy="66958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4245" b="1" spc="321" dirty="0">
                <a:latin typeface="Calibri"/>
                <a:cs typeface="Calibri"/>
              </a:rPr>
              <a:t>0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4695" y="7068050"/>
            <a:ext cx="4093236" cy="2866014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985764" marR="975752" algn="ctr">
              <a:lnSpc>
                <a:spcPct val="110300"/>
              </a:lnSpc>
              <a:spcBef>
                <a:spcPts val="121"/>
              </a:spcBef>
            </a:pPr>
            <a:r>
              <a:rPr sz="4245" spc="200" dirty="0">
                <a:latin typeface="Calibri"/>
                <a:cs typeface="Calibri"/>
              </a:rPr>
              <a:t>Reading, </a:t>
            </a:r>
            <a:r>
              <a:rPr sz="4245" spc="170" dirty="0">
                <a:latin typeface="Calibri"/>
                <a:cs typeface="Calibri"/>
              </a:rPr>
              <a:t>Videos,</a:t>
            </a:r>
            <a:endParaRPr sz="4245">
              <a:latin typeface="Calibri"/>
              <a:cs typeface="Calibri"/>
            </a:endParaRPr>
          </a:p>
          <a:p>
            <a:pPr marL="14632" marR="6161" indent="-1540" algn="ctr">
              <a:lnSpc>
                <a:spcPts val="5615"/>
              </a:lnSpc>
              <a:spcBef>
                <a:spcPts val="127"/>
              </a:spcBef>
            </a:pPr>
            <a:r>
              <a:rPr sz="4245" spc="236" dirty="0">
                <a:latin typeface="Calibri"/>
                <a:cs typeface="Calibri"/>
              </a:rPr>
              <a:t>Science,</a:t>
            </a:r>
            <a:r>
              <a:rPr sz="4245" spc="127" dirty="0">
                <a:latin typeface="Calibri"/>
                <a:cs typeface="Calibri"/>
              </a:rPr>
              <a:t> </a:t>
            </a:r>
            <a:r>
              <a:rPr sz="4245" spc="188" dirty="0">
                <a:latin typeface="Calibri"/>
                <a:cs typeface="Calibri"/>
              </a:rPr>
              <a:t>math</a:t>
            </a:r>
            <a:r>
              <a:rPr sz="4245" spc="103" dirty="0">
                <a:latin typeface="Calibri"/>
                <a:cs typeface="Calibri"/>
              </a:rPr>
              <a:t> </a:t>
            </a:r>
            <a:r>
              <a:rPr sz="4245" spc="61" dirty="0">
                <a:latin typeface="Calibri"/>
                <a:cs typeface="Calibri"/>
              </a:rPr>
              <a:t>or </a:t>
            </a:r>
            <a:r>
              <a:rPr sz="4245" spc="267" dirty="0">
                <a:latin typeface="Calibri"/>
                <a:cs typeface="Calibri"/>
              </a:rPr>
              <a:t>hands-</a:t>
            </a:r>
            <a:r>
              <a:rPr sz="4245" spc="152" dirty="0">
                <a:latin typeface="Calibri"/>
                <a:cs typeface="Calibri"/>
              </a:rPr>
              <a:t>on</a:t>
            </a:r>
            <a:r>
              <a:rPr sz="4245" spc="97" dirty="0">
                <a:latin typeface="Calibri"/>
                <a:cs typeface="Calibri"/>
              </a:rPr>
              <a:t> </a:t>
            </a:r>
            <a:r>
              <a:rPr sz="4245" spc="194" dirty="0">
                <a:latin typeface="Calibri"/>
                <a:cs typeface="Calibri"/>
              </a:rPr>
              <a:t>coding</a:t>
            </a:r>
            <a:endParaRPr sz="4245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61543" y="391270"/>
            <a:ext cx="2851941" cy="284796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34532" y="4535199"/>
            <a:ext cx="355030" cy="66958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4245" b="1" spc="321" dirty="0">
                <a:latin typeface="Calibri"/>
                <a:cs typeface="Calibri"/>
              </a:rPr>
              <a:t>5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3692" y="12915486"/>
            <a:ext cx="1913771" cy="263691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15403">
              <a:spcBef>
                <a:spcPts val="164"/>
              </a:spcBef>
            </a:pPr>
            <a:r>
              <a:rPr sz="1577" spc="61" dirty="0">
                <a:latin typeface="Calibri"/>
                <a:cs typeface="Calibri"/>
              </a:rPr>
              <a:t>Qiskit</a:t>
            </a:r>
            <a:r>
              <a:rPr sz="1577" spc="36" dirty="0">
                <a:latin typeface="Calibri"/>
                <a:cs typeface="Calibri"/>
              </a:rPr>
              <a:t> </a:t>
            </a:r>
            <a:r>
              <a:rPr sz="1577" spc="103" dirty="0">
                <a:latin typeface="Calibri"/>
                <a:cs typeface="Calibri"/>
              </a:rPr>
              <a:t>Fall</a:t>
            </a:r>
            <a:r>
              <a:rPr sz="1577" spc="30" dirty="0">
                <a:latin typeface="Calibri"/>
                <a:cs typeface="Calibri"/>
              </a:rPr>
              <a:t> </a:t>
            </a:r>
            <a:r>
              <a:rPr sz="1577" spc="91" dirty="0">
                <a:latin typeface="Calibri"/>
                <a:cs typeface="Calibri"/>
              </a:rPr>
              <a:t>Fest</a:t>
            </a:r>
            <a:r>
              <a:rPr sz="1577" spc="42" dirty="0">
                <a:latin typeface="Calibri"/>
                <a:cs typeface="Calibri"/>
              </a:rPr>
              <a:t> </a:t>
            </a:r>
            <a:r>
              <a:rPr sz="1577" spc="138" dirty="0">
                <a:latin typeface="Calibri"/>
                <a:cs typeface="Calibri"/>
              </a:rPr>
              <a:t>202</a:t>
            </a:r>
            <a:r>
              <a:rPr lang="en-US" sz="1577" spc="138" dirty="0">
                <a:latin typeface="Calibri"/>
                <a:cs typeface="Calibri"/>
              </a:rPr>
              <a:t>6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96203" y="7068049"/>
            <a:ext cx="3339280" cy="2854023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 marR="6161" algn="ctr">
              <a:lnSpc>
                <a:spcPct val="110300"/>
              </a:lnSpc>
              <a:spcBef>
                <a:spcPts val="121"/>
              </a:spcBef>
            </a:pPr>
            <a:r>
              <a:rPr sz="4245" spc="236" dirty="0">
                <a:latin typeface="Calibri"/>
                <a:cs typeface="Calibri"/>
              </a:rPr>
              <a:t>Papers</a:t>
            </a:r>
            <a:r>
              <a:rPr sz="4245" spc="1061" dirty="0">
                <a:latin typeface="Calibri"/>
                <a:cs typeface="Calibri"/>
              </a:rPr>
              <a:t> </a:t>
            </a:r>
            <a:r>
              <a:rPr sz="4245" spc="176" dirty="0">
                <a:latin typeface="Calibri"/>
                <a:cs typeface="Calibri"/>
              </a:rPr>
              <a:t>Active </a:t>
            </a:r>
            <a:r>
              <a:rPr sz="4245" spc="255" dirty="0">
                <a:latin typeface="Calibri"/>
                <a:cs typeface="Calibri"/>
              </a:rPr>
              <a:t>Research</a:t>
            </a:r>
            <a:r>
              <a:rPr sz="4245" spc="18" dirty="0">
                <a:latin typeface="Calibri"/>
                <a:cs typeface="Calibri"/>
              </a:rPr>
              <a:t> </a:t>
            </a:r>
            <a:r>
              <a:rPr sz="4245" spc="194" dirty="0">
                <a:latin typeface="Calibri"/>
                <a:cs typeface="Calibri"/>
              </a:rPr>
              <a:t>and </a:t>
            </a:r>
            <a:r>
              <a:rPr sz="4245" spc="182" dirty="0">
                <a:latin typeface="Calibri"/>
                <a:cs typeface="Calibri"/>
              </a:rPr>
              <a:t>development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926521" y="4535199"/>
            <a:ext cx="690036" cy="66958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4245" b="1" spc="394" dirty="0">
                <a:latin typeface="Calibri"/>
                <a:cs typeface="Calibri"/>
              </a:rPr>
              <a:t>10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938" y="4425492"/>
            <a:ext cx="6538396" cy="756694"/>
          </a:xfrm>
          <a:prstGeom prst="rect">
            <a:avLst/>
          </a:prstGeom>
        </p:spPr>
        <p:txBody>
          <a:bodyPr vert="horz" wrap="square" lIns="0" tIns="19253" rIns="0" bIns="0" rtlCol="0">
            <a:spAutoFit/>
          </a:bodyPr>
          <a:lstStyle/>
          <a:p>
            <a:pPr marL="15403">
              <a:spcBef>
                <a:spcPts val="152"/>
              </a:spcBef>
            </a:pPr>
            <a:r>
              <a:rPr sz="4791" spc="194" dirty="0">
                <a:solidFill>
                  <a:srgbClr val="9F1752"/>
                </a:solidFill>
                <a:latin typeface="Calibri"/>
                <a:cs typeface="Calibri"/>
              </a:rPr>
              <a:t>Beginner</a:t>
            </a:r>
            <a:r>
              <a:rPr sz="4791" spc="85" dirty="0">
                <a:solidFill>
                  <a:srgbClr val="9F1752"/>
                </a:solidFill>
                <a:latin typeface="Calibri"/>
                <a:cs typeface="Calibri"/>
              </a:rPr>
              <a:t> </a:t>
            </a:r>
            <a:r>
              <a:rPr sz="4791" spc="437" dirty="0">
                <a:solidFill>
                  <a:srgbClr val="9F1752"/>
                </a:solidFill>
                <a:latin typeface="Calibri"/>
                <a:cs typeface="Calibri"/>
              </a:rPr>
              <a:t>-</a:t>
            </a:r>
            <a:r>
              <a:rPr sz="4791" spc="42" dirty="0">
                <a:solidFill>
                  <a:srgbClr val="9F1752"/>
                </a:solidFill>
                <a:latin typeface="Calibri"/>
                <a:cs typeface="Calibri"/>
              </a:rPr>
              <a:t> </a:t>
            </a:r>
            <a:r>
              <a:rPr sz="4791" spc="182" dirty="0">
                <a:solidFill>
                  <a:srgbClr val="9F1752"/>
                </a:solidFill>
                <a:latin typeface="Calibri"/>
                <a:cs typeface="Calibri"/>
              </a:rPr>
              <a:t>Intermediate</a:t>
            </a:r>
            <a:endParaRPr sz="4791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2604" y="11422714"/>
            <a:ext cx="183290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09" dirty="0">
                <a:latin typeface="Calibri"/>
                <a:cs typeface="Calibri"/>
              </a:rPr>
              <a:t>Optimize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85888" y="11422714"/>
            <a:ext cx="165038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64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49968" y="11422714"/>
            <a:ext cx="270469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0" dirty="0">
                <a:latin typeface="Calibri"/>
                <a:cs typeface="Calibri"/>
              </a:rPr>
              <a:t>Post-</a:t>
            </a:r>
            <a:r>
              <a:rPr sz="3578" spc="194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316" y="11422714"/>
            <a:ext cx="905672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94743" y="10938655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5" h="310515">
                <a:moveTo>
                  <a:pt x="310007" y="77584"/>
                </a:moveTo>
                <a:lnTo>
                  <a:pt x="232511" y="77584"/>
                </a:lnTo>
                <a:lnTo>
                  <a:pt x="232511" y="99745"/>
                </a:lnTo>
                <a:lnTo>
                  <a:pt x="272249" y="99745"/>
                </a:lnTo>
                <a:lnTo>
                  <a:pt x="188214" y="183870"/>
                </a:lnTo>
                <a:lnTo>
                  <a:pt x="139687" y="135178"/>
                </a:lnTo>
                <a:lnTo>
                  <a:pt x="135775" y="133223"/>
                </a:lnTo>
                <a:lnTo>
                  <a:pt x="131394" y="132930"/>
                </a:lnTo>
                <a:lnTo>
                  <a:pt x="127254" y="134353"/>
                </a:lnTo>
                <a:lnTo>
                  <a:pt x="124993" y="136207"/>
                </a:lnTo>
                <a:lnTo>
                  <a:pt x="44284" y="217119"/>
                </a:lnTo>
                <a:lnTo>
                  <a:pt x="59893" y="232752"/>
                </a:lnTo>
                <a:lnTo>
                  <a:pt x="132867" y="159702"/>
                </a:lnTo>
                <a:lnTo>
                  <a:pt x="181394" y="208407"/>
                </a:lnTo>
                <a:lnTo>
                  <a:pt x="185305" y="210350"/>
                </a:lnTo>
                <a:lnTo>
                  <a:pt x="189687" y="210642"/>
                </a:lnTo>
                <a:lnTo>
                  <a:pt x="193827" y="209232"/>
                </a:lnTo>
                <a:lnTo>
                  <a:pt x="196075" y="207365"/>
                </a:lnTo>
                <a:lnTo>
                  <a:pt x="287870" y="115379"/>
                </a:lnTo>
                <a:lnTo>
                  <a:pt x="287870" y="155168"/>
                </a:lnTo>
                <a:lnTo>
                  <a:pt x="310007" y="155168"/>
                </a:lnTo>
                <a:lnTo>
                  <a:pt x="310007" y="77584"/>
                </a:lnTo>
                <a:close/>
              </a:path>
              <a:path w="310515" h="310515">
                <a:moveTo>
                  <a:pt x="310019" y="288163"/>
                </a:moveTo>
                <a:lnTo>
                  <a:pt x="22148" y="288163"/>
                </a:lnTo>
                <a:lnTo>
                  <a:pt x="22148" y="0"/>
                </a:lnTo>
                <a:lnTo>
                  <a:pt x="0" y="0"/>
                </a:lnTo>
                <a:lnTo>
                  <a:pt x="0" y="294043"/>
                </a:lnTo>
                <a:lnTo>
                  <a:pt x="2336" y="299681"/>
                </a:lnTo>
                <a:lnTo>
                  <a:pt x="10642" y="308000"/>
                </a:lnTo>
                <a:lnTo>
                  <a:pt x="16268" y="310337"/>
                </a:lnTo>
                <a:lnTo>
                  <a:pt x="310019" y="310337"/>
                </a:lnTo>
                <a:lnTo>
                  <a:pt x="310019" y="288163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grpSp>
        <p:nvGrpSpPr>
          <p:cNvPr id="7" name="object 7"/>
          <p:cNvGrpSpPr/>
          <p:nvPr/>
        </p:nvGrpSpPr>
        <p:grpSpPr>
          <a:xfrm>
            <a:off x="12796323" y="10965533"/>
            <a:ext cx="335776" cy="349639"/>
            <a:chOff x="10549028" y="9041488"/>
            <a:chExt cx="276860" cy="2882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8776" y="9152319"/>
              <a:ext cx="177048" cy="1772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49026" y="9041488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221424" y="199504"/>
                  </a:moveTo>
                  <a:lnTo>
                    <a:pt x="166065" y="166255"/>
                  </a:lnTo>
                  <a:lnTo>
                    <a:pt x="166065" y="232752"/>
                  </a:lnTo>
                  <a:lnTo>
                    <a:pt x="221424" y="199504"/>
                  </a:lnTo>
                  <a:close/>
                </a:path>
                <a:path w="266065" h="266065">
                  <a:moveTo>
                    <a:pt x="265722" y="16294"/>
                  </a:moveTo>
                  <a:lnTo>
                    <a:pt x="263385" y="10642"/>
                  </a:lnTo>
                  <a:lnTo>
                    <a:pt x="255066" y="2336"/>
                  </a:lnTo>
                  <a:lnTo>
                    <a:pt x="249453" y="0"/>
                  </a:lnTo>
                  <a:lnTo>
                    <a:pt x="243573" y="0"/>
                  </a:lnTo>
                  <a:lnTo>
                    <a:pt x="243573" y="22174"/>
                  </a:lnTo>
                  <a:lnTo>
                    <a:pt x="243573" y="66497"/>
                  </a:lnTo>
                  <a:lnTo>
                    <a:pt x="22136" y="66497"/>
                  </a:lnTo>
                  <a:lnTo>
                    <a:pt x="22136" y="22174"/>
                  </a:lnTo>
                  <a:lnTo>
                    <a:pt x="243573" y="22174"/>
                  </a:lnTo>
                  <a:lnTo>
                    <a:pt x="243573" y="0"/>
                  </a:lnTo>
                  <a:lnTo>
                    <a:pt x="16268" y="0"/>
                  </a:lnTo>
                  <a:lnTo>
                    <a:pt x="10629" y="2336"/>
                  </a:lnTo>
                  <a:lnTo>
                    <a:pt x="2324" y="10642"/>
                  </a:lnTo>
                  <a:lnTo>
                    <a:pt x="0" y="16294"/>
                  </a:lnTo>
                  <a:lnTo>
                    <a:pt x="0" y="249720"/>
                  </a:lnTo>
                  <a:lnTo>
                    <a:pt x="2324" y="255358"/>
                  </a:lnTo>
                  <a:lnTo>
                    <a:pt x="10629" y="263664"/>
                  </a:lnTo>
                  <a:lnTo>
                    <a:pt x="16268" y="266001"/>
                  </a:lnTo>
                  <a:lnTo>
                    <a:pt x="66421" y="266001"/>
                  </a:lnTo>
                  <a:lnTo>
                    <a:pt x="66421" y="243840"/>
                  </a:lnTo>
                  <a:lnTo>
                    <a:pt x="22136" y="243840"/>
                  </a:lnTo>
                  <a:lnTo>
                    <a:pt x="22136" y="88671"/>
                  </a:lnTo>
                  <a:lnTo>
                    <a:pt x="265722" y="88671"/>
                  </a:lnTo>
                  <a:lnTo>
                    <a:pt x="265722" y="66497"/>
                  </a:lnTo>
                  <a:lnTo>
                    <a:pt x="265722" y="22174"/>
                  </a:lnTo>
                  <a:lnTo>
                    <a:pt x="265722" y="1629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740" y="10938649"/>
            <a:ext cx="376564" cy="37637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708181" y="10938649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4" h="310515">
                <a:moveTo>
                  <a:pt x="243574" y="0"/>
                </a:moveTo>
                <a:lnTo>
                  <a:pt x="227962" y="15634"/>
                </a:lnTo>
                <a:lnTo>
                  <a:pt x="267613" y="55413"/>
                </a:lnTo>
                <a:lnTo>
                  <a:pt x="190561" y="55425"/>
                </a:lnTo>
                <a:lnTo>
                  <a:pt x="186879" y="56386"/>
                </a:lnTo>
                <a:lnTo>
                  <a:pt x="180336" y="60030"/>
                </a:lnTo>
                <a:lnTo>
                  <a:pt x="177579" y="62651"/>
                </a:lnTo>
                <a:lnTo>
                  <a:pt x="132859" y="134215"/>
                </a:lnTo>
                <a:lnTo>
                  <a:pt x="88135" y="62651"/>
                </a:lnTo>
                <a:lnTo>
                  <a:pt x="85378" y="60030"/>
                </a:lnTo>
                <a:lnTo>
                  <a:pt x="78835" y="56386"/>
                </a:lnTo>
                <a:lnTo>
                  <a:pt x="75153" y="55425"/>
                </a:lnTo>
                <a:lnTo>
                  <a:pt x="0" y="55413"/>
                </a:lnTo>
                <a:lnTo>
                  <a:pt x="0" y="77580"/>
                </a:lnTo>
                <a:lnTo>
                  <a:pt x="71410" y="77580"/>
                </a:lnTo>
                <a:lnTo>
                  <a:pt x="119794" y="155164"/>
                </a:lnTo>
                <a:lnTo>
                  <a:pt x="71410" y="232747"/>
                </a:lnTo>
                <a:lnTo>
                  <a:pt x="0" y="232747"/>
                </a:lnTo>
                <a:lnTo>
                  <a:pt x="0" y="254914"/>
                </a:lnTo>
                <a:lnTo>
                  <a:pt x="75154" y="254902"/>
                </a:lnTo>
                <a:lnTo>
                  <a:pt x="132859" y="176110"/>
                </a:lnTo>
                <a:lnTo>
                  <a:pt x="177579" y="247673"/>
                </a:lnTo>
                <a:lnTo>
                  <a:pt x="180337" y="250297"/>
                </a:lnTo>
                <a:lnTo>
                  <a:pt x="186879" y="253941"/>
                </a:lnTo>
                <a:lnTo>
                  <a:pt x="190561" y="254902"/>
                </a:lnTo>
                <a:lnTo>
                  <a:pt x="267613" y="254914"/>
                </a:lnTo>
                <a:lnTo>
                  <a:pt x="227962" y="294701"/>
                </a:lnTo>
                <a:lnTo>
                  <a:pt x="243575" y="310330"/>
                </a:lnTo>
                <a:lnTo>
                  <a:pt x="310010" y="243830"/>
                </a:lnTo>
                <a:lnTo>
                  <a:pt x="243574" y="177330"/>
                </a:lnTo>
                <a:lnTo>
                  <a:pt x="227962" y="192956"/>
                </a:lnTo>
                <a:lnTo>
                  <a:pt x="267613" y="232747"/>
                </a:lnTo>
                <a:lnTo>
                  <a:pt x="194304" y="232747"/>
                </a:lnTo>
                <a:lnTo>
                  <a:pt x="145923" y="155164"/>
                </a:lnTo>
                <a:lnTo>
                  <a:pt x="194304" y="77580"/>
                </a:lnTo>
                <a:lnTo>
                  <a:pt x="267613" y="77580"/>
                </a:lnTo>
                <a:lnTo>
                  <a:pt x="227962" y="117368"/>
                </a:lnTo>
                <a:lnTo>
                  <a:pt x="243574" y="132997"/>
                </a:lnTo>
                <a:lnTo>
                  <a:pt x="310010" y="66497"/>
                </a:lnTo>
                <a:lnTo>
                  <a:pt x="243574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2" name="object 12"/>
          <p:cNvSpPr/>
          <p:nvPr/>
        </p:nvSpPr>
        <p:spPr>
          <a:xfrm>
            <a:off x="58297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3" name="object 13"/>
          <p:cNvSpPr/>
          <p:nvPr/>
        </p:nvSpPr>
        <p:spPr>
          <a:xfrm>
            <a:off x="6671689" y="10518118"/>
            <a:ext cx="4942688" cy="0"/>
          </a:xfrm>
          <a:custGeom>
            <a:avLst/>
            <a:gdLst/>
            <a:ahLst/>
            <a:cxnLst/>
            <a:rect l="l" t="t" r="r" b="b"/>
            <a:pathLst>
              <a:path w="4075429">
                <a:moveTo>
                  <a:pt x="0" y="0"/>
                </a:moveTo>
                <a:lnTo>
                  <a:pt x="4075282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4" name="object 14"/>
          <p:cNvSpPr/>
          <p:nvPr/>
        </p:nvSpPr>
        <p:spPr>
          <a:xfrm>
            <a:off x="12732977" y="10518118"/>
            <a:ext cx="5025093" cy="0"/>
          </a:xfrm>
          <a:custGeom>
            <a:avLst/>
            <a:gdLst/>
            <a:ahLst/>
            <a:cxnLst/>
            <a:rect l="l" t="t" r="r" b="b"/>
            <a:pathLst>
              <a:path w="4143375">
                <a:moveTo>
                  <a:pt x="0" y="0"/>
                </a:moveTo>
                <a:lnTo>
                  <a:pt x="4143125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5" name="object 15"/>
          <p:cNvSpPr/>
          <p:nvPr/>
        </p:nvSpPr>
        <p:spPr>
          <a:xfrm>
            <a:off x="1886740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19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6" name="object 16"/>
          <p:cNvSpPr txBox="1"/>
          <p:nvPr/>
        </p:nvSpPr>
        <p:spPr>
          <a:xfrm>
            <a:off x="563317" y="505767"/>
            <a:ext cx="7495667" cy="1239195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Pattern: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466"/>
              </a:spcBef>
            </a:pPr>
            <a:r>
              <a:rPr sz="3578" spc="206" dirty="0">
                <a:latin typeface="Calibri"/>
                <a:cs typeface="Calibri"/>
              </a:rPr>
              <a:t>The</a:t>
            </a:r>
            <a:r>
              <a:rPr sz="3578" spc="-18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anatomy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of</a:t>
            </a:r>
            <a:r>
              <a:rPr sz="3578" spc="103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a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algorithm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316" y="6333675"/>
            <a:ext cx="4807915" cy="2426380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01</a:t>
            </a:r>
            <a:endParaRPr sz="3578">
              <a:latin typeface="Calibri"/>
              <a:cs typeface="Calibri"/>
            </a:endParaRPr>
          </a:p>
          <a:p>
            <a:pPr marL="15403" marR="6161">
              <a:lnSpc>
                <a:spcPct val="110700"/>
              </a:lnSpc>
            </a:pPr>
            <a:r>
              <a:rPr sz="3578" b="1" dirty="0">
                <a:latin typeface="Calibri"/>
                <a:cs typeface="Calibri"/>
              </a:rPr>
              <a:t>Map</a:t>
            </a:r>
            <a:r>
              <a:rPr sz="3578" b="1" spc="61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problem</a:t>
            </a:r>
            <a:r>
              <a:rPr sz="3578" spc="-30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instance </a:t>
            </a:r>
            <a:r>
              <a:rPr sz="3578" dirty="0">
                <a:latin typeface="Calibri"/>
                <a:cs typeface="Calibri"/>
              </a:rPr>
              <a:t>to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91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circuits</a:t>
            </a:r>
            <a:r>
              <a:rPr sz="3578" spc="97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and </a:t>
            </a:r>
            <a:r>
              <a:rPr sz="3578" spc="97" dirty="0">
                <a:latin typeface="Calibri"/>
                <a:cs typeface="Calibri"/>
              </a:rPr>
              <a:t>operators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67840" y="6333674"/>
            <a:ext cx="4035477" cy="1815187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02</a:t>
            </a:r>
            <a:endParaRPr sz="3578">
              <a:latin typeface="Calibri"/>
              <a:cs typeface="Calibri"/>
            </a:endParaRPr>
          </a:p>
          <a:p>
            <a:pPr marL="15403" marR="6161">
              <a:lnSpc>
                <a:spcPct val="110700"/>
              </a:lnSpc>
            </a:pPr>
            <a:r>
              <a:rPr sz="3578" b="1" dirty="0">
                <a:latin typeface="Calibri"/>
                <a:cs typeface="Calibri"/>
              </a:rPr>
              <a:t>Optimize</a:t>
            </a:r>
            <a:r>
              <a:rPr sz="3578" b="1" spc="115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for</a:t>
            </a:r>
            <a:r>
              <a:rPr sz="3578" spc="97" dirty="0">
                <a:latin typeface="Calibri"/>
                <a:cs typeface="Calibri"/>
              </a:rPr>
              <a:t> </a:t>
            </a:r>
            <a:r>
              <a:rPr sz="3578" spc="79" dirty="0">
                <a:latin typeface="Calibri"/>
                <a:cs typeface="Calibri"/>
              </a:rPr>
              <a:t>target </a:t>
            </a:r>
            <a:r>
              <a:rPr sz="3578" spc="121" dirty="0">
                <a:latin typeface="Calibri"/>
                <a:cs typeface="Calibri"/>
              </a:rPr>
              <a:t>hardware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execution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48684" y="6333674"/>
            <a:ext cx="4822549" cy="1853916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03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461"/>
              </a:spcBef>
            </a:pPr>
            <a:r>
              <a:rPr sz="3578" b="1" dirty="0">
                <a:latin typeface="Calibri"/>
                <a:cs typeface="Calibri"/>
              </a:rPr>
              <a:t>Execute</a:t>
            </a:r>
            <a:r>
              <a:rPr sz="3578" b="1" spc="12" dirty="0">
                <a:latin typeface="Calibri"/>
                <a:cs typeface="Calibri"/>
              </a:rPr>
              <a:t> </a:t>
            </a:r>
            <a:r>
              <a:rPr sz="3578" spc="67" dirty="0">
                <a:latin typeface="Calibri"/>
                <a:cs typeface="Calibri"/>
              </a:rPr>
              <a:t>via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461"/>
              </a:spcBef>
            </a:pPr>
            <a:r>
              <a:rPr sz="3578" spc="206" dirty="0">
                <a:latin typeface="Calibri"/>
                <a:cs typeface="Calibri"/>
              </a:rPr>
              <a:t>IBM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Compute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829781" y="6333675"/>
            <a:ext cx="3524111" cy="1239195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04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461"/>
              </a:spcBef>
            </a:pPr>
            <a:r>
              <a:rPr sz="3578" b="1" dirty="0">
                <a:latin typeface="Calibri"/>
                <a:cs typeface="Calibri"/>
              </a:rPr>
              <a:t>Result</a:t>
            </a:r>
            <a:r>
              <a:rPr sz="3578" b="1" spc="30" dirty="0">
                <a:latin typeface="Calibri"/>
                <a:cs typeface="Calibri"/>
              </a:rPr>
              <a:t> </a:t>
            </a:r>
            <a:r>
              <a:rPr sz="3578" spc="158" dirty="0">
                <a:latin typeface="Calibri"/>
                <a:cs typeface="Calibri"/>
              </a:rPr>
              <a:t>processing</a:t>
            </a:r>
            <a:endParaRPr sz="3578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61543" y="563060"/>
            <a:ext cx="2851941" cy="283344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/>
              <a:pPr marL="90875">
                <a:spcBef>
                  <a:spcPts val="164"/>
                </a:spcBef>
              </a:pPr>
              <a:t>14</a:t>
            </a:fld>
            <a:endParaRPr spc="10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2604" y="11422714"/>
            <a:ext cx="183290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09" dirty="0">
                <a:latin typeface="Calibri"/>
                <a:cs typeface="Calibri"/>
              </a:rPr>
              <a:t>Optimize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85888" y="11422714"/>
            <a:ext cx="165038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64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49968" y="11422714"/>
            <a:ext cx="270469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0" dirty="0">
                <a:latin typeface="Calibri"/>
                <a:cs typeface="Calibri"/>
              </a:rPr>
              <a:t>Post-</a:t>
            </a:r>
            <a:r>
              <a:rPr sz="3578" spc="194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316" y="11422714"/>
            <a:ext cx="905672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94743" y="10938655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5" h="310515">
                <a:moveTo>
                  <a:pt x="310007" y="77584"/>
                </a:moveTo>
                <a:lnTo>
                  <a:pt x="232511" y="77584"/>
                </a:lnTo>
                <a:lnTo>
                  <a:pt x="232511" y="99745"/>
                </a:lnTo>
                <a:lnTo>
                  <a:pt x="272249" y="99745"/>
                </a:lnTo>
                <a:lnTo>
                  <a:pt x="188214" y="183870"/>
                </a:lnTo>
                <a:lnTo>
                  <a:pt x="139687" y="135178"/>
                </a:lnTo>
                <a:lnTo>
                  <a:pt x="135775" y="133223"/>
                </a:lnTo>
                <a:lnTo>
                  <a:pt x="131394" y="132930"/>
                </a:lnTo>
                <a:lnTo>
                  <a:pt x="127254" y="134353"/>
                </a:lnTo>
                <a:lnTo>
                  <a:pt x="124993" y="136207"/>
                </a:lnTo>
                <a:lnTo>
                  <a:pt x="44284" y="217119"/>
                </a:lnTo>
                <a:lnTo>
                  <a:pt x="59893" y="232752"/>
                </a:lnTo>
                <a:lnTo>
                  <a:pt x="132867" y="159702"/>
                </a:lnTo>
                <a:lnTo>
                  <a:pt x="181394" y="208407"/>
                </a:lnTo>
                <a:lnTo>
                  <a:pt x="185305" y="210350"/>
                </a:lnTo>
                <a:lnTo>
                  <a:pt x="189687" y="210642"/>
                </a:lnTo>
                <a:lnTo>
                  <a:pt x="193827" y="209232"/>
                </a:lnTo>
                <a:lnTo>
                  <a:pt x="196075" y="207365"/>
                </a:lnTo>
                <a:lnTo>
                  <a:pt x="287870" y="115379"/>
                </a:lnTo>
                <a:lnTo>
                  <a:pt x="287870" y="155168"/>
                </a:lnTo>
                <a:lnTo>
                  <a:pt x="310007" y="155168"/>
                </a:lnTo>
                <a:lnTo>
                  <a:pt x="310007" y="77584"/>
                </a:lnTo>
                <a:close/>
              </a:path>
              <a:path w="310515" h="310515">
                <a:moveTo>
                  <a:pt x="310019" y="288163"/>
                </a:moveTo>
                <a:lnTo>
                  <a:pt x="22148" y="288163"/>
                </a:lnTo>
                <a:lnTo>
                  <a:pt x="22148" y="0"/>
                </a:lnTo>
                <a:lnTo>
                  <a:pt x="0" y="0"/>
                </a:lnTo>
                <a:lnTo>
                  <a:pt x="0" y="294043"/>
                </a:lnTo>
                <a:lnTo>
                  <a:pt x="2336" y="299681"/>
                </a:lnTo>
                <a:lnTo>
                  <a:pt x="10642" y="308000"/>
                </a:lnTo>
                <a:lnTo>
                  <a:pt x="16268" y="310337"/>
                </a:lnTo>
                <a:lnTo>
                  <a:pt x="310019" y="310337"/>
                </a:lnTo>
                <a:lnTo>
                  <a:pt x="310019" y="288163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grpSp>
        <p:nvGrpSpPr>
          <p:cNvPr id="7" name="object 7"/>
          <p:cNvGrpSpPr/>
          <p:nvPr/>
        </p:nvGrpSpPr>
        <p:grpSpPr>
          <a:xfrm>
            <a:off x="12796323" y="10965533"/>
            <a:ext cx="335776" cy="349639"/>
            <a:chOff x="10549028" y="9041488"/>
            <a:chExt cx="276860" cy="2882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8776" y="9152319"/>
              <a:ext cx="177048" cy="1772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49026" y="9041488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221424" y="199504"/>
                  </a:moveTo>
                  <a:lnTo>
                    <a:pt x="166065" y="166255"/>
                  </a:lnTo>
                  <a:lnTo>
                    <a:pt x="166065" y="232752"/>
                  </a:lnTo>
                  <a:lnTo>
                    <a:pt x="221424" y="199504"/>
                  </a:lnTo>
                  <a:close/>
                </a:path>
                <a:path w="266065" h="266065">
                  <a:moveTo>
                    <a:pt x="265722" y="16294"/>
                  </a:moveTo>
                  <a:lnTo>
                    <a:pt x="263385" y="10642"/>
                  </a:lnTo>
                  <a:lnTo>
                    <a:pt x="255066" y="2336"/>
                  </a:lnTo>
                  <a:lnTo>
                    <a:pt x="249453" y="0"/>
                  </a:lnTo>
                  <a:lnTo>
                    <a:pt x="243573" y="0"/>
                  </a:lnTo>
                  <a:lnTo>
                    <a:pt x="243573" y="22174"/>
                  </a:lnTo>
                  <a:lnTo>
                    <a:pt x="243573" y="66497"/>
                  </a:lnTo>
                  <a:lnTo>
                    <a:pt x="22136" y="66497"/>
                  </a:lnTo>
                  <a:lnTo>
                    <a:pt x="22136" y="22174"/>
                  </a:lnTo>
                  <a:lnTo>
                    <a:pt x="243573" y="22174"/>
                  </a:lnTo>
                  <a:lnTo>
                    <a:pt x="243573" y="0"/>
                  </a:lnTo>
                  <a:lnTo>
                    <a:pt x="16268" y="0"/>
                  </a:lnTo>
                  <a:lnTo>
                    <a:pt x="10629" y="2336"/>
                  </a:lnTo>
                  <a:lnTo>
                    <a:pt x="2324" y="10642"/>
                  </a:lnTo>
                  <a:lnTo>
                    <a:pt x="0" y="16294"/>
                  </a:lnTo>
                  <a:lnTo>
                    <a:pt x="0" y="249720"/>
                  </a:lnTo>
                  <a:lnTo>
                    <a:pt x="2324" y="255358"/>
                  </a:lnTo>
                  <a:lnTo>
                    <a:pt x="10629" y="263664"/>
                  </a:lnTo>
                  <a:lnTo>
                    <a:pt x="16268" y="266001"/>
                  </a:lnTo>
                  <a:lnTo>
                    <a:pt x="66421" y="266001"/>
                  </a:lnTo>
                  <a:lnTo>
                    <a:pt x="66421" y="243840"/>
                  </a:lnTo>
                  <a:lnTo>
                    <a:pt x="22136" y="243840"/>
                  </a:lnTo>
                  <a:lnTo>
                    <a:pt x="22136" y="88671"/>
                  </a:lnTo>
                  <a:lnTo>
                    <a:pt x="265722" y="88671"/>
                  </a:lnTo>
                  <a:lnTo>
                    <a:pt x="265722" y="66497"/>
                  </a:lnTo>
                  <a:lnTo>
                    <a:pt x="265722" y="22174"/>
                  </a:lnTo>
                  <a:lnTo>
                    <a:pt x="265722" y="1629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740" y="10938649"/>
            <a:ext cx="376564" cy="37637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708181" y="10938649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4" h="310515">
                <a:moveTo>
                  <a:pt x="243574" y="0"/>
                </a:moveTo>
                <a:lnTo>
                  <a:pt x="227962" y="15634"/>
                </a:lnTo>
                <a:lnTo>
                  <a:pt x="267613" y="55413"/>
                </a:lnTo>
                <a:lnTo>
                  <a:pt x="190561" y="55425"/>
                </a:lnTo>
                <a:lnTo>
                  <a:pt x="186879" y="56386"/>
                </a:lnTo>
                <a:lnTo>
                  <a:pt x="180336" y="60030"/>
                </a:lnTo>
                <a:lnTo>
                  <a:pt x="177579" y="62651"/>
                </a:lnTo>
                <a:lnTo>
                  <a:pt x="132859" y="134215"/>
                </a:lnTo>
                <a:lnTo>
                  <a:pt x="88135" y="62651"/>
                </a:lnTo>
                <a:lnTo>
                  <a:pt x="85378" y="60030"/>
                </a:lnTo>
                <a:lnTo>
                  <a:pt x="78835" y="56386"/>
                </a:lnTo>
                <a:lnTo>
                  <a:pt x="75153" y="55425"/>
                </a:lnTo>
                <a:lnTo>
                  <a:pt x="0" y="55413"/>
                </a:lnTo>
                <a:lnTo>
                  <a:pt x="0" y="77580"/>
                </a:lnTo>
                <a:lnTo>
                  <a:pt x="71410" y="77580"/>
                </a:lnTo>
                <a:lnTo>
                  <a:pt x="119794" y="155164"/>
                </a:lnTo>
                <a:lnTo>
                  <a:pt x="71410" y="232747"/>
                </a:lnTo>
                <a:lnTo>
                  <a:pt x="0" y="232747"/>
                </a:lnTo>
                <a:lnTo>
                  <a:pt x="0" y="254914"/>
                </a:lnTo>
                <a:lnTo>
                  <a:pt x="75154" y="254902"/>
                </a:lnTo>
                <a:lnTo>
                  <a:pt x="132859" y="176110"/>
                </a:lnTo>
                <a:lnTo>
                  <a:pt x="177579" y="247673"/>
                </a:lnTo>
                <a:lnTo>
                  <a:pt x="180337" y="250297"/>
                </a:lnTo>
                <a:lnTo>
                  <a:pt x="186879" y="253941"/>
                </a:lnTo>
                <a:lnTo>
                  <a:pt x="190561" y="254902"/>
                </a:lnTo>
                <a:lnTo>
                  <a:pt x="267613" y="254914"/>
                </a:lnTo>
                <a:lnTo>
                  <a:pt x="227962" y="294701"/>
                </a:lnTo>
                <a:lnTo>
                  <a:pt x="243575" y="310330"/>
                </a:lnTo>
                <a:lnTo>
                  <a:pt x="310010" y="243830"/>
                </a:lnTo>
                <a:lnTo>
                  <a:pt x="243574" y="177330"/>
                </a:lnTo>
                <a:lnTo>
                  <a:pt x="227962" y="192956"/>
                </a:lnTo>
                <a:lnTo>
                  <a:pt x="267613" y="232747"/>
                </a:lnTo>
                <a:lnTo>
                  <a:pt x="194304" y="232747"/>
                </a:lnTo>
                <a:lnTo>
                  <a:pt x="145923" y="155164"/>
                </a:lnTo>
                <a:lnTo>
                  <a:pt x="194304" y="77580"/>
                </a:lnTo>
                <a:lnTo>
                  <a:pt x="267613" y="77580"/>
                </a:lnTo>
                <a:lnTo>
                  <a:pt x="227962" y="117368"/>
                </a:lnTo>
                <a:lnTo>
                  <a:pt x="243574" y="132997"/>
                </a:lnTo>
                <a:lnTo>
                  <a:pt x="310010" y="66497"/>
                </a:lnTo>
                <a:lnTo>
                  <a:pt x="243574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2" name="object 12"/>
          <p:cNvSpPr/>
          <p:nvPr/>
        </p:nvSpPr>
        <p:spPr>
          <a:xfrm>
            <a:off x="58297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3" name="object 13"/>
          <p:cNvSpPr/>
          <p:nvPr/>
        </p:nvSpPr>
        <p:spPr>
          <a:xfrm>
            <a:off x="6671689" y="10518118"/>
            <a:ext cx="4942688" cy="0"/>
          </a:xfrm>
          <a:custGeom>
            <a:avLst/>
            <a:gdLst/>
            <a:ahLst/>
            <a:cxnLst/>
            <a:rect l="l" t="t" r="r" b="b"/>
            <a:pathLst>
              <a:path w="4075429">
                <a:moveTo>
                  <a:pt x="0" y="0"/>
                </a:moveTo>
                <a:lnTo>
                  <a:pt x="4075282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4" name="object 14"/>
          <p:cNvSpPr/>
          <p:nvPr/>
        </p:nvSpPr>
        <p:spPr>
          <a:xfrm>
            <a:off x="12732977" y="10518118"/>
            <a:ext cx="5025093" cy="0"/>
          </a:xfrm>
          <a:custGeom>
            <a:avLst/>
            <a:gdLst/>
            <a:ahLst/>
            <a:cxnLst/>
            <a:rect l="l" t="t" r="r" b="b"/>
            <a:pathLst>
              <a:path w="4143375">
                <a:moveTo>
                  <a:pt x="0" y="0"/>
                </a:moveTo>
                <a:lnTo>
                  <a:pt x="4143125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5" name="object 15"/>
          <p:cNvSpPr/>
          <p:nvPr/>
        </p:nvSpPr>
        <p:spPr>
          <a:xfrm>
            <a:off x="1886740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19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121" dirty="0"/>
              <a:t>Qiskit</a:t>
            </a:r>
            <a:r>
              <a:rPr spc="24" dirty="0"/>
              <a:t> </a:t>
            </a:r>
            <a:r>
              <a:rPr spc="303" dirty="0"/>
              <a:t>SDK</a:t>
            </a:r>
            <a:r>
              <a:rPr spc="24" dirty="0"/>
              <a:t> </a:t>
            </a:r>
            <a:r>
              <a:rPr spc="200" dirty="0"/>
              <a:t>sets</a:t>
            </a:r>
            <a:r>
              <a:rPr dirty="0"/>
              <a:t> </a:t>
            </a:r>
            <a:r>
              <a:rPr spc="97" dirty="0"/>
              <a:t>the</a:t>
            </a:r>
            <a:r>
              <a:rPr spc="55" dirty="0"/>
              <a:t> </a:t>
            </a:r>
            <a:r>
              <a:rPr spc="73" dirty="0"/>
              <a:t>foundation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64891" y="7722098"/>
            <a:ext cx="231500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15" dirty="0">
                <a:latin typeface="Calibri"/>
                <a:cs typeface="Calibri"/>
              </a:rPr>
              <a:t>Domain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inputs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891" y="9131142"/>
            <a:ext cx="3133655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1" dirty="0">
                <a:latin typeface="Calibri"/>
                <a:cs typeface="Calibri"/>
              </a:rPr>
              <a:t>Circuits,</a:t>
            </a:r>
            <a:r>
              <a:rPr sz="2789" spc="103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52604" y="7722098"/>
            <a:ext cx="3129805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1" dirty="0">
                <a:latin typeface="Calibri"/>
                <a:cs typeface="Calibri"/>
              </a:rPr>
              <a:t>Circuits,</a:t>
            </a:r>
            <a:r>
              <a:rPr sz="2789" spc="97" dirty="0">
                <a:latin typeface="Calibri"/>
                <a:cs typeface="Calibri"/>
              </a:rPr>
              <a:t> 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52604" y="9131142"/>
            <a:ext cx="355953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267" dirty="0">
                <a:latin typeface="Calibri"/>
                <a:cs typeface="Calibri"/>
              </a:rPr>
              <a:t>ISA</a:t>
            </a:r>
            <a:r>
              <a:rPr sz="2789" spc="67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circuit,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57446" y="7722098"/>
            <a:ext cx="356646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267" dirty="0">
                <a:latin typeface="Calibri"/>
                <a:cs typeface="Calibri"/>
              </a:rPr>
              <a:t>ISA</a:t>
            </a:r>
            <a:r>
              <a:rPr sz="2789" spc="79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circuit,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57445" y="9131142"/>
            <a:ext cx="428422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09" dirty="0">
                <a:latin typeface="Calibri"/>
                <a:cs typeface="Calibri"/>
              </a:rPr>
              <a:t>Expectation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value/samples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63809" y="7722098"/>
            <a:ext cx="427729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03" dirty="0">
                <a:latin typeface="Calibri"/>
                <a:cs typeface="Calibri"/>
              </a:rPr>
              <a:t>Expectation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value/samples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63809" y="9131142"/>
            <a:ext cx="422107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7" dirty="0">
                <a:latin typeface="Calibri"/>
                <a:cs typeface="Calibri"/>
              </a:rPr>
              <a:t>Data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79" dirty="0">
                <a:latin typeface="Calibri"/>
                <a:cs typeface="Calibri"/>
              </a:rPr>
              <a:t>objects/visualizations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6625" y="6324636"/>
            <a:ext cx="4958862" cy="844832"/>
            <a:chOff x="473434" y="5214896"/>
            <a:chExt cx="4088765" cy="696595"/>
          </a:xfrm>
        </p:grpSpPr>
        <p:sp>
          <p:nvSpPr>
            <p:cNvPr id="26" name="object 26"/>
            <p:cNvSpPr/>
            <p:nvPr/>
          </p:nvSpPr>
          <p:spPr>
            <a:xfrm>
              <a:off x="47866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63" y="0"/>
                  </a:lnTo>
                  <a:lnTo>
                    <a:pt x="33144" y="4264"/>
                  </a:lnTo>
                  <a:lnTo>
                    <a:pt x="15895" y="15900"/>
                  </a:lnTo>
                  <a:lnTo>
                    <a:pt x="4265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5" y="652840"/>
                  </a:lnTo>
                  <a:lnTo>
                    <a:pt x="15895" y="670079"/>
                  </a:lnTo>
                  <a:lnTo>
                    <a:pt x="33144" y="681703"/>
                  </a:lnTo>
                  <a:lnTo>
                    <a:pt x="54263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7" name="object 27"/>
            <p:cNvSpPr/>
            <p:nvPr/>
          </p:nvSpPr>
          <p:spPr>
            <a:xfrm>
              <a:off x="47866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5" y="33170"/>
                  </a:lnTo>
                  <a:lnTo>
                    <a:pt x="15895" y="15900"/>
                  </a:lnTo>
                  <a:lnTo>
                    <a:pt x="33144" y="4264"/>
                  </a:lnTo>
                  <a:lnTo>
                    <a:pt x="54263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63" y="685966"/>
                  </a:lnTo>
                  <a:lnTo>
                    <a:pt x="33144" y="681703"/>
                  </a:lnTo>
                  <a:lnTo>
                    <a:pt x="15895" y="670079"/>
                  </a:lnTo>
                  <a:lnTo>
                    <a:pt x="4265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7277" y="6496077"/>
            <a:ext cx="3177553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79" dirty="0">
                <a:latin typeface="Calibri"/>
                <a:cs typeface="Calibri"/>
              </a:rPr>
              <a:t>Qiskit</a:t>
            </a:r>
            <a:r>
              <a:rPr sz="2789" spc="85" dirty="0">
                <a:latin typeface="Calibri"/>
                <a:cs typeface="Calibri"/>
              </a:rPr>
              <a:t> Circuit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Library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665340" y="6324636"/>
            <a:ext cx="4958862" cy="844832"/>
            <a:chOff x="5493805" y="5214896"/>
            <a:chExt cx="4088765" cy="696595"/>
          </a:xfrm>
        </p:grpSpPr>
        <p:sp>
          <p:nvSpPr>
            <p:cNvPr id="30" name="object 30"/>
            <p:cNvSpPr/>
            <p:nvPr/>
          </p:nvSpPr>
          <p:spPr>
            <a:xfrm>
              <a:off x="5499040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1" name="object 31"/>
            <p:cNvSpPr/>
            <p:nvPr/>
          </p:nvSpPr>
          <p:spPr>
            <a:xfrm>
              <a:off x="5499040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54747" y="6496077"/>
            <a:ext cx="1620352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97" dirty="0">
                <a:latin typeface="Calibri"/>
                <a:cs typeface="Calibri"/>
              </a:rPr>
              <a:t>Transpiler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763198" y="6324636"/>
            <a:ext cx="4958862" cy="844832"/>
            <a:chOff x="10521715" y="5214896"/>
            <a:chExt cx="4088765" cy="696595"/>
          </a:xfrm>
        </p:grpSpPr>
        <p:sp>
          <p:nvSpPr>
            <p:cNvPr id="34" name="object 34"/>
            <p:cNvSpPr/>
            <p:nvPr/>
          </p:nvSpPr>
          <p:spPr>
            <a:xfrm>
              <a:off x="1052694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5" name="object 35"/>
            <p:cNvSpPr/>
            <p:nvPr/>
          </p:nvSpPr>
          <p:spPr>
            <a:xfrm>
              <a:off x="1052694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959844" y="6496077"/>
            <a:ext cx="1590317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85" dirty="0">
                <a:latin typeface="Calibri"/>
                <a:cs typeface="Calibri"/>
              </a:rPr>
              <a:t>Primitives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8870197" y="6324636"/>
            <a:ext cx="4958862" cy="844832"/>
            <a:chOff x="15557162" y="5214896"/>
            <a:chExt cx="4088765" cy="696595"/>
          </a:xfrm>
        </p:grpSpPr>
        <p:sp>
          <p:nvSpPr>
            <p:cNvPr id="38" name="object 38"/>
            <p:cNvSpPr/>
            <p:nvPr/>
          </p:nvSpPr>
          <p:spPr>
            <a:xfrm>
              <a:off x="15562396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9" name="object 39"/>
            <p:cNvSpPr/>
            <p:nvPr/>
          </p:nvSpPr>
          <p:spPr>
            <a:xfrm>
              <a:off x="15562396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065955" y="6496077"/>
            <a:ext cx="2221823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97" dirty="0">
                <a:latin typeface="Calibri"/>
                <a:cs typeface="Calibri"/>
              </a:rPr>
              <a:t>Quantum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15" dirty="0">
                <a:latin typeface="Calibri"/>
                <a:cs typeface="Calibri"/>
              </a:rPr>
              <a:t>Info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4890" y="1658905"/>
            <a:ext cx="8325096" cy="935476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9800"/>
              </a:lnSpc>
              <a:spcBef>
                <a:spcPts val="115"/>
              </a:spcBef>
            </a:pPr>
            <a:r>
              <a:rPr sz="2789" spc="85" dirty="0">
                <a:latin typeface="Calibri"/>
                <a:cs typeface="Calibri"/>
              </a:rPr>
              <a:t>Qiskit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230" dirty="0">
                <a:latin typeface="Calibri"/>
                <a:cs typeface="Calibri"/>
              </a:rPr>
              <a:t>SDK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127" dirty="0">
                <a:latin typeface="Calibri"/>
                <a:cs typeface="Calibri"/>
              </a:rPr>
              <a:t>gives</a:t>
            </a:r>
            <a:r>
              <a:rPr sz="2789" spc="-18" dirty="0">
                <a:latin typeface="Calibri"/>
                <a:cs typeface="Calibri"/>
              </a:rPr>
              <a:t> </a:t>
            </a:r>
            <a:r>
              <a:rPr sz="2789" spc="176" dirty="0">
                <a:latin typeface="Calibri"/>
                <a:cs typeface="Calibri"/>
              </a:rPr>
              <a:t>us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46" dirty="0">
                <a:latin typeface="Calibri"/>
                <a:cs typeface="Calibri"/>
              </a:rPr>
              <a:t>a</a:t>
            </a:r>
            <a:r>
              <a:rPr sz="2789" spc="55" dirty="0">
                <a:latin typeface="Calibri"/>
                <a:cs typeface="Calibri"/>
              </a:rPr>
              <a:t> </a:t>
            </a:r>
            <a:r>
              <a:rPr sz="2789" spc="146" dirty="0">
                <a:latin typeface="Calibri"/>
                <a:cs typeface="Calibri"/>
              </a:rPr>
              <a:t>base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layer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of</a:t>
            </a:r>
            <a:r>
              <a:rPr sz="2789" spc="97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building</a:t>
            </a:r>
            <a:r>
              <a:rPr sz="2789" spc="55" dirty="0">
                <a:latin typeface="Calibri"/>
                <a:cs typeface="Calibri"/>
              </a:rPr>
              <a:t> </a:t>
            </a:r>
            <a:r>
              <a:rPr sz="2789" spc="138" dirty="0">
                <a:latin typeface="Calibri"/>
                <a:cs typeface="Calibri"/>
              </a:rPr>
              <a:t>blocks</a:t>
            </a:r>
            <a:r>
              <a:rPr sz="2789" spc="49" dirty="0">
                <a:latin typeface="Calibri"/>
                <a:cs typeface="Calibri"/>
              </a:rPr>
              <a:t> </a:t>
            </a:r>
            <a:r>
              <a:rPr sz="2789" spc="-30" dirty="0">
                <a:latin typeface="Calibri"/>
                <a:cs typeface="Calibri"/>
              </a:rPr>
              <a:t>for </a:t>
            </a:r>
            <a:r>
              <a:rPr sz="2789" spc="97" dirty="0">
                <a:latin typeface="Calibri"/>
                <a:cs typeface="Calibri"/>
              </a:rPr>
              <a:t>building</a:t>
            </a:r>
            <a:r>
              <a:rPr sz="2789" dirty="0">
                <a:latin typeface="Calibri"/>
                <a:cs typeface="Calibri"/>
              </a:rPr>
              <a:t> </a:t>
            </a:r>
            <a:r>
              <a:rPr sz="2789" spc="133" dirty="0">
                <a:latin typeface="Calibri"/>
                <a:cs typeface="Calibri"/>
              </a:rPr>
              <a:t>and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85" dirty="0">
                <a:latin typeface="Calibri"/>
                <a:cs typeface="Calibri"/>
              </a:rPr>
              <a:t>running</a:t>
            </a:r>
            <a:r>
              <a:rPr sz="2789" spc="73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quantum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algorithms</a:t>
            </a:r>
            <a:endParaRPr sz="2789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61543" y="563060"/>
            <a:ext cx="2851941" cy="2833446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/>
              <a:pPr marL="90875">
                <a:spcBef>
                  <a:spcPts val="164"/>
                </a:spcBef>
              </a:pPr>
              <a:t>15</a:t>
            </a:fld>
            <a:endParaRPr spc="10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3" y="2897217"/>
            <a:ext cx="6228034" cy="222134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58" dirty="0">
                <a:latin typeface="Calibri"/>
                <a:cs typeface="Calibri"/>
              </a:rPr>
              <a:t>Hello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85" dirty="0">
                <a:latin typeface="Calibri"/>
                <a:cs typeface="Calibri"/>
              </a:rPr>
              <a:t>World: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A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quick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76" dirty="0">
                <a:latin typeface="Calibri"/>
                <a:cs typeface="Calibri"/>
              </a:rPr>
              <a:t>hands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on </a:t>
            </a:r>
            <a:r>
              <a:rPr sz="3578" spc="91" dirty="0">
                <a:latin typeface="Calibri"/>
                <a:cs typeface="Calibri"/>
              </a:rPr>
              <a:t>introduction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to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running</a:t>
            </a:r>
            <a:r>
              <a:rPr sz="3578" spc="133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circuits </a:t>
            </a:r>
            <a:r>
              <a:rPr sz="3578" spc="91" dirty="0">
                <a:latin typeface="Calibri"/>
                <a:cs typeface="Calibri"/>
              </a:rPr>
              <a:t>on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24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and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206" dirty="0">
                <a:latin typeface="Calibri"/>
                <a:cs typeface="Calibri"/>
              </a:rPr>
              <a:t>IBM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Quantum </a:t>
            </a:r>
            <a:r>
              <a:rPr sz="3578" spc="97" dirty="0">
                <a:latin typeface="Calibri"/>
                <a:cs typeface="Calibri"/>
              </a:rPr>
              <a:t>platform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81407" cy="167760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24"/>
              </a:spcBef>
            </a:pPr>
            <a:r>
              <a:rPr sz="3578" u="sng" spc="9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/docs/en/tutorials/hello-</a:t>
            </a:r>
            <a:r>
              <a:rPr sz="3578" u="sng" spc="8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world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21850" y="2669511"/>
            <a:ext cx="15290914" cy="8013194"/>
            <a:chOff x="6859659" y="2201110"/>
            <a:chExt cx="12607925" cy="66071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9818" y="2216200"/>
              <a:ext cx="12520775" cy="6030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74742" y="8246676"/>
              <a:ext cx="12317730" cy="474980"/>
            </a:xfrm>
            <a:custGeom>
              <a:avLst/>
              <a:gdLst/>
              <a:ahLst/>
              <a:cxnLst/>
              <a:rect l="l" t="t" r="r" b="b"/>
              <a:pathLst>
                <a:path w="12317730" h="474979">
                  <a:moveTo>
                    <a:pt x="12317247" y="0"/>
                  </a:moveTo>
                  <a:lnTo>
                    <a:pt x="0" y="0"/>
                  </a:lnTo>
                  <a:lnTo>
                    <a:pt x="0" y="474899"/>
                  </a:lnTo>
                  <a:lnTo>
                    <a:pt x="12317247" y="474899"/>
                  </a:lnTo>
                  <a:lnTo>
                    <a:pt x="12317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/>
              <a:pPr marL="90875">
                <a:spcBef>
                  <a:spcPts val="164"/>
                </a:spcBef>
              </a:pPr>
              <a:t>16</a:t>
            </a:fld>
            <a:endParaRPr spc="109" dirty="0"/>
          </a:p>
        </p:txBody>
      </p:sp>
      <p:pic>
        <p:nvPicPr>
          <p:cNvPr id="15" name="object 42">
            <a:extLst>
              <a:ext uri="{FF2B5EF4-FFF2-40B4-BE49-F238E27FC236}">
                <a16:creationId xmlns:a16="http://schemas.microsoft.com/office/drawing/2014/main" id="{C17EDD52-0B2A-3EE2-F5D5-CEEE971E4B8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5432" y="9812938"/>
            <a:ext cx="2851941" cy="28334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7"/>
            <a:ext cx="6565351" cy="222134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52" dirty="0">
                <a:latin typeface="Calibri"/>
                <a:cs typeface="Calibri"/>
              </a:rPr>
              <a:t>Your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First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Quantum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Experiment: </a:t>
            </a:r>
            <a:r>
              <a:rPr sz="3578" spc="164" dirty="0">
                <a:latin typeface="Calibri"/>
                <a:cs typeface="Calibri"/>
              </a:rPr>
              <a:t>A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158" dirty="0">
                <a:latin typeface="Calibri"/>
                <a:cs typeface="Calibri"/>
              </a:rPr>
              <a:t>quick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76" dirty="0">
                <a:latin typeface="Calibri"/>
                <a:cs typeface="Calibri"/>
              </a:rPr>
              <a:t>hands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on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introduction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-30" dirty="0">
                <a:latin typeface="Calibri"/>
                <a:cs typeface="Calibri"/>
              </a:rPr>
              <a:t>to </a:t>
            </a:r>
            <a:r>
              <a:rPr sz="3578" spc="115" dirty="0">
                <a:latin typeface="Calibri"/>
                <a:cs typeface="Calibri"/>
              </a:rPr>
              <a:t>running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circuits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on</a:t>
            </a:r>
            <a:r>
              <a:rPr sz="3578" spc="103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and </a:t>
            </a:r>
            <a:r>
              <a:rPr sz="3578" spc="206" dirty="0">
                <a:latin typeface="Calibri"/>
                <a:cs typeface="Calibri"/>
              </a:rPr>
              <a:t>IBM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Quantum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platform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81407" cy="2232090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 dirty="0">
              <a:latin typeface="Calibri"/>
              <a:cs typeface="Calibri"/>
            </a:endParaRPr>
          </a:p>
          <a:p>
            <a:pPr marL="15403" marR="78552">
              <a:lnSpc>
                <a:spcPct val="100600"/>
              </a:lnSpc>
            </a:pPr>
            <a:r>
              <a:rPr sz="3578" u="sng" spc="121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/learning/en/courses/use-</a:t>
            </a:r>
            <a:r>
              <a:rPr sz="3578" u="sng" spc="24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a-</a:t>
            </a:r>
            <a:r>
              <a:rPr sz="3578" u="sng" spc="22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qc-</a:t>
            </a:r>
            <a:r>
              <a:rPr sz="3578" u="sng" spc="9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today/your-</a:t>
            </a:r>
            <a:r>
              <a:rPr sz="3578" u="sng" spc="11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first-</a:t>
            </a:r>
            <a:r>
              <a:rPr sz="3578" u="sng" spc="152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quantum-</a:t>
            </a:r>
            <a:endParaRPr sz="3578" dirty="0">
              <a:latin typeface="Calibri"/>
              <a:cs typeface="Calibri"/>
            </a:endParaRPr>
          </a:p>
          <a:p>
            <a:pPr marL="15403">
              <a:spcBef>
                <a:spcPts val="30"/>
              </a:spcBef>
            </a:pPr>
            <a:r>
              <a:rPr sz="3578" u="sng" spc="11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experiment</a:t>
            </a:r>
            <a:endParaRPr sz="3578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09330" y="2687812"/>
            <a:ext cx="16465361" cy="8008573"/>
            <a:chOff x="6354614" y="2216200"/>
            <a:chExt cx="13576300" cy="66033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9819" y="2216200"/>
              <a:ext cx="12520775" cy="60304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4614" y="2216200"/>
              <a:ext cx="13576109" cy="660337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179" y="10786494"/>
            <a:ext cx="1539865" cy="15257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17</a:t>
            </a:fld>
            <a:endParaRPr spc="10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3" y="2897218"/>
            <a:ext cx="6334312" cy="1109113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00"/>
              </a:lnSpc>
              <a:spcBef>
                <a:spcPts val="115"/>
              </a:spcBef>
            </a:pP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52" dirty="0">
                <a:latin typeface="Calibri"/>
                <a:cs typeface="Calibri"/>
              </a:rPr>
              <a:t>Computing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255" dirty="0">
                <a:latin typeface="Calibri"/>
                <a:cs typeface="Calibri"/>
              </a:rPr>
              <a:t>101: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How </a:t>
            </a:r>
            <a:r>
              <a:rPr sz="3578" dirty="0">
                <a:latin typeface="Calibri"/>
                <a:cs typeface="Calibri"/>
              </a:rPr>
              <a:t>to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Get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Started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586915" cy="167760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4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https://www.youtube.com/watch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24"/>
              </a:spcBef>
            </a:pPr>
            <a:r>
              <a:rPr sz="3578" u="sng" spc="206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?v=l5I9M3C2wzg</a:t>
            </a:r>
            <a:endParaRPr sz="3578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6102" y="2459255"/>
            <a:ext cx="13411629" cy="75423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179" y="10786494"/>
            <a:ext cx="1539865" cy="15257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2025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18</a:t>
            </a:fld>
            <a:endParaRPr spc="10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5915362" cy="1109113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00"/>
              </a:lnSpc>
              <a:spcBef>
                <a:spcPts val="115"/>
              </a:spcBef>
            </a:pP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Global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218" dirty="0">
                <a:latin typeface="Calibri"/>
                <a:cs typeface="Calibri"/>
              </a:rPr>
              <a:t>Summer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School </a:t>
            </a:r>
            <a:r>
              <a:rPr sz="3578" spc="278" dirty="0">
                <a:latin typeface="Calibri"/>
                <a:cs typeface="Calibri"/>
              </a:rPr>
              <a:t>2026: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194" dirty="0">
                <a:latin typeface="Calibri"/>
                <a:cs typeface="Calibri"/>
              </a:rPr>
              <a:t>Lab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267" dirty="0">
                <a:latin typeface="Calibri"/>
                <a:cs typeface="Calibri"/>
              </a:rPr>
              <a:t>0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2"/>
            <a:ext cx="5241499" cy="2777454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97" dirty="0">
                <a:latin typeface="Calibri"/>
                <a:cs typeface="Calibri"/>
              </a:rPr>
              <a:t>Notebook: </a:t>
            </a:r>
            <a:r>
              <a:rPr sz="3578" u="sng" spc="91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https://github.com/qiskit-</a:t>
            </a:r>
            <a:r>
              <a:rPr sz="3578" u="sng" spc="152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community/qgss-</a:t>
            </a:r>
            <a:r>
              <a:rPr sz="3578" u="sng" spc="138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2026/blob/main/lab-</a:t>
            </a:r>
            <a:r>
              <a:rPr sz="3578" u="sng" spc="19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0/QGSS2026_Lab0.ipynb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48099" y="2620261"/>
            <a:ext cx="17194672" cy="8418280"/>
            <a:chOff x="5891858" y="2160502"/>
            <a:chExt cx="14177644" cy="6941184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60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9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9" name="object 9"/>
            <p:cNvSpPr/>
            <p:nvPr/>
          </p:nvSpPr>
          <p:spPr>
            <a:xfrm>
              <a:off x="17541139" y="6384635"/>
              <a:ext cx="2096135" cy="572770"/>
            </a:xfrm>
            <a:custGeom>
              <a:avLst/>
              <a:gdLst/>
              <a:ahLst/>
              <a:cxnLst/>
              <a:rect l="l" t="t" r="r" b="b"/>
              <a:pathLst>
                <a:path w="2096134" h="572770">
                  <a:moveTo>
                    <a:pt x="2095588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0" y="505460"/>
                  </a:lnTo>
                  <a:lnTo>
                    <a:pt x="0" y="572770"/>
                  </a:lnTo>
                  <a:lnTo>
                    <a:pt x="2095588" y="572770"/>
                  </a:lnTo>
                  <a:lnTo>
                    <a:pt x="2095588" y="505612"/>
                  </a:lnTo>
                  <a:lnTo>
                    <a:pt x="2095588" y="505460"/>
                  </a:lnTo>
                  <a:lnTo>
                    <a:pt x="2095588" y="67665"/>
                  </a:lnTo>
                  <a:lnTo>
                    <a:pt x="2028063" y="67665"/>
                  </a:lnTo>
                  <a:lnTo>
                    <a:pt x="2028063" y="505460"/>
                  </a:lnTo>
                  <a:lnTo>
                    <a:pt x="67525" y="505460"/>
                  </a:lnTo>
                  <a:lnTo>
                    <a:pt x="67525" y="67310"/>
                  </a:lnTo>
                  <a:lnTo>
                    <a:pt x="2095588" y="67310"/>
                  </a:lnTo>
                  <a:lnTo>
                    <a:pt x="2095588" y="0"/>
                  </a:lnTo>
                  <a:close/>
                </a:path>
              </a:pathLst>
            </a:custGeom>
            <a:solidFill>
              <a:srgbClr val="F94D55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2328" y="2170971"/>
              <a:ext cx="14156542" cy="691997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897093" y="2165736"/>
              <a:ext cx="14167485" cy="6931025"/>
            </a:xfrm>
            <a:custGeom>
              <a:avLst/>
              <a:gdLst/>
              <a:ahLst/>
              <a:cxnLst/>
              <a:rect l="l" t="t" r="r" b="b"/>
              <a:pathLst>
                <a:path w="14167485" h="6931025">
                  <a:moveTo>
                    <a:pt x="0" y="6930440"/>
                  </a:moveTo>
                  <a:lnTo>
                    <a:pt x="14167012" y="6930440"/>
                  </a:lnTo>
                  <a:lnTo>
                    <a:pt x="14167012" y="0"/>
                  </a:lnTo>
                  <a:lnTo>
                    <a:pt x="0" y="0"/>
                  </a:lnTo>
                  <a:lnTo>
                    <a:pt x="0" y="6930440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19</a:t>
            </a:fld>
            <a:endParaRPr spc="109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6124067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52" dirty="0">
                <a:latin typeface="Calibri"/>
                <a:cs typeface="Calibri"/>
              </a:rPr>
              <a:t>Programming QuantumComputers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-631" dirty="0">
                <a:latin typeface="Calibri"/>
                <a:cs typeface="Calibri"/>
              </a:rPr>
              <a:t>|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76" dirty="0">
                <a:latin typeface="Calibri"/>
                <a:cs typeface="Calibri"/>
              </a:rPr>
              <a:t>Ibrahim </a:t>
            </a:r>
            <a:r>
              <a:rPr sz="3578" spc="194" dirty="0">
                <a:latin typeface="Calibri"/>
                <a:cs typeface="Calibri"/>
              </a:rPr>
              <a:t>Shehzad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-631" dirty="0">
                <a:latin typeface="Calibri"/>
                <a:cs typeface="Calibri"/>
              </a:rPr>
              <a:t>|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285" dirty="0">
                <a:latin typeface="Calibri"/>
                <a:cs typeface="Calibri"/>
              </a:rPr>
              <a:t>QGSS26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621570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u="sng" spc="7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https://www.youtube.com/watc</a:t>
            </a:r>
            <a:r>
              <a:rPr sz="3578" spc="79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200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h?v=47loAu08F2w&amp;list=PLcYB0</a:t>
            </a:r>
            <a:r>
              <a:rPr sz="3578" spc="200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22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kKPI4a8&amp;index=5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12716" y="2587247"/>
            <a:ext cx="15300156" cy="8566917"/>
            <a:chOff x="6852128" y="2133281"/>
            <a:chExt cx="12615545" cy="7063740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1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2128" y="2133281"/>
              <a:ext cx="12566370" cy="7063195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20</a:t>
            </a:fld>
            <a:endParaRPr spc="109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742" y="3135"/>
            <a:ext cx="9240780" cy="5068375"/>
          </a:xfrm>
          <a:prstGeom prst="rect">
            <a:avLst/>
          </a:prstGeom>
        </p:spPr>
        <p:txBody>
          <a:bodyPr vert="horz" wrap="square" lIns="0" tIns="294958" rIns="0" bIns="0" rtlCol="0">
            <a:spAutoFit/>
          </a:bodyPr>
          <a:lstStyle/>
          <a:p>
            <a:pPr marL="15403" marR="6161">
              <a:lnSpc>
                <a:spcPts val="18579"/>
              </a:lnSpc>
              <a:spcBef>
                <a:spcPts val="2321"/>
              </a:spcBef>
            </a:pPr>
            <a:r>
              <a:rPr sz="17222" spc="-12" dirty="0"/>
              <a:t>Example workflows</a:t>
            </a:r>
            <a:endParaRPr sz="17222"/>
          </a:p>
        </p:txBody>
      </p:sp>
      <p:sp>
        <p:nvSpPr>
          <p:cNvPr id="4" name="object 4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21</a:t>
            </a:fld>
            <a:endParaRPr spc="109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0CB184-D6F5-6DE9-2A7E-54D046526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133" y="11025389"/>
            <a:ext cx="18923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6261150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Approximate </a:t>
            </a:r>
            <a:r>
              <a:rPr sz="3578" spc="103" dirty="0">
                <a:latin typeface="Calibri"/>
                <a:cs typeface="Calibri"/>
              </a:rPr>
              <a:t>optimization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Algorithm</a:t>
            </a:r>
            <a:r>
              <a:rPr sz="3578" spc="109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(QAOA) </a:t>
            </a:r>
            <a:r>
              <a:rPr sz="3578" spc="79" dirty="0">
                <a:latin typeface="Calibri"/>
                <a:cs typeface="Calibri"/>
              </a:rPr>
              <a:t>Workflow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81407" cy="277739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>
              <a:latin typeface="Calibri"/>
              <a:cs typeface="Calibri"/>
            </a:endParaRPr>
          </a:p>
          <a:p>
            <a:pPr marL="15403" marR="663080">
              <a:lnSpc>
                <a:spcPts val="4318"/>
              </a:lnSpc>
              <a:spcBef>
                <a:spcPts val="138"/>
              </a:spcBef>
            </a:pPr>
            <a:r>
              <a:rPr sz="3578" u="sng" spc="91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/docs/en/tutorials/quantum-</a:t>
            </a:r>
            <a:r>
              <a:rPr sz="3578" u="sng" spc="146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approximate-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optimization-algorithm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21849" y="2669511"/>
            <a:ext cx="15350214" cy="8013194"/>
            <a:chOff x="6859659" y="2201110"/>
            <a:chExt cx="12656820" cy="66071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 descr="A person in a purple suit  AI-generated content may be incorrect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46352"/>
              <a:ext cx="12528313" cy="6475223"/>
            </a:xfrm>
            <a:prstGeom prst="rect">
              <a:avLst/>
            </a:prstGeom>
          </p:spPr>
        </p:pic>
        <p:pic>
          <p:nvPicPr>
            <p:cNvPr id="11" name="object 11" descr="A screenshot of a computer  AI-generated content may be incorrect.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2280" y="2216200"/>
              <a:ext cx="12633847" cy="653552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22</a:t>
            </a:fld>
            <a:endParaRPr spc="109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6234966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Approximate </a:t>
            </a:r>
            <a:r>
              <a:rPr sz="3578" spc="103" dirty="0">
                <a:latin typeface="Calibri"/>
                <a:cs typeface="Calibri"/>
              </a:rPr>
              <a:t>optimization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Algorithm</a:t>
            </a:r>
            <a:r>
              <a:rPr sz="3578" spc="109" dirty="0">
                <a:latin typeface="Calibri"/>
                <a:cs typeface="Calibri"/>
              </a:rPr>
              <a:t> </a:t>
            </a:r>
            <a:r>
              <a:rPr sz="3578" spc="79" dirty="0">
                <a:latin typeface="Calibri"/>
                <a:cs typeface="Calibri"/>
              </a:rPr>
              <a:t>(QAOA) Workflow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walkthrough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81407" cy="277739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>
              <a:latin typeface="Calibri"/>
              <a:cs typeface="Calibri"/>
            </a:endParaRPr>
          </a:p>
          <a:p>
            <a:pPr marL="15403" marR="66231">
              <a:lnSpc>
                <a:spcPts val="4318"/>
              </a:lnSpc>
              <a:spcBef>
                <a:spcPts val="138"/>
              </a:spcBef>
            </a:pP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/learning/en/courses/quantum-</a:t>
            </a:r>
            <a:r>
              <a:rPr sz="3578" u="sng" spc="158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computing-</a:t>
            </a:r>
            <a:r>
              <a:rPr sz="3578" u="sng" spc="170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in-</a:t>
            </a:r>
            <a:r>
              <a:rPr sz="3578" u="sng" spc="8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practice/utility-</a:t>
            </a:r>
            <a:r>
              <a:rPr sz="3578" u="sng" spc="22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scale-</a:t>
            </a:r>
            <a:r>
              <a:rPr sz="3578" u="sng" spc="10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qaoa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21850" y="2669511"/>
            <a:ext cx="15290914" cy="8013194"/>
            <a:chOff x="6859659" y="2201110"/>
            <a:chExt cx="12607925" cy="66071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46352"/>
              <a:ext cx="12528313" cy="6475223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23</a:t>
            </a:fld>
            <a:endParaRPr spc="10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742" y="3135"/>
            <a:ext cx="14245849" cy="4770025"/>
          </a:xfrm>
          <a:prstGeom prst="rect">
            <a:avLst/>
          </a:prstGeom>
        </p:spPr>
        <p:txBody>
          <a:bodyPr vert="horz" wrap="square" lIns="0" tIns="294958" rIns="0" bIns="0" rtlCol="0">
            <a:spAutoFit/>
          </a:bodyPr>
          <a:lstStyle/>
          <a:p>
            <a:pPr marL="15403" marR="6161">
              <a:lnSpc>
                <a:spcPts val="18579"/>
              </a:lnSpc>
              <a:spcBef>
                <a:spcPts val="2321"/>
              </a:spcBef>
            </a:pPr>
            <a:r>
              <a:rPr sz="17222" dirty="0"/>
              <a:t>Error</a:t>
            </a:r>
            <a:r>
              <a:rPr sz="17222" spc="-334" dirty="0"/>
              <a:t> </a:t>
            </a:r>
            <a:r>
              <a:rPr sz="17222" spc="-12" dirty="0"/>
              <a:t>Mitigation </a:t>
            </a:r>
            <a:r>
              <a:rPr sz="8800" spc="-12" dirty="0"/>
              <a:t>(optional</a:t>
            </a:r>
            <a:r>
              <a:rPr lang="en-US" sz="8800" spc="-12" dirty="0"/>
              <a:t> – at Beginner stage</a:t>
            </a:r>
            <a:r>
              <a:rPr sz="8800" spc="-12" dirty="0"/>
              <a:t>)</a:t>
            </a:r>
            <a:endParaRPr sz="8800" dirty="0"/>
          </a:p>
        </p:txBody>
      </p:sp>
      <p:sp>
        <p:nvSpPr>
          <p:cNvPr id="4" name="object 4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24</a:t>
            </a:fld>
            <a:endParaRPr spc="109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8CE2F-B956-1037-B5B3-E46D26E2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133" y="11025389"/>
            <a:ext cx="18923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5407077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21" dirty="0">
                <a:latin typeface="Calibri"/>
                <a:cs typeface="Calibri"/>
              </a:rPr>
              <a:t>Notebook: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64" dirty="0">
                <a:latin typeface="Calibri"/>
                <a:cs typeface="Calibri"/>
              </a:rPr>
              <a:t>Combine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55" dirty="0">
                <a:latin typeface="Calibri"/>
                <a:cs typeface="Calibri"/>
              </a:rPr>
              <a:t>error </a:t>
            </a:r>
            <a:r>
              <a:rPr sz="3578" spc="97" dirty="0">
                <a:latin typeface="Calibri"/>
                <a:cs typeface="Calibri"/>
              </a:rPr>
              <a:t>mitigation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options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61" dirty="0">
                <a:latin typeface="Calibri"/>
                <a:cs typeface="Calibri"/>
              </a:rPr>
              <a:t>with </a:t>
            </a:r>
            <a:r>
              <a:rPr sz="3578" spc="67" dirty="0">
                <a:latin typeface="Calibri"/>
                <a:cs typeface="Calibri"/>
              </a:rPr>
              <a:t>the </a:t>
            </a:r>
            <a:r>
              <a:rPr sz="3578" spc="127" dirty="0">
                <a:latin typeface="Calibri"/>
                <a:cs typeface="Calibri"/>
              </a:rPr>
              <a:t>Estimator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Primitive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81407" cy="222595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>
              <a:latin typeface="Calibri"/>
              <a:cs typeface="Calibri"/>
            </a:endParaRPr>
          </a:p>
          <a:p>
            <a:pPr marL="15403" marR="734702">
              <a:lnSpc>
                <a:spcPts val="4330"/>
              </a:lnSpc>
              <a:spcBef>
                <a:spcPts val="109"/>
              </a:spcBef>
            </a:pPr>
            <a:r>
              <a:rPr sz="3578" u="sng" spc="9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/docs/en/tutorials/combine-</a:t>
            </a:r>
            <a:r>
              <a:rPr sz="3578" u="sng" spc="11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error-mitigation-</a:t>
            </a:r>
            <a:r>
              <a:rPr sz="3578" u="sng" spc="13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techniques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21850" y="2669511"/>
            <a:ext cx="15290914" cy="8013194"/>
            <a:chOff x="6859659" y="2201110"/>
            <a:chExt cx="12607925" cy="66071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38814"/>
              <a:ext cx="12528313" cy="6482761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25</a:t>
            </a:fld>
            <a:endParaRPr spc="10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3" y="2897217"/>
            <a:ext cx="5858372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09" dirty="0">
                <a:latin typeface="Calibri"/>
                <a:cs typeface="Calibri"/>
              </a:rPr>
              <a:t>Video: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Execution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on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Noisy </a:t>
            </a: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Hardware: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Fighting </a:t>
            </a:r>
            <a:r>
              <a:rPr sz="3578" spc="103" dirty="0">
                <a:latin typeface="Calibri"/>
                <a:cs typeface="Calibri"/>
              </a:rPr>
              <a:t>errors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before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Fault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Tolerance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586915" cy="167760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4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https://www.youtube.com/watch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24"/>
              </a:spcBef>
            </a:pPr>
            <a:r>
              <a:rPr sz="3578" u="sng" spc="170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?v=l5V8J_yMEis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92470" y="2349549"/>
            <a:ext cx="15498079" cy="8640079"/>
            <a:chOff x="6752981" y="1937290"/>
            <a:chExt cx="12778740" cy="712406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38814"/>
              <a:ext cx="12528313" cy="6482761"/>
            </a:xfrm>
            <a:prstGeom prst="rect">
              <a:avLst/>
            </a:prstGeom>
          </p:spPr>
        </p:pic>
        <p:pic>
          <p:nvPicPr>
            <p:cNvPr id="11" name="object 11" descr="A screenshot of a computer  AI-generated content may be incorrect.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2981" y="1937290"/>
              <a:ext cx="12778222" cy="712349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26</a:t>
            </a:fld>
            <a:endParaRPr spc="109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7"/>
            <a:ext cx="6513752" cy="166821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97" dirty="0">
                <a:latin typeface="Calibri"/>
                <a:cs typeface="Calibri"/>
              </a:rPr>
              <a:t>Video:</a:t>
            </a:r>
            <a:endParaRPr sz="3578">
              <a:latin typeface="Calibri"/>
              <a:cs typeface="Calibri"/>
            </a:endParaRPr>
          </a:p>
          <a:p>
            <a:pPr marL="15403" marR="6161">
              <a:lnSpc>
                <a:spcPts val="4330"/>
              </a:lnSpc>
              <a:spcBef>
                <a:spcPts val="109"/>
              </a:spcBef>
            </a:pPr>
            <a:r>
              <a:rPr sz="3578" spc="127" dirty="0">
                <a:latin typeface="Calibri"/>
                <a:cs typeface="Calibri"/>
              </a:rPr>
              <a:t>Andrew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82" dirty="0">
                <a:latin typeface="Calibri"/>
                <a:cs typeface="Calibri"/>
              </a:rPr>
              <a:t>Eddins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-631" dirty="0">
                <a:latin typeface="Calibri"/>
                <a:cs typeface="Calibri"/>
              </a:rPr>
              <a:t>|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Error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-12" dirty="0">
                <a:latin typeface="Calibri"/>
                <a:cs typeface="Calibri"/>
              </a:rPr>
              <a:t>Mitigation </a:t>
            </a:r>
            <a:r>
              <a:rPr sz="3578" spc="194" dirty="0">
                <a:latin typeface="Calibri"/>
                <a:cs typeface="Calibri"/>
              </a:rPr>
              <a:t>Landscape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-631" dirty="0">
                <a:latin typeface="Calibri"/>
                <a:cs typeface="Calibri"/>
              </a:rPr>
              <a:t>|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88" dirty="0">
                <a:latin typeface="Calibri"/>
                <a:cs typeface="Calibri"/>
              </a:rPr>
              <a:t>QDC</a:t>
            </a:r>
            <a:r>
              <a:rPr sz="3578" spc="103" dirty="0">
                <a:latin typeface="Calibri"/>
                <a:cs typeface="Calibri"/>
              </a:rPr>
              <a:t> </a:t>
            </a:r>
            <a:r>
              <a:rPr sz="3578" spc="297" dirty="0">
                <a:latin typeface="Calibri"/>
                <a:cs typeface="Calibri"/>
              </a:rPr>
              <a:t>2025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577673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6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http://youtube.com/watch?v=ix5</a:t>
            </a:r>
            <a:r>
              <a:rPr sz="3578" spc="67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218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2wx4_zek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75583" y="2102710"/>
            <a:ext cx="15853108" cy="8923486"/>
            <a:chOff x="6739056" y="1733762"/>
            <a:chExt cx="13071475" cy="735774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1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38814"/>
              <a:ext cx="12528313" cy="6482761"/>
            </a:xfrm>
            <a:prstGeom prst="rect">
              <a:avLst/>
            </a:prstGeom>
          </p:spPr>
        </p:pic>
        <p:pic>
          <p:nvPicPr>
            <p:cNvPr id="11" name="object 11" descr="A screenshot of a computer  AI-generated content may be incorrect.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2981" y="1937290"/>
              <a:ext cx="12778222" cy="71234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9056" y="1733762"/>
              <a:ext cx="13071056" cy="735718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27</a:t>
            </a:fld>
            <a:endParaRPr spc="10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71771" y="5439056"/>
            <a:ext cx="18788071" cy="1398555"/>
            <a:chOff x="2283414" y="4484703"/>
            <a:chExt cx="15491460" cy="1153160"/>
          </a:xfrm>
        </p:grpSpPr>
        <p:sp>
          <p:nvSpPr>
            <p:cNvPr id="3" name="object 3"/>
            <p:cNvSpPr/>
            <p:nvPr/>
          </p:nvSpPr>
          <p:spPr>
            <a:xfrm>
              <a:off x="2299119" y="5016602"/>
              <a:ext cx="15231110" cy="188595"/>
            </a:xfrm>
            <a:custGeom>
              <a:avLst/>
              <a:gdLst/>
              <a:ahLst/>
              <a:cxnLst/>
              <a:rect l="l" t="t" r="r" b="b"/>
              <a:pathLst>
                <a:path w="15231110" h="188595">
                  <a:moveTo>
                    <a:pt x="15042059" y="0"/>
                  </a:moveTo>
                  <a:lnTo>
                    <a:pt x="15042059" y="188452"/>
                  </a:lnTo>
                  <a:lnTo>
                    <a:pt x="15167694" y="125634"/>
                  </a:lnTo>
                  <a:lnTo>
                    <a:pt x="15073468" y="125634"/>
                  </a:lnTo>
                  <a:lnTo>
                    <a:pt x="15073468" y="62817"/>
                  </a:lnTo>
                  <a:lnTo>
                    <a:pt x="15167694" y="62817"/>
                  </a:lnTo>
                  <a:lnTo>
                    <a:pt x="15042059" y="0"/>
                  </a:lnTo>
                  <a:close/>
                </a:path>
                <a:path w="15231110" h="188595">
                  <a:moveTo>
                    <a:pt x="15042059" y="62817"/>
                  </a:moveTo>
                  <a:lnTo>
                    <a:pt x="0" y="62817"/>
                  </a:lnTo>
                  <a:lnTo>
                    <a:pt x="0" y="125634"/>
                  </a:lnTo>
                  <a:lnTo>
                    <a:pt x="15042059" y="125634"/>
                  </a:lnTo>
                  <a:lnTo>
                    <a:pt x="15042059" y="62817"/>
                  </a:lnTo>
                  <a:close/>
                </a:path>
                <a:path w="15231110" h="188595">
                  <a:moveTo>
                    <a:pt x="15167694" y="62817"/>
                  </a:moveTo>
                  <a:lnTo>
                    <a:pt x="15073468" y="62817"/>
                  </a:lnTo>
                  <a:lnTo>
                    <a:pt x="15073468" y="125634"/>
                  </a:lnTo>
                  <a:lnTo>
                    <a:pt x="15167694" y="125634"/>
                  </a:lnTo>
                  <a:lnTo>
                    <a:pt x="15230511" y="94226"/>
                  </a:lnTo>
                  <a:lnTo>
                    <a:pt x="15167694" y="62817"/>
                  </a:lnTo>
                  <a:close/>
                </a:path>
              </a:pathLst>
            </a:custGeom>
            <a:solidFill>
              <a:srgbClr val="0E61FD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" name="object 4"/>
            <p:cNvSpPr/>
            <p:nvPr/>
          </p:nvSpPr>
          <p:spPr>
            <a:xfrm>
              <a:off x="2299119" y="4764076"/>
              <a:ext cx="0" cy="688975"/>
            </a:xfrm>
            <a:custGeom>
              <a:avLst/>
              <a:gdLst/>
              <a:ahLst/>
              <a:cxnLst/>
              <a:rect l="l" t="t" r="r" b="b"/>
              <a:pathLst>
                <a:path h="688975">
                  <a:moveTo>
                    <a:pt x="0" y="0"/>
                  </a:moveTo>
                  <a:lnTo>
                    <a:pt x="0" y="688479"/>
                  </a:lnTo>
                </a:path>
              </a:pathLst>
            </a:custGeom>
            <a:ln w="31408">
              <a:solidFill>
                <a:srgbClr val="0E61FD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5" name="object 5"/>
            <p:cNvSpPr/>
            <p:nvPr/>
          </p:nvSpPr>
          <p:spPr>
            <a:xfrm>
              <a:off x="9806747" y="4764076"/>
              <a:ext cx="0" cy="688975"/>
            </a:xfrm>
            <a:custGeom>
              <a:avLst/>
              <a:gdLst/>
              <a:ahLst/>
              <a:cxnLst/>
              <a:rect l="l" t="t" r="r" b="b"/>
              <a:pathLst>
                <a:path h="688975">
                  <a:moveTo>
                    <a:pt x="0" y="0"/>
                  </a:moveTo>
                  <a:lnTo>
                    <a:pt x="0" y="688479"/>
                  </a:lnTo>
                </a:path>
              </a:pathLst>
            </a:custGeom>
            <a:ln w="15704">
              <a:solidFill>
                <a:srgbClr val="0E61FD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6" name="object 6"/>
            <p:cNvSpPr/>
            <p:nvPr/>
          </p:nvSpPr>
          <p:spPr>
            <a:xfrm>
              <a:off x="17526071" y="4764076"/>
              <a:ext cx="0" cy="688975"/>
            </a:xfrm>
            <a:custGeom>
              <a:avLst/>
              <a:gdLst/>
              <a:ahLst/>
              <a:cxnLst/>
              <a:rect l="l" t="t" r="r" b="b"/>
              <a:pathLst>
                <a:path h="688975">
                  <a:moveTo>
                    <a:pt x="0" y="0"/>
                  </a:moveTo>
                  <a:lnTo>
                    <a:pt x="0" y="688479"/>
                  </a:lnTo>
                </a:path>
              </a:pathLst>
            </a:custGeom>
            <a:ln w="31408">
              <a:solidFill>
                <a:srgbClr val="0E61FD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7" name="object 7"/>
            <p:cNvSpPr/>
            <p:nvPr/>
          </p:nvSpPr>
          <p:spPr>
            <a:xfrm>
              <a:off x="9814598" y="4484715"/>
              <a:ext cx="7960359" cy="1153160"/>
            </a:xfrm>
            <a:custGeom>
              <a:avLst/>
              <a:gdLst/>
              <a:ahLst/>
              <a:cxnLst/>
              <a:rect l="l" t="t" r="r" b="b"/>
              <a:pathLst>
                <a:path w="7960359" h="1153160">
                  <a:moveTo>
                    <a:pt x="7960220" y="0"/>
                  </a:moveTo>
                  <a:lnTo>
                    <a:pt x="7895209" y="0"/>
                  </a:lnTo>
                  <a:lnTo>
                    <a:pt x="7895209" y="66040"/>
                  </a:lnTo>
                  <a:lnTo>
                    <a:pt x="7895209" y="1088390"/>
                  </a:lnTo>
                  <a:lnTo>
                    <a:pt x="65011" y="1088390"/>
                  </a:lnTo>
                  <a:lnTo>
                    <a:pt x="65011" y="66040"/>
                  </a:lnTo>
                  <a:lnTo>
                    <a:pt x="7895209" y="66040"/>
                  </a:lnTo>
                  <a:lnTo>
                    <a:pt x="7895209" y="0"/>
                  </a:lnTo>
                  <a:lnTo>
                    <a:pt x="0" y="0"/>
                  </a:lnTo>
                  <a:lnTo>
                    <a:pt x="0" y="66040"/>
                  </a:lnTo>
                  <a:lnTo>
                    <a:pt x="0" y="1088390"/>
                  </a:lnTo>
                  <a:lnTo>
                    <a:pt x="0" y="1153160"/>
                  </a:lnTo>
                  <a:lnTo>
                    <a:pt x="7960220" y="1153160"/>
                  </a:lnTo>
                  <a:lnTo>
                    <a:pt x="7960220" y="1088771"/>
                  </a:lnTo>
                  <a:lnTo>
                    <a:pt x="7960220" y="1088390"/>
                  </a:lnTo>
                  <a:lnTo>
                    <a:pt x="7960220" y="66040"/>
                  </a:lnTo>
                  <a:lnTo>
                    <a:pt x="7960220" y="65582"/>
                  </a:lnTo>
                  <a:lnTo>
                    <a:pt x="7960220" y="0"/>
                  </a:lnTo>
                  <a:close/>
                </a:path>
              </a:pathLst>
            </a:custGeom>
            <a:solidFill>
              <a:srgbClr val="F94D55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48182" y="374919"/>
            <a:ext cx="10275063" cy="1954767"/>
          </a:xfrm>
          <a:prstGeom prst="rect">
            <a:avLst/>
          </a:prstGeom>
        </p:spPr>
        <p:txBody>
          <a:bodyPr vert="horz" wrap="square" lIns="0" tIns="132462" rIns="0" bIns="0" rtlCol="0">
            <a:spAutoFit/>
          </a:bodyPr>
          <a:lstStyle/>
          <a:p>
            <a:pPr marL="15403" marR="6161">
              <a:lnSpc>
                <a:spcPts val="7131"/>
              </a:lnSpc>
              <a:spcBef>
                <a:spcPts val="1043"/>
              </a:spcBef>
            </a:pPr>
            <a:r>
              <a:rPr sz="6610" spc="138" dirty="0"/>
              <a:t>Where</a:t>
            </a:r>
            <a:r>
              <a:rPr sz="6610" spc="103" dirty="0"/>
              <a:t> </a:t>
            </a:r>
            <a:r>
              <a:rPr sz="6610" spc="200" dirty="0"/>
              <a:t>are</a:t>
            </a:r>
            <a:r>
              <a:rPr sz="6610" spc="24" dirty="0"/>
              <a:t> </a:t>
            </a:r>
            <a:r>
              <a:rPr sz="6610" spc="138" dirty="0"/>
              <a:t>your</a:t>
            </a:r>
            <a:r>
              <a:rPr sz="6610" spc="42" dirty="0"/>
              <a:t> </a:t>
            </a:r>
            <a:r>
              <a:rPr sz="6610" spc="194" dirty="0"/>
              <a:t>participants </a:t>
            </a:r>
            <a:r>
              <a:rPr sz="6610" spc="164" dirty="0"/>
              <a:t>on</a:t>
            </a:r>
            <a:r>
              <a:rPr sz="6610" spc="109" dirty="0"/>
              <a:t> their</a:t>
            </a:r>
            <a:r>
              <a:rPr sz="6610" spc="18" dirty="0"/>
              <a:t> </a:t>
            </a:r>
            <a:r>
              <a:rPr sz="6610" spc="224" dirty="0"/>
              <a:t>Quantum</a:t>
            </a:r>
            <a:r>
              <a:rPr sz="6610" spc="55" dirty="0"/>
              <a:t> </a:t>
            </a:r>
            <a:r>
              <a:rPr sz="6610" spc="121" dirty="0"/>
              <a:t>journey?</a:t>
            </a:r>
            <a:endParaRPr sz="6610"/>
          </a:p>
        </p:txBody>
      </p:sp>
      <p:sp>
        <p:nvSpPr>
          <p:cNvPr id="9" name="object 9"/>
          <p:cNvSpPr txBox="1"/>
          <p:nvPr/>
        </p:nvSpPr>
        <p:spPr>
          <a:xfrm>
            <a:off x="1513536" y="7068049"/>
            <a:ext cx="2546817" cy="1416834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 marR="6161" indent="418950">
              <a:lnSpc>
                <a:spcPct val="110300"/>
              </a:lnSpc>
              <a:spcBef>
                <a:spcPts val="121"/>
              </a:spcBef>
            </a:pPr>
            <a:r>
              <a:rPr sz="4245" spc="146" dirty="0">
                <a:latin typeface="Calibri"/>
                <a:cs typeface="Calibri"/>
              </a:rPr>
              <a:t>What’s </a:t>
            </a:r>
            <a:r>
              <a:rPr sz="4245" spc="152" dirty="0">
                <a:latin typeface="Calibri"/>
                <a:cs typeface="Calibri"/>
              </a:rPr>
              <a:t>Quantum?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0856" y="4535199"/>
            <a:ext cx="355030" cy="66958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4245" b="1" spc="321" dirty="0">
                <a:latin typeface="Calibri"/>
                <a:cs typeface="Calibri"/>
              </a:rPr>
              <a:t>0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69521" y="7068050"/>
            <a:ext cx="4081684" cy="2866014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981143" marR="970361" algn="ctr">
              <a:lnSpc>
                <a:spcPct val="110300"/>
              </a:lnSpc>
              <a:spcBef>
                <a:spcPts val="121"/>
              </a:spcBef>
            </a:pPr>
            <a:r>
              <a:rPr sz="4245" spc="194" dirty="0">
                <a:latin typeface="Calibri"/>
                <a:cs typeface="Calibri"/>
              </a:rPr>
              <a:t>Reading, </a:t>
            </a:r>
            <a:r>
              <a:rPr sz="4245" spc="170" dirty="0">
                <a:latin typeface="Calibri"/>
                <a:cs typeface="Calibri"/>
              </a:rPr>
              <a:t>Videos,</a:t>
            </a:r>
            <a:endParaRPr sz="4245">
              <a:latin typeface="Calibri"/>
              <a:cs typeface="Calibri"/>
            </a:endParaRPr>
          </a:p>
          <a:p>
            <a:pPr marL="15403" marR="6161" indent="-3851" algn="ctr">
              <a:lnSpc>
                <a:spcPts val="5615"/>
              </a:lnSpc>
              <a:spcBef>
                <a:spcPts val="127"/>
              </a:spcBef>
            </a:pPr>
            <a:r>
              <a:rPr sz="4245" spc="230" dirty="0">
                <a:latin typeface="Calibri"/>
                <a:cs typeface="Calibri"/>
              </a:rPr>
              <a:t>Science,</a:t>
            </a:r>
            <a:r>
              <a:rPr sz="4245" spc="55" dirty="0">
                <a:latin typeface="Calibri"/>
                <a:cs typeface="Calibri"/>
              </a:rPr>
              <a:t> </a:t>
            </a:r>
            <a:r>
              <a:rPr sz="4245" spc="188" dirty="0">
                <a:latin typeface="Calibri"/>
                <a:cs typeface="Calibri"/>
              </a:rPr>
              <a:t>math</a:t>
            </a:r>
            <a:r>
              <a:rPr sz="4245" spc="91" dirty="0">
                <a:latin typeface="Calibri"/>
                <a:cs typeface="Calibri"/>
              </a:rPr>
              <a:t> </a:t>
            </a:r>
            <a:r>
              <a:rPr sz="4245" spc="61" dirty="0">
                <a:latin typeface="Calibri"/>
                <a:cs typeface="Calibri"/>
              </a:rPr>
              <a:t>or </a:t>
            </a:r>
            <a:r>
              <a:rPr sz="4245" spc="267" dirty="0">
                <a:latin typeface="Calibri"/>
                <a:cs typeface="Calibri"/>
              </a:rPr>
              <a:t>hands-</a:t>
            </a:r>
            <a:r>
              <a:rPr sz="4245" spc="152" dirty="0">
                <a:latin typeface="Calibri"/>
                <a:cs typeface="Calibri"/>
              </a:rPr>
              <a:t>on</a:t>
            </a:r>
            <a:r>
              <a:rPr sz="4245" spc="97" dirty="0">
                <a:latin typeface="Calibri"/>
                <a:cs typeface="Calibri"/>
              </a:rPr>
              <a:t> </a:t>
            </a:r>
            <a:r>
              <a:rPr sz="4245" spc="182" dirty="0">
                <a:latin typeface="Calibri"/>
                <a:cs typeface="Calibri"/>
              </a:rPr>
              <a:t>coding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34532" y="4535199"/>
            <a:ext cx="355030" cy="66958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4245" b="1" spc="321" dirty="0">
                <a:latin typeface="Calibri"/>
                <a:cs typeface="Calibri"/>
              </a:rPr>
              <a:t>5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00902" y="7068049"/>
            <a:ext cx="3330038" cy="2854023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4632" marR="6161" indent="-2310" algn="ctr">
              <a:lnSpc>
                <a:spcPct val="110300"/>
              </a:lnSpc>
              <a:spcBef>
                <a:spcPts val="121"/>
              </a:spcBef>
            </a:pPr>
            <a:r>
              <a:rPr sz="4245" spc="224" dirty="0">
                <a:latin typeface="Calibri"/>
                <a:cs typeface="Calibri"/>
              </a:rPr>
              <a:t>Papers</a:t>
            </a:r>
            <a:r>
              <a:rPr sz="4245" spc="1061" dirty="0">
                <a:latin typeface="Calibri"/>
                <a:cs typeface="Calibri"/>
              </a:rPr>
              <a:t> </a:t>
            </a:r>
            <a:r>
              <a:rPr sz="4245" spc="170" dirty="0">
                <a:latin typeface="Calibri"/>
                <a:cs typeface="Calibri"/>
              </a:rPr>
              <a:t>Active </a:t>
            </a:r>
            <a:r>
              <a:rPr sz="4245" spc="243" dirty="0">
                <a:latin typeface="Calibri"/>
                <a:cs typeface="Calibri"/>
              </a:rPr>
              <a:t>Research</a:t>
            </a:r>
            <a:r>
              <a:rPr sz="4245" spc="30" dirty="0">
                <a:latin typeface="Calibri"/>
                <a:cs typeface="Calibri"/>
              </a:rPr>
              <a:t> </a:t>
            </a:r>
            <a:r>
              <a:rPr sz="4245" spc="194" dirty="0">
                <a:latin typeface="Calibri"/>
                <a:cs typeface="Calibri"/>
              </a:rPr>
              <a:t>and </a:t>
            </a:r>
            <a:r>
              <a:rPr sz="4245" spc="176" dirty="0">
                <a:latin typeface="Calibri"/>
                <a:cs typeface="Calibri"/>
              </a:rPr>
              <a:t>development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26521" y="4535199"/>
            <a:ext cx="690036" cy="66958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4245" b="1" spc="394" dirty="0">
                <a:latin typeface="Calibri"/>
                <a:cs typeface="Calibri"/>
              </a:rPr>
              <a:t>10</a:t>
            </a:r>
            <a:endParaRPr sz="4245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86354" y="4410319"/>
            <a:ext cx="6784068" cy="757472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4791" spc="194" dirty="0">
                <a:solidFill>
                  <a:srgbClr val="F94D55"/>
                </a:solidFill>
                <a:latin typeface="Calibri"/>
                <a:cs typeface="Calibri"/>
              </a:rPr>
              <a:t>Intermediate</a:t>
            </a:r>
            <a:r>
              <a:rPr sz="4791" spc="103" dirty="0">
                <a:solidFill>
                  <a:srgbClr val="F94D55"/>
                </a:solidFill>
                <a:latin typeface="Calibri"/>
                <a:cs typeface="Calibri"/>
              </a:rPr>
              <a:t> </a:t>
            </a:r>
            <a:r>
              <a:rPr sz="4791" spc="437" dirty="0">
                <a:solidFill>
                  <a:srgbClr val="F94D55"/>
                </a:solidFill>
                <a:latin typeface="Calibri"/>
                <a:cs typeface="Calibri"/>
              </a:rPr>
              <a:t>-</a:t>
            </a:r>
            <a:r>
              <a:rPr sz="4791" spc="67" dirty="0">
                <a:solidFill>
                  <a:srgbClr val="F94D55"/>
                </a:solidFill>
                <a:latin typeface="Calibri"/>
                <a:cs typeface="Calibri"/>
              </a:rPr>
              <a:t> </a:t>
            </a:r>
            <a:r>
              <a:rPr sz="4791" spc="200" dirty="0">
                <a:solidFill>
                  <a:srgbClr val="F94D55"/>
                </a:solidFill>
                <a:latin typeface="Calibri"/>
                <a:cs typeface="Calibri"/>
              </a:rPr>
              <a:t>Advanced</a:t>
            </a:r>
            <a:endParaRPr sz="4791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61543" y="563060"/>
            <a:ext cx="2851941" cy="283344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48428" y="12825352"/>
            <a:ext cx="4276526" cy="309529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1880" spc="109" dirty="0">
                <a:latin typeface="Calibri"/>
                <a:cs typeface="Calibri"/>
              </a:rPr>
              <a:t>IBM</a:t>
            </a:r>
            <a:r>
              <a:rPr sz="1880" spc="-79" dirty="0">
                <a:latin typeface="Calibri"/>
                <a:cs typeface="Calibri"/>
              </a:rPr>
              <a:t> </a:t>
            </a:r>
            <a:r>
              <a:rPr sz="1880" spc="67" dirty="0">
                <a:latin typeface="Calibri"/>
                <a:cs typeface="Calibri"/>
              </a:rPr>
              <a:t>Quantum</a:t>
            </a:r>
            <a:r>
              <a:rPr sz="1880" spc="-61" dirty="0">
                <a:latin typeface="Calibri"/>
                <a:cs typeface="Calibri"/>
              </a:rPr>
              <a:t> </a:t>
            </a:r>
            <a:r>
              <a:rPr sz="1880" dirty="0">
                <a:latin typeface="Calibri"/>
                <a:cs typeface="Calibri"/>
              </a:rPr>
              <a:t>/</a:t>
            </a:r>
            <a:r>
              <a:rPr sz="1880" spc="55" dirty="0">
                <a:latin typeface="Calibri"/>
                <a:cs typeface="Calibri"/>
              </a:rPr>
              <a:t> </a:t>
            </a:r>
            <a:r>
              <a:rPr sz="1880" spc="-182" dirty="0">
                <a:latin typeface="Calibri"/>
                <a:cs typeface="Calibri"/>
              </a:rPr>
              <a:t>©</a:t>
            </a:r>
            <a:r>
              <a:rPr sz="1880" spc="-30" dirty="0">
                <a:latin typeface="Calibri"/>
                <a:cs typeface="Calibri"/>
              </a:rPr>
              <a:t> </a:t>
            </a:r>
            <a:r>
              <a:rPr sz="1880" spc="158" dirty="0">
                <a:latin typeface="Calibri"/>
                <a:cs typeface="Calibri"/>
              </a:rPr>
              <a:t>202</a:t>
            </a:r>
            <a:r>
              <a:rPr lang="en-US" sz="1880" spc="158" dirty="0">
                <a:latin typeface="Calibri"/>
                <a:cs typeface="Calibri"/>
              </a:rPr>
              <a:t>6</a:t>
            </a:r>
            <a:r>
              <a:rPr sz="1880" spc="24" dirty="0">
                <a:latin typeface="Calibri"/>
                <a:cs typeface="Calibri"/>
              </a:rPr>
              <a:t> </a:t>
            </a:r>
            <a:r>
              <a:rPr sz="1880" spc="85" dirty="0">
                <a:latin typeface="Calibri"/>
                <a:cs typeface="Calibri"/>
              </a:rPr>
              <a:t>IBM</a:t>
            </a:r>
            <a:r>
              <a:rPr sz="1880" spc="6" dirty="0">
                <a:latin typeface="Calibri"/>
                <a:cs typeface="Calibri"/>
              </a:rPr>
              <a:t> </a:t>
            </a:r>
            <a:r>
              <a:rPr sz="1880" spc="-12" dirty="0">
                <a:latin typeface="Calibri"/>
                <a:cs typeface="Calibri"/>
              </a:rPr>
              <a:t>Corporation</a:t>
            </a:r>
            <a:endParaRPr sz="188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2604" y="11422714"/>
            <a:ext cx="183290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09" dirty="0">
                <a:latin typeface="Calibri"/>
                <a:cs typeface="Calibri"/>
              </a:rPr>
              <a:t>Optimize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85888" y="11422714"/>
            <a:ext cx="1641915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52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49968" y="11422714"/>
            <a:ext cx="270469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0" dirty="0">
                <a:latin typeface="Calibri"/>
                <a:cs typeface="Calibri"/>
              </a:rPr>
              <a:t>Post-</a:t>
            </a:r>
            <a:r>
              <a:rPr sz="3578" spc="194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316" y="11422714"/>
            <a:ext cx="905672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94743" y="10938655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5" h="310515">
                <a:moveTo>
                  <a:pt x="310007" y="77584"/>
                </a:moveTo>
                <a:lnTo>
                  <a:pt x="232511" y="77584"/>
                </a:lnTo>
                <a:lnTo>
                  <a:pt x="232511" y="99745"/>
                </a:lnTo>
                <a:lnTo>
                  <a:pt x="272249" y="99745"/>
                </a:lnTo>
                <a:lnTo>
                  <a:pt x="188214" y="183870"/>
                </a:lnTo>
                <a:lnTo>
                  <a:pt x="139687" y="135178"/>
                </a:lnTo>
                <a:lnTo>
                  <a:pt x="135775" y="133223"/>
                </a:lnTo>
                <a:lnTo>
                  <a:pt x="131394" y="132930"/>
                </a:lnTo>
                <a:lnTo>
                  <a:pt x="127254" y="134353"/>
                </a:lnTo>
                <a:lnTo>
                  <a:pt x="124993" y="136207"/>
                </a:lnTo>
                <a:lnTo>
                  <a:pt x="44284" y="217119"/>
                </a:lnTo>
                <a:lnTo>
                  <a:pt x="59893" y="232752"/>
                </a:lnTo>
                <a:lnTo>
                  <a:pt x="132867" y="159702"/>
                </a:lnTo>
                <a:lnTo>
                  <a:pt x="181394" y="208407"/>
                </a:lnTo>
                <a:lnTo>
                  <a:pt x="185305" y="210350"/>
                </a:lnTo>
                <a:lnTo>
                  <a:pt x="189687" y="210642"/>
                </a:lnTo>
                <a:lnTo>
                  <a:pt x="193827" y="209232"/>
                </a:lnTo>
                <a:lnTo>
                  <a:pt x="196075" y="207365"/>
                </a:lnTo>
                <a:lnTo>
                  <a:pt x="287870" y="115379"/>
                </a:lnTo>
                <a:lnTo>
                  <a:pt x="287870" y="155168"/>
                </a:lnTo>
                <a:lnTo>
                  <a:pt x="310007" y="155168"/>
                </a:lnTo>
                <a:lnTo>
                  <a:pt x="310007" y="77584"/>
                </a:lnTo>
                <a:close/>
              </a:path>
              <a:path w="310515" h="310515">
                <a:moveTo>
                  <a:pt x="310019" y="288163"/>
                </a:moveTo>
                <a:lnTo>
                  <a:pt x="22148" y="288163"/>
                </a:lnTo>
                <a:lnTo>
                  <a:pt x="22148" y="0"/>
                </a:lnTo>
                <a:lnTo>
                  <a:pt x="0" y="0"/>
                </a:lnTo>
                <a:lnTo>
                  <a:pt x="0" y="294043"/>
                </a:lnTo>
                <a:lnTo>
                  <a:pt x="2336" y="299681"/>
                </a:lnTo>
                <a:lnTo>
                  <a:pt x="10642" y="308000"/>
                </a:lnTo>
                <a:lnTo>
                  <a:pt x="16268" y="310337"/>
                </a:lnTo>
                <a:lnTo>
                  <a:pt x="310019" y="310337"/>
                </a:lnTo>
                <a:lnTo>
                  <a:pt x="310019" y="288163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grpSp>
        <p:nvGrpSpPr>
          <p:cNvPr id="7" name="object 7"/>
          <p:cNvGrpSpPr/>
          <p:nvPr/>
        </p:nvGrpSpPr>
        <p:grpSpPr>
          <a:xfrm>
            <a:off x="12796323" y="10965533"/>
            <a:ext cx="335776" cy="349639"/>
            <a:chOff x="10549028" y="9041488"/>
            <a:chExt cx="276860" cy="2882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8776" y="9152319"/>
              <a:ext cx="177048" cy="1772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49026" y="9041488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221424" y="199504"/>
                  </a:moveTo>
                  <a:lnTo>
                    <a:pt x="166065" y="166255"/>
                  </a:lnTo>
                  <a:lnTo>
                    <a:pt x="166065" y="232752"/>
                  </a:lnTo>
                  <a:lnTo>
                    <a:pt x="221424" y="199504"/>
                  </a:lnTo>
                  <a:close/>
                </a:path>
                <a:path w="266065" h="266065">
                  <a:moveTo>
                    <a:pt x="265722" y="16294"/>
                  </a:moveTo>
                  <a:lnTo>
                    <a:pt x="263385" y="10642"/>
                  </a:lnTo>
                  <a:lnTo>
                    <a:pt x="255066" y="2336"/>
                  </a:lnTo>
                  <a:lnTo>
                    <a:pt x="249453" y="0"/>
                  </a:lnTo>
                  <a:lnTo>
                    <a:pt x="243573" y="0"/>
                  </a:lnTo>
                  <a:lnTo>
                    <a:pt x="243573" y="22174"/>
                  </a:lnTo>
                  <a:lnTo>
                    <a:pt x="243573" y="66497"/>
                  </a:lnTo>
                  <a:lnTo>
                    <a:pt x="22136" y="66497"/>
                  </a:lnTo>
                  <a:lnTo>
                    <a:pt x="22136" y="22174"/>
                  </a:lnTo>
                  <a:lnTo>
                    <a:pt x="243573" y="22174"/>
                  </a:lnTo>
                  <a:lnTo>
                    <a:pt x="243573" y="0"/>
                  </a:lnTo>
                  <a:lnTo>
                    <a:pt x="16268" y="0"/>
                  </a:lnTo>
                  <a:lnTo>
                    <a:pt x="10629" y="2336"/>
                  </a:lnTo>
                  <a:lnTo>
                    <a:pt x="2324" y="10642"/>
                  </a:lnTo>
                  <a:lnTo>
                    <a:pt x="0" y="16294"/>
                  </a:lnTo>
                  <a:lnTo>
                    <a:pt x="0" y="249720"/>
                  </a:lnTo>
                  <a:lnTo>
                    <a:pt x="2324" y="255358"/>
                  </a:lnTo>
                  <a:lnTo>
                    <a:pt x="10629" y="263664"/>
                  </a:lnTo>
                  <a:lnTo>
                    <a:pt x="16268" y="266001"/>
                  </a:lnTo>
                  <a:lnTo>
                    <a:pt x="66421" y="266001"/>
                  </a:lnTo>
                  <a:lnTo>
                    <a:pt x="66421" y="243840"/>
                  </a:lnTo>
                  <a:lnTo>
                    <a:pt x="22136" y="243840"/>
                  </a:lnTo>
                  <a:lnTo>
                    <a:pt x="22136" y="88671"/>
                  </a:lnTo>
                  <a:lnTo>
                    <a:pt x="265722" y="88671"/>
                  </a:lnTo>
                  <a:lnTo>
                    <a:pt x="265722" y="66497"/>
                  </a:lnTo>
                  <a:lnTo>
                    <a:pt x="265722" y="22174"/>
                  </a:lnTo>
                  <a:lnTo>
                    <a:pt x="265722" y="1629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740" y="10938649"/>
            <a:ext cx="376564" cy="37637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708181" y="10938649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4" h="310515">
                <a:moveTo>
                  <a:pt x="243574" y="0"/>
                </a:moveTo>
                <a:lnTo>
                  <a:pt x="227962" y="15634"/>
                </a:lnTo>
                <a:lnTo>
                  <a:pt x="267613" y="55413"/>
                </a:lnTo>
                <a:lnTo>
                  <a:pt x="190561" y="55425"/>
                </a:lnTo>
                <a:lnTo>
                  <a:pt x="186879" y="56386"/>
                </a:lnTo>
                <a:lnTo>
                  <a:pt x="180336" y="60030"/>
                </a:lnTo>
                <a:lnTo>
                  <a:pt x="177579" y="62651"/>
                </a:lnTo>
                <a:lnTo>
                  <a:pt x="132859" y="134215"/>
                </a:lnTo>
                <a:lnTo>
                  <a:pt x="88135" y="62651"/>
                </a:lnTo>
                <a:lnTo>
                  <a:pt x="85378" y="60030"/>
                </a:lnTo>
                <a:lnTo>
                  <a:pt x="78835" y="56386"/>
                </a:lnTo>
                <a:lnTo>
                  <a:pt x="75153" y="55425"/>
                </a:lnTo>
                <a:lnTo>
                  <a:pt x="0" y="55413"/>
                </a:lnTo>
                <a:lnTo>
                  <a:pt x="0" y="77580"/>
                </a:lnTo>
                <a:lnTo>
                  <a:pt x="71410" y="77580"/>
                </a:lnTo>
                <a:lnTo>
                  <a:pt x="119794" y="155164"/>
                </a:lnTo>
                <a:lnTo>
                  <a:pt x="71410" y="232747"/>
                </a:lnTo>
                <a:lnTo>
                  <a:pt x="0" y="232747"/>
                </a:lnTo>
                <a:lnTo>
                  <a:pt x="0" y="254914"/>
                </a:lnTo>
                <a:lnTo>
                  <a:pt x="75154" y="254902"/>
                </a:lnTo>
                <a:lnTo>
                  <a:pt x="132859" y="176110"/>
                </a:lnTo>
                <a:lnTo>
                  <a:pt x="177579" y="247673"/>
                </a:lnTo>
                <a:lnTo>
                  <a:pt x="180337" y="250297"/>
                </a:lnTo>
                <a:lnTo>
                  <a:pt x="186879" y="253941"/>
                </a:lnTo>
                <a:lnTo>
                  <a:pt x="190561" y="254902"/>
                </a:lnTo>
                <a:lnTo>
                  <a:pt x="267613" y="254914"/>
                </a:lnTo>
                <a:lnTo>
                  <a:pt x="227962" y="294701"/>
                </a:lnTo>
                <a:lnTo>
                  <a:pt x="243575" y="310330"/>
                </a:lnTo>
                <a:lnTo>
                  <a:pt x="310010" y="243830"/>
                </a:lnTo>
                <a:lnTo>
                  <a:pt x="243574" y="177330"/>
                </a:lnTo>
                <a:lnTo>
                  <a:pt x="227962" y="192956"/>
                </a:lnTo>
                <a:lnTo>
                  <a:pt x="267613" y="232747"/>
                </a:lnTo>
                <a:lnTo>
                  <a:pt x="194304" y="232747"/>
                </a:lnTo>
                <a:lnTo>
                  <a:pt x="145923" y="155164"/>
                </a:lnTo>
                <a:lnTo>
                  <a:pt x="194304" y="77580"/>
                </a:lnTo>
                <a:lnTo>
                  <a:pt x="267613" y="77580"/>
                </a:lnTo>
                <a:lnTo>
                  <a:pt x="227962" y="117368"/>
                </a:lnTo>
                <a:lnTo>
                  <a:pt x="243574" y="132997"/>
                </a:lnTo>
                <a:lnTo>
                  <a:pt x="310010" y="66497"/>
                </a:lnTo>
                <a:lnTo>
                  <a:pt x="243574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2" name="object 12"/>
          <p:cNvSpPr/>
          <p:nvPr/>
        </p:nvSpPr>
        <p:spPr>
          <a:xfrm>
            <a:off x="58297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3" name="object 13"/>
          <p:cNvSpPr/>
          <p:nvPr/>
        </p:nvSpPr>
        <p:spPr>
          <a:xfrm>
            <a:off x="6671689" y="10518118"/>
            <a:ext cx="4942688" cy="0"/>
          </a:xfrm>
          <a:custGeom>
            <a:avLst/>
            <a:gdLst/>
            <a:ahLst/>
            <a:cxnLst/>
            <a:rect l="l" t="t" r="r" b="b"/>
            <a:pathLst>
              <a:path w="4075429">
                <a:moveTo>
                  <a:pt x="0" y="0"/>
                </a:moveTo>
                <a:lnTo>
                  <a:pt x="4075282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4" name="object 14"/>
          <p:cNvSpPr/>
          <p:nvPr/>
        </p:nvSpPr>
        <p:spPr>
          <a:xfrm>
            <a:off x="12732977" y="10518118"/>
            <a:ext cx="5025093" cy="0"/>
          </a:xfrm>
          <a:custGeom>
            <a:avLst/>
            <a:gdLst/>
            <a:ahLst/>
            <a:cxnLst/>
            <a:rect l="l" t="t" r="r" b="b"/>
            <a:pathLst>
              <a:path w="4143375">
                <a:moveTo>
                  <a:pt x="0" y="0"/>
                </a:moveTo>
                <a:lnTo>
                  <a:pt x="4143125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5" name="object 15"/>
          <p:cNvSpPr/>
          <p:nvPr/>
        </p:nvSpPr>
        <p:spPr>
          <a:xfrm>
            <a:off x="1886740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19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6" name="object 16"/>
          <p:cNvSpPr txBox="1"/>
          <p:nvPr/>
        </p:nvSpPr>
        <p:spPr>
          <a:xfrm>
            <a:off x="563317" y="505767"/>
            <a:ext cx="7495667" cy="1239195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Pattern: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466"/>
              </a:spcBef>
            </a:pPr>
            <a:r>
              <a:rPr sz="3578" spc="206" dirty="0">
                <a:latin typeface="Calibri"/>
                <a:cs typeface="Calibri"/>
              </a:rPr>
              <a:t>The</a:t>
            </a:r>
            <a:r>
              <a:rPr sz="3578" spc="-18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anatomy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of</a:t>
            </a:r>
            <a:r>
              <a:rPr sz="3578" spc="103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a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algorithm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316" y="6333675"/>
            <a:ext cx="4807915" cy="2426380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01</a:t>
            </a:r>
            <a:endParaRPr sz="3578">
              <a:latin typeface="Calibri"/>
              <a:cs typeface="Calibri"/>
            </a:endParaRPr>
          </a:p>
          <a:p>
            <a:pPr marL="15403" marR="6161">
              <a:lnSpc>
                <a:spcPct val="110700"/>
              </a:lnSpc>
            </a:pPr>
            <a:r>
              <a:rPr sz="3578" b="1" dirty="0">
                <a:latin typeface="Calibri"/>
                <a:cs typeface="Calibri"/>
              </a:rPr>
              <a:t>Map</a:t>
            </a:r>
            <a:r>
              <a:rPr sz="3578" b="1" spc="61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problem</a:t>
            </a:r>
            <a:r>
              <a:rPr sz="3578" spc="-30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instance </a:t>
            </a:r>
            <a:r>
              <a:rPr sz="3578" dirty="0">
                <a:latin typeface="Calibri"/>
                <a:cs typeface="Calibri"/>
              </a:rPr>
              <a:t>to</a:t>
            </a:r>
            <a:r>
              <a:rPr sz="3578" spc="109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circuits</a:t>
            </a:r>
            <a:r>
              <a:rPr sz="3578" spc="24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and </a:t>
            </a:r>
            <a:r>
              <a:rPr sz="3578" spc="97" dirty="0">
                <a:latin typeface="Calibri"/>
                <a:cs typeface="Calibri"/>
              </a:rPr>
              <a:t>operators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67841" y="6333674"/>
            <a:ext cx="4017764" cy="1815187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02</a:t>
            </a:r>
            <a:endParaRPr sz="3578">
              <a:latin typeface="Calibri"/>
              <a:cs typeface="Calibri"/>
            </a:endParaRPr>
          </a:p>
          <a:p>
            <a:pPr marL="15403" marR="6161">
              <a:lnSpc>
                <a:spcPct val="110700"/>
              </a:lnSpc>
            </a:pPr>
            <a:r>
              <a:rPr sz="3578" b="1" dirty="0">
                <a:latin typeface="Calibri"/>
                <a:cs typeface="Calibri"/>
              </a:rPr>
              <a:t>Optimize</a:t>
            </a:r>
            <a:r>
              <a:rPr sz="3578" b="1" spc="115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for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61" dirty="0">
                <a:latin typeface="Calibri"/>
                <a:cs typeface="Calibri"/>
              </a:rPr>
              <a:t>target </a:t>
            </a:r>
            <a:r>
              <a:rPr sz="3578" spc="109" dirty="0">
                <a:latin typeface="Calibri"/>
                <a:cs typeface="Calibri"/>
              </a:rPr>
              <a:t>hardware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execution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48684" y="6333674"/>
            <a:ext cx="3005044" cy="1815187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03</a:t>
            </a:r>
            <a:endParaRPr sz="3578">
              <a:latin typeface="Calibri"/>
              <a:cs typeface="Calibri"/>
            </a:endParaRPr>
          </a:p>
          <a:p>
            <a:pPr marL="15403" marR="6161">
              <a:lnSpc>
                <a:spcPct val="110700"/>
              </a:lnSpc>
            </a:pPr>
            <a:r>
              <a:rPr sz="3578" b="1" dirty="0">
                <a:latin typeface="Calibri"/>
                <a:cs typeface="Calibri"/>
              </a:rPr>
              <a:t>Execute</a:t>
            </a:r>
            <a:r>
              <a:rPr sz="3578" b="1" spc="12" dirty="0">
                <a:latin typeface="Calibri"/>
                <a:cs typeface="Calibri"/>
              </a:rPr>
              <a:t> </a:t>
            </a:r>
            <a:r>
              <a:rPr sz="3578" spc="67" dirty="0">
                <a:latin typeface="Calibri"/>
                <a:cs typeface="Calibri"/>
              </a:rPr>
              <a:t>via </a:t>
            </a: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Runtime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829781" y="6333675"/>
            <a:ext cx="3524111" cy="1239195"/>
          </a:xfrm>
          <a:prstGeom prst="rect">
            <a:avLst/>
          </a:prstGeom>
        </p:spPr>
        <p:txBody>
          <a:bodyPr vert="horz" wrap="square" lIns="0" tIns="73162" rIns="0" bIns="0" rtlCol="0">
            <a:spAutoFit/>
          </a:bodyPr>
          <a:lstStyle/>
          <a:p>
            <a:pPr marL="15403">
              <a:spcBef>
                <a:spcPts val="576"/>
              </a:spcBef>
            </a:pPr>
            <a:r>
              <a:rPr sz="3578" spc="291" dirty="0">
                <a:solidFill>
                  <a:srgbClr val="A8A8A8"/>
                </a:solidFill>
                <a:latin typeface="Calibri"/>
                <a:cs typeface="Calibri"/>
              </a:rPr>
              <a:t>04</a:t>
            </a:r>
            <a:endParaRPr sz="3578">
              <a:latin typeface="Calibri"/>
              <a:cs typeface="Calibri"/>
            </a:endParaRPr>
          </a:p>
          <a:p>
            <a:pPr marL="15403">
              <a:spcBef>
                <a:spcPts val="461"/>
              </a:spcBef>
            </a:pPr>
            <a:r>
              <a:rPr sz="3578" b="1" dirty="0">
                <a:latin typeface="Calibri"/>
                <a:cs typeface="Calibri"/>
              </a:rPr>
              <a:t>Result</a:t>
            </a:r>
            <a:r>
              <a:rPr sz="3578" b="1" spc="30" dirty="0">
                <a:latin typeface="Calibri"/>
                <a:cs typeface="Calibri"/>
              </a:rPr>
              <a:t> </a:t>
            </a:r>
            <a:r>
              <a:rPr sz="3578" spc="158" dirty="0">
                <a:latin typeface="Calibri"/>
                <a:cs typeface="Calibri"/>
              </a:rPr>
              <a:t>processing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59540" y="629923"/>
            <a:ext cx="3809059" cy="2777086"/>
          </a:xfrm>
          <a:custGeom>
            <a:avLst/>
            <a:gdLst/>
            <a:ahLst/>
            <a:cxnLst/>
            <a:rect l="l" t="t" r="r" b="b"/>
            <a:pathLst>
              <a:path w="3140709" h="2289810">
                <a:moveTo>
                  <a:pt x="293195" y="2194004"/>
                </a:moveTo>
                <a:lnTo>
                  <a:pt x="268906" y="2259962"/>
                </a:lnTo>
                <a:lnTo>
                  <a:pt x="306992" y="2273488"/>
                </a:lnTo>
                <a:lnTo>
                  <a:pt x="345569" y="2282969"/>
                </a:lnTo>
                <a:lnTo>
                  <a:pt x="384657" y="2288407"/>
                </a:lnTo>
                <a:lnTo>
                  <a:pt x="424274" y="2289801"/>
                </a:lnTo>
                <a:lnTo>
                  <a:pt x="464695" y="2285911"/>
                </a:lnTo>
                <a:lnTo>
                  <a:pt x="506343" y="2275641"/>
                </a:lnTo>
                <a:lnTo>
                  <a:pt x="549227" y="2258971"/>
                </a:lnTo>
                <a:lnTo>
                  <a:pt x="593358" y="2235882"/>
                </a:lnTo>
                <a:lnTo>
                  <a:pt x="613709" y="2222062"/>
                </a:lnTo>
                <a:lnTo>
                  <a:pt x="426368" y="2222062"/>
                </a:lnTo>
                <a:lnTo>
                  <a:pt x="393723" y="2220417"/>
                </a:lnTo>
                <a:lnTo>
                  <a:pt x="360645" y="2215179"/>
                </a:lnTo>
                <a:lnTo>
                  <a:pt x="327136" y="2206368"/>
                </a:lnTo>
                <a:lnTo>
                  <a:pt x="293195" y="2194004"/>
                </a:lnTo>
                <a:close/>
              </a:path>
              <a:path w="3140709" h="2289810">
                <a:moveTo>
                  <a:pt x="680540" y="1847850"/>
                </a:moveTo>
                <a:lnTo>
                  <a:pt x="522932" y="1847850"/>
                </a:lnTo>
                <a:lnTo>
                  <a:pt x="552631" y="1849974"/>
                </a:lnTo>
                <a:lnTo>
                  <a:pt x="579939" y="1857906"/>
                </a:lnTo>
                <a:lnTo>
                  <a:pt x="627880" y="1895482"/>
                </a:lnTo>
                <a:lnTo>
                  <a:pt x="665650" y="1960698"/>
                </a:lnTo>
                <a:lnTo>
                  <a:pt x="675858" y="2029839"/>
                </a:lnTo>
                <a:lnTo>
                  <a:pt x="668948" y="2063448"/>
                </a:lnTo>
                <a:lnTo>
                  <a:pt x="631637" y="2125782"/>
                </a:lnTo>
                <a:lnTo>
                  <a:pt x="601238" y="2153744"/>
                </a:lnTo>
                <a:lnTo>
                  <a:pt x="562996" y="2179556"/>
                </a:lnTo>
                <a:lnTo>
                  <a:pt x="527543" y="2198005"/>
                </a:lnTo>
                <a:lnTo>
                  <a:pt x="459229" y="2219278"/>
                </a:lnTo>
                <a:lnTo>
                  <a:pt x="426368" y="2222062"/>
                </a:lnTo>
                <a:lnTo>
                  <a:pt x="613709" y="2222062"/>
                </a:lnTo>
                <a:lnTo>
                  <a:pt x="684522" y="2163799"/>
                </a:lnTo>
                <a:lnTo>
                  <a:pt x="715086" y="2122693"/>
                </a:lnTo>
                <a:lnTo>
                  <a:pt x="735639" y="2078210"/>
                </a:lnTo>
                <a:lnTo>
                  <a:pt x="745574" y="2031510"/>
                </a:lnTo>
                <a:lnTo>
                  <a:pt x="744290" y="1983906"/>
                </a:lnTo>
                <a:lnTo>
                  <a:pt x="731797" y="1935399"/>
                </a:lnTo>
                <a:lnTo>
                  <a:pt x="708104" y="1885989"/>
                </a:lnTo>
                <a:lnTo>
                  <a:pt x="684311" y="1851696"/>
                </a:lnTo>
                <a:lnTo>
                  <a:pt x="680540" y="1847850"/>
                </a:lnTo>
                <a:close/>
              </a:path>
              <a:path w="3140709" h="2289810">
                <a:moveTo>
                  <a:pt x="820862" y="1109146"/>
                </a:moveTo>
                <a:lnTo>
                  <a:pt x="740769" y="1156260"/>
                </a:lnTo>
                <a:lnTo>
                  <a:pt x="910167" y="2032982"/>
                </a:lnTo>
                <a:lnTo>
                  <a:pt x="972566" y="1996338"/>
                </a:lnTo>
                <a:lnTo>
                  <a:pt x="919066" y="1724234"/>
                </a:lnTo>
                <a:lnTo>
                  <a:pt x="1028593" y="1659951"/>
                </a:lnTo>
                <a:lnTo>
                  <a:pt x="902315" y="1659951"/>
                </a:lnTo>
                <a:lnTo>
                  <a:pt x="811963" y="1194159"/>
                </a:lnTo>
                <a:lnTo>
                  <a:pt x="816150" y="1191647"/>
                </a:lnTo>
                <a:lnTo>
                  <a:pt x="919119" y="1191647"/>
                </a:lnTo>
                <a:lnTo>
                  <a:pt x="820862" y="1109146"/>
                </a:lnTo>
                <a:close/>
              </a:path>
              <a:path w="3140709" h="2289810">
                <a:moveTo>
                  <a:pt x="307748" y="1432866"/>
                </a:moveTo>
                <a:lnTo>
                  <a:pt x="232537" y="1447706"/>
                </a:lnTo>
                <a:lnTo>
                  <a:pt x="193425" y="1463313"/>
                </a:lnTo>
                <a:lnTo>
                  <a:pt x="153322" y="1484376"/>
                </a:lnTo>
                <a:lnTo>
                  <a:pt x="105410" y="1516753"/>
                </a:lnTo>
                <a:lnTo>
                  <a:pt x="65586" y="1552742"/>
                </a:lnTo>
                <a:lnTo>
                  <a:pt x="34479" y="1591611"/>
                </a:lnTo>
                <a:lnTo>
                  <a:pt x="13029" y="1632521"/>
                </a:lnTo>
                <a:lnTo>
                  <a:pt x="1735" y="1675394"/>
                </a:lnTo>
                <a:lnTo>
                  <a:pt x="0" y="1697537"/>
                </a:lnTo>
                <a:lnTo>
                  <a:pt x="885" y="1720151"/>
                </a:lnTo>
                <a:lnTo>
                  <a:pt x="11236" y="1766348"/>
                </a:lnTo>
                <a:lnTo>
                  <a:pt x="33445" y="1813644"/>
                </a:lnTo>
                <a:lnTo>
                  <a:pt x="57671" y="1848173"/>
                </a:lnTo>
                <a:lnTo>
                  <a:pt x="85754" y="1875899"/>
                </a:lnTo>
                <a:lnTo>
                  <a:pt x="117704" y="1896814"/>
                </a:lnTo>
                <a:lnTo>
                  <a:pt x="153531" y="1910907"/>
                </a:lnTo>
                <a:lnTo>
                  <a:pt x="193834" y="1917782"/>
                </a:lnTo>
                <a:lnTo>
                  <a:pt x="239211" y="1916914"/>
                </a:lnTo>
                <a:lnTo>
                  <a:pt x="289673" y="1908330"/>
                </a:lnTo>
                <a:lnTo>
                  <a:pt x="345229" y="1892061"/>
                </a:lnTo>
                <a:lnTo>
                  <a:pt x="417678" y="1867667"/>
                </a:lnTo>
                <a:lnTo>
                  <a:pt x="455446" y="1856717"/>
                </a:lnTo>
                <a:lnTo>
                  <a:pt x="490534" y="1850105"/>
                </a:lnTo>
                <a:lnTo>
                  <a:pt x="522932" y="1847850"/>
                </a:lnTo>
                <a:lnTo>
                  <a:pt x="680540" y="1847850"/>
                </a:lnTo>
                <a:lnTo>
                  <a:pt x="680169" y="1847472"/>
                </a:lnTo>
                <a:lnTo>
                  <a:pt x="219862" y="1847472"/>
                </a:lnTo>
                <a:lnTo>
                  <a:pt x="189651" y="1846309"/>
                </a:lnTo>
                <a:lnTo>
                  <a:pt x="136492" y="1825449"/>
                </a:lnTo>
                <a:lnTo>
                  <a:pt x="93540" y="1775535"/>
                </a:lnTo>
                <a:lnTo>
                  <a:pt x="70115" y="1709708"/>
                </a:lnTo>
                <a:lnTo>
                  <a:pt x="70518" y="1683612"/>
                </a:lnTo>
                <a:lnTo>
                  <a:pt x="95197" y="1618243"/>
                </a:lnTo>
                <a:lnTo>
                  <a:pt x="146907" y="1565162"/>
                </a:lnTo>
                <a:lnTo>
                  <a:pt x="182636" y="1541331"/>
                </a:lnTo>
                <a:lnTo>
                  <a:pt x="246488" y="1511715"/>
                </a:lnTo>
                <a:lnTo>
                  <a:pt x="307120" y="1499766"/>
                </a:lnTo>
                <a:lnTo>
                  <a:pt x="431752" y="1499766"/>
                </a:lnTo>
                <a:lnTo>
                  <a:pt x="448564" y="1460715"/>
                </a:lnTo>
                <a:lnTo>
                  <a:pt x="414444" y="1447088"/>
                </a:lnTo>
                <a:lnTo>
                  <a:pt x="379608" y="1437917"/>
                </a:lnTo>
                <a:lnTo>
                  <a:pt x="344046" y="1433183"/>
                </a:lnTo>
                <a:lnTo>
                  <a:pt x="307748" y="1432866"/>
                </a:lnTo>
                <a:close/>
              </a:path>
              <a:path w="3140709" h="2289810">
                <a:moveTo>
                  <a:pt x="505819" y="1778506"/>
                </a:moveTo>
                <a:lnTo>
                  <a:pt x="453928" y="1786327"/>
                </a:lnTo>
                <a:lnTo>
                  <a:pt x="395902" y="1802128"/>
                </a:lnTo>
                <a:lnTo>
                  <a:pt x="323452" y="1826522"/>
                </a:lnTo>
                <a:lnTo>
                  <a:pt x="286763" y="1837549"/>
                </a:lnTo>
                <a:lnTo>
                  <a:pt x="252233" y="1844543"/>
                </a:lnTo>
                <a:lnTo>
                  <a:pt x="219862" y="1847472"/>
                </a:lnTo>
                <a:lnTo>
                  <a:pt x="680169" y="1847472"/>
                </a:lnTo>
                <a:lnTo>
                  <a:pt x="656895" y="1823734"/>
                </a:lnTo>
                <a:lnTo>
                  <a:pt x="625869" y="1802128"/>
                </a:lnTo>
                <a:lnTo>
                  <a:pt x="591159" y="1786842"/>
                </a:lnTo>
                <a:lnTo>
                  <a:pt x="551566" y="1778674"/>
                </a:lnTo>
                <a:lnTo>
                  <a:pt x="505819" y="1778506"/>
                </a:lnTo>
                <a:close/>
              </a:path>
              <a:path w="3140709" h="2289810">
                <a:moveTo>
                  <a:pt x="1337462" y="1542901"/>
                </a:moveTo>
                <a:lnTo>
                  <a:pt x="1228024" y="1542901"/>
                </a:lnTo>
                <a:lnTo>
                  <a:pt x="1439614" y="1722140"/>
                </a:lnTo>
                <a:lnTo>
                  <a:pt x="1505049" y="1683612"/>
                </a:lnTo>
                <a:lnTo>
                  <a:pt x="1337462" y="1542901"/>
                </a:lnTo>
                <a:close/>
              </a:path>
              <a:path w="3140709" h="2289810">
                <a:moveTo>
                  <a:pt x="919119" y="1191647"/>
                </a:moveTo>
                <a:lnTo>
                  <a:pt x="816150" y="1191647"/>
                </a:lnTo>
                <a:lnTo>
                  <a:pt x="1179026" y="1497463"/>
                </a:lnTo>
                <a:lnTo>
                  <a:pt x="902315" y="1659951"/>
                </a:lnTo>
                <a:lnTo>
                  <a:pt x="1028593" y="1659951"/>
                </a:lnTo>
                <a:lnTo>
                  <a:pt x="1228024" y="1542901"/>
                </a:lnTo>
                <a:lnTo>
                  <a:pt x="1337462" y="1542901"/>
                </a:lnTo>
                <a:lnTo>
                  <a:pt x="919119" y="1191647"/>
                </a:lnTo>
                <a:close/>
              </a:path>
              <a:path w="3140709" h="2289810">
                <a:moveTo>
                  <a:pt x="1294087" y="831284"/>
                </a:moveTo>
                <a:lnTo>
                  <a:pt x="1208760" y="881328"/>
                </a:lnTo>
                <a:lnTo>
                  <a:pt x="1635081" y="1607289"/>
                </a:lnTo>
                <a:lnTo>
                  <a:pt x="1695352" y="1571921"/>
                </a:lnTo>
                <a:lnTo>
                  <a:pt x="1691427" y="1565162"/>
                </a:lnTo>
                <a:lnTo>
                  <a:pt x="1316073" y="926034"/>
                </a:lnTo>
                <a:lnTo>
                  <a:pt x="1320261" y="923626"/>
                </a:lnTo>
                <a:lnTo>
                  <a:pt x="1452568" y="923626"/>
                </a:lnTo>
                <a:lnTo>
                  <a:pt x="1294087" y="831284"/>
                </a:lnTo>
                <a:close/>
              </a:path>
              <a:path w="3140709" h="2289810">
                <a:moveTo>
                  <a:pt x="431752" y="1499766"/>
                </a:moveTo>
                <a:lnTo>
                  <a:pt x="307120" y="1499766"/>
                </a:lnTo>
                <a:lnTo>
                  <a:pt x="336431" y="1499959"/>
                </a:lnTo>
                <a:lnTo>
                  <a:pt x="365330" y="1503823"/>
                </a:lnTo>
                <a:lnTo>
                  <a:pt x="393837" y="1511339"/>
                </a:lnTo>
                <a:lnTo>
                  <a:pt x="421971" y="1522485"/>
                </a:lnTo>
                <a:lnTo>
                  <a:pt x="431598" y="1500123"/>
                </a:lnTo>
                <a:lnTo>
                  <a:pt x="431668" y="1499959"/>
                </a:lnTo>
                <a:lnTo>
                  <a:pt x="431752" y="1499766"/>
                </a:lnTo>
                <a:close/>
              </a:path>
              <a:path w="3140709" h="2289810">
                <a:moveTo>
                  <a:pt x="1906844" y="626708"/>
                </a:moveTo>
                <a:lnTo>
                  <a:pt x="1825732" y="626708"/>
                </a:lnTo>
                <a:lnTo>
                  <a:pt x="2205044" y="1272577"/>
                </a:lnTo>
                <a:lnTo>
                  <a:pt x="2265349" y="1237189"/>
                </a:lnTo>
                <a:lnTo>
                  <a:pt x="1906844" y="626708"/>
                </a:lnTo>
                <a:close/>
              </a:path>
              <a:path w="3140709" h="2289810">
                <a:moveTo>
                  <a:pt x="1452568" y="923626"/>
                </a:moveTo>
                <a:lnTo>
                  <a:pt x="1320261" y="923626"/>
                </a:lnTo>
                <a:lnTo>
                  <a:pt x="1831699" y="1220438"/>
                </a:lnTo>
                <a:lnTo>
                  <a:pt x="1829788" y="1109146"/>
                </a:lnTo>
                <a:lnTo>
                  <a:pt x="1829718" y="1105063"/>
                </a:lnTo>
                <a:lnTo>
                  <a:pt x="1763961" y="1105063"/>
                </a:lnTo>
                <a:lnTo>
                  <a:pt x="1452568" y="923626"/>
                </a:lnTo>
                <a:close/>
              </a:path>
              <a:path w="3140709" h="2289810">
                <a:moveTo>
                  <a:pt x="2465109" y="143537"/>
                </a:moveTo>
                <a:lnTo>
                  <a:pt x="2040777" y="392713"/>
                </a:lnTo>
                <a:lnTo>
                  <a:pt x="2467098" y="1118674"/>
                </a:lnTo>
                <a:lnTo>
                  <a:pt x="2623459" y="1026856"/>
                </a:lnTo>
                <a:lnTo>
                  <a:pt x="2497146" y="1026856"/>
                </a:lnTo>
                <a:lnTo>
                  <a:pt x="2329109" y="740931"/>
                </a:lnTo>
                <a:lnTo>
                  <a:pt x="2423086" y="685757"/>
                </a:lnTo>
                <a:lnTo>
                  <a:pt x="2296758" y="685757"/>
                </a:lnTo>
                <a:lnTo>
                  <a:pt x="2135526" y="411244"/>
                </a:lnTo>
                <a:lnTo>
                  <a:pt x="2497460" y="198607"/>
                </a:lnTo>
                <a:lnTo>
                  <a:pt x="2465109" y="143537"/>
                </a:lnTo>
                <a:close/>
              </a:path>
              <a:path w="3140709" h="2289810">
                <a:moveTo>
                  <a:pt x="1839028" y="511229"/>
                </a:moveTo>
                <a:lnTo>
                  <a:pt x="1756842" y="559494"/>
                </a:lnTo>
                <a:lnTo>
                  <a:pt x="1766997" y="1103179"/>
                </a:lnTo>
                <a:lnTo>
                  <a:pt x="1763961" y="1105063"/>
                </a:lnTo>
                <a:lnTo>
                  <a:pt x="1829718" y="1105063"/>
                </a:lnTo>
                <a:lnTo>
                  <a:pt x="1821544" y="629221"/>
                </a:lnTo>
                <a:lnTo>
                  <a:pt x="1825732" y="626708"/>
                </a:lnTo>
                <a:lnTo>
                  <a:pt x="1906844" y="626708"/>
                </a:lnTo>
                <a:lnTo>
                  <a:pt x="1839028" y="511229"/>
                </a:lnTo>
                <a:close/>
              </a:path>
              <a:path w="3140709" h="2289810">
                <a:moveTo>
                  <a:pt x="2859079" y="814323"/>
                </a:moveTo>
                <a:lnTo>
                  <a:pt x="2497146" y="1026856"/>
                </a:lnTo>
                <a:lnTo>
                  <a:pt x="2623459" y="1026856"/>
                </a:lnTo>
                <a:lnTo>
                  <a:pt x="2891430" y="869498"/>
                </a:lnTo>
                <a:lnTo>
                  <a:pt x="2859079" y="814323"/>
                </a:lnTo>
                <a:close/>
              </a:path>
              <a:path w="3140709" h="2289810">
                <a:moveTo>
                  <a:pt x="2640998" y="483589"/>
                </a:moveTo>
                <a:lnTo>
                  <a:pt x="2296758" y="685757"/>
                </a:lnTo>
                <a:lnTo>
                  <a:pt x="2423086" y="685757"/>
                </a:lnTo>
                <a:lnTo>
                  <a:pt x="2673453" y="538764"/>
                </a:lnTo>
                <a:lnTo>
                  <a:pt x="2640998" y="483589"/>
                </a:lnTo>
                <a:close/>
              </a:path>
              <a:path w="3140709" h="2289810">
                <a:moveTo>
                  <a:pt x="2709469" y="0"/>
                </a:moveTo>
                <a:lnTo>
                  <a:pt x="2644976" y="37899"/>
                </a:lnTo>
                <a:lnTo>
                  <a:pt x="2787886" y="281212"/>
                </a:lnTo>
                <a:lnTo>
                  <a:pt x="2977385" y="565775"/>
                </a:lnTo>
                <a:lnTo>
                  <a:pt x="3007538" y="548082"/>
                </a:lnTo>
                <a:lnTo>
                  <a:pt x="2852378" y="243312"/>
                </a:lnTo>
                <a:lnTo>
                  <a:pt x="2709469" y="0"/>
                </a:lnTo>
                <a:close/>
              </a:path>
              <a:path w="3140709" h="2289810">
                <a:moveTo>
                  <a:pt x="3082099" y="638647"/>
                </a:moveTo>
                <a:lnTo>
                  <a:pt x="3035670" y="657219"/>
                </a:lnTo>
                <a:lnTo>
                  <a:pt x="3015921" y="694532"/>
                </a:lnTo>
                <a:lnTo>
                  <a:pt x="3016869" y="704681"/>
                </a:lnTo>
                <a:lnTo>
                  <a:pt x="3038210" y="746202"/>
                </a:lnTo>
                <a:lnTo>
                  <a:pt x="3073655" y="765196"/>
                </a:lnTo>
                <a:lnTo>
                  <a:pt x="3084659" y="764187"/>
                </a:lnTo>
                <a:lnTo>
                  <a:pt x="3120321" y="746556"/>
                </a:lnTo>
                <a:lnTo>
                  <a:pt x="3140243" y="709032"/>
                </a:lnTo>
                <a:lnTo>
                  <a:pt x="3139454" y="698765"/>
                </a:lnTo>
                <a:lnTo>
                  <a:pt x="3118181" y="657219"/>
                </a:lnTo>
                <a:lnTo>
                  <a:pt x="3082099" y="638647"/>
                </a:lnTo>
                <a:close/>
              </a:path>
            </a:pathLst>
          </a:custGeom>
          <a:solidFill>
            <a:srgbClr val="F94D55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61543" y="563060"/>
            <a:ext cx="2851941" cy="283344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/>
              <a:pPr marL="90875">
                <a:spcBef>
                  <a:spcPts val="164"/>
                </a:spcBef>
              </a:pPr>
              <a:t>29</a:t>
            </a:fld>
            <a:endParaRPr spc="10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742" y="3135"/>
            <a:ext cx="9240780" cy="5068375"/>
          </a:xfrm>
          <a:prstGeom prst="rect">
            <a:avLst/>
          </a:prstGeom>
        </p:spPr>
        <p:txBody>
          <a:bodyPr vert="horz" wrap="square" lIns="0" tIns="294958" rIns="0" bIns="0" rtlCol="0">
            <a:spAutoFit/>
          </a:bodyPr>
          <a:lstStyle/>
          <a:p>
            <a:pPr marL="15403" marR="6161">
              <a:lnSpc>
                <a:spcPts val="18579"/>
              </a:lnSpc>
              <a:spcBef>
                <a:spcPts val="2321"/>
              </a:spcBef>
            </a:pPr>
            <a:r>
              <a:rPr sz="17222" spc="-12" dirty="0"/>
              <a:t>Example workflows</a:t>
            </a:r>
            <a:endParaRPr sz="17222"/>
          </a:p>
        </p:txBody>
      </p:sp>
      <p:sp>
        <p:nvSpPr>
          <p:cNvPr id="4" name="object 4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/>
              <a:pPr marL="90875">
                <a:spcBef>
                  <a:spcPts val="164"/>
                </a:spcBef>
              </a:pPr>
              <a:t>30</a:t>
            </a:fld>
            <a:endParaRPr spc="109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79428C-09F3-E14D-E6D2-EE0658CA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133" y="11025389"/>
            <a:ext cx="18923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95394" y="11422715"/>
            <a:ext cx="12472241" cy="1849999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3571854">
              <a:spcBef>
                <a:spcPts val="146"/>
              </a:spcBef>
              <a:tabLst>
                <a:tab pos="9705153" algn="l"/>
              </a:tabLst>
            </a:pPr>
            <a:r>
              <a:rPr sz="3578" spc="103" dirty="0">
                <a:latin typeface="Calibri"/>
                <a:cs typeface="Calibri"/>
              </a:rPr>
              <a:t>Optimize</a:t>
            </a:r>
            <a:r>
              <a:rPr sz="3578" dirty="0">
                <a:latin typeface="Calibri"/>
                <a:cs typeface="Calibri"/>
              </a:rPr>
              <a:t>	</a:t>
            </a:r>
            <a:r>
              <a:rPr sz="3578" spc="164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  <a:p>
            <a:pPr>
              <a:spcBef>
                <a:spcPts val="1395"/>
              </a:spcBef>
            </a:pPr>
            <a:endParaRPr sz="3578">
              <a:latin typeface="Calibri"/>
              <a:cs typeface="Calibri"/>
            </a:endParaRPr>
          </a:p>
          <a:p>
            <a:pPr marL="15403">
              <a:spcBef>
                <a:spcPts val="6"/>
              </a:spcBef>
              <a:tabLst>
                <a:tab pos="1186767" algn="l"/>
              </a:tabLst>
            </a:pPr>
            <a:r>
              <a:rPr sz="3578" spc="115" dirty="0">
                <a:latin typeface="Calibri"/>
                <a:cs typeface="Calibri"/>
              </a:rPr>
              <a:t>Link:</a:t>
            </a:r>
            <a:r>
              <a:rPr sz="3578" dirty="0">
                <a:latin typeface="Calibri"/>
                <a:cs typeface="Calibri"/>
              </a:rPr>
              <a:t>	</a:t>
            </a:r>
            <a:r>
              <a:rPr sz="3578" u="sng" spc="8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https://quantum.cloud.ibm.com/docs/en/guides/addons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49968" y="11422714"/>
            <a:ext cx="270469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0" dirty="0">
                <a:latin typeface="Calibri"/>
                <a:cs typeface="Calibri"/>
              </a:rPr>
              <a:t>Post-</a:t>
            </a:r>
            <a:r>
              <a:rPr sz="3578" spc="194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316" y="11422714"/>
            <a:ext cx="905672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894743" y="10938655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5" h="310515">
                <a:moveTo>
                  <a:pt x="310007" y="77584"/>
                </a:moveTo>
                <a:lnTo>
                  <a:pt x="232511" y="77584"/>
                </a:lnTo>
                <a:lnTo>
                  <a:pt x="232511" y="99745"/>
                </a:lnTo>
                <a:lnTo>
                  <a:pt x="272249" y="99745"/>
                </a:lnTo>
                <a:lnTo>
                  <a:pt x="188214" y="183870"/>
                </a:lnTo>
                <a:lnTo>
                  <a:pt x="139687" y="135178"/>
                </a:lnTo>
                <a:lnTo>
                  <a:pt x="135775" y="133223"/>
                </a:lnTo>
                <a:lnTo>
                  <a:pt x="131394" y="132930"/>
                </a:lnTo>
                <a:lnTo>
                  <a:pt x="127254" y="134353"/>
                </a:lnTo>
                <a:lnTo>
                  <a:pt x="124993" y="136207"/>
                </a:lnTo>
                <a:lnTo>
                  <a:pt x="44284" y="217119"/>
                </a:lnTo>
                <a:lnTo>
                  <a:pt x="59893" y="232752"/>
                </a:lnTo>
                <a:lnTo>
                  <a:pt x="132867" y="159702"/>
                </a:lnTo>
                <a:lnTo>
                  <a:pt x="181394" y="208407"/>
                </a:lnTo>
                <a:lnTo>
                  <a:pt x="185305" y="210350"/>
                </a:lnTo>
                <a:lnTo>
                  <a:pt x="189687" y="210642"/>
                </a:lnTo>
                <a:lnTo>
                  <a:pt x="193827" y="209232"/>
                </a:lnTo>
                <a:lnTo>
                  <a:pt x="196075" y="207365"/>
                </a:lnTo>
                <a:lnTo>
                  <a:pt x="287870" y="115379"/>
                </a:lnTo>
                <a:lnTo>
                  <a:pt x="287870" y="155168"/>
                </a:lnTo>
                <a:lnTo>
                  <a:pt x="310007" y="155168"/>
                </a:lnTo>
                <a:lnTo>
                  <a:pt x="310007" y="77584"/>
                </a:lnTo>
                <a:close/>
              </a:path>
              <a:path w="310515" h="310515">
                <a:moveTo>
                  <a:pt x="310019" y="288163"/>
                </a:moveTo>
                <a:lnTo>
                  <a:pt x="22148" y="288163"/>
                </a:lnTo>
                <a:lnTo>
                  <a:pt x="22148" y="0"/>
                </a:lnTo>
                <a:lnTo>
                  <a:pt x="0" y="0"/>
                </a:lnTo>
                <a:lnTo>
                  <a:pt x="0" y="294043"/>
                </a:lnTo>
                <a:lnTo>
                  <a:pt x="2336" y="299681"/>
                </a:lnTo>
                <a:lnTo>
                  <a:pt x="10642" y="308000"/>
                </a:lnTo>
                <a:lnTo>
                  <a:pt x="16268" y="310337"/>
                </a:lnTo>
                <a:lnTo>
                  <a:pt x="310019" y="310337"/>
                </a:lnTo>
                <a:lnTo>
                  <a:pt x="310019" y="288163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grpSp>
        <p:nvGrpSpPr>
          <p:cNvPr id="6" name="object 6"/>
          <p:cNvGrpSpPr/>
          <p:nvPr/>
        </p:nvGrpSpPr>
        <p:grpSpPr>
          <a:xfrm>
            <a:off x="12796323" y="10965533"/>
            <a:ext cx="335776" cy="349639"/>
            <a:chOff x="10549028" y="9041488"/>
            <a:chExt cx="276860" cy="2882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48776" y="9152319"/>
              <a:ext cx="177048" cy="1772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549026" y="9041488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221424" y="199504"/>
                  </a:moveTo>
                  <a:lnTo>
                    <a:pt x="166065" y="166255"/>
                  </a:lnTo>
                  <a:lnTo>
                    <a:pt x="166065" y="232752"/>
                  </a:lnTo>
                  <a:lnTo>
                    <a:pt x="221424" y="199504"/>
                  </a:lnTo>
                  <a:close/>
                </a:path>
                <a:path w="266065" h="266065">
                  <a:moveTo>
                    <a:pt x="265722" y="16294"/>
                  </a:moveTo>
                  <a:lnTo>
                    <a:pt x="263385" y="10642"/>
                  </a:lnTo>
                  <a:lnTo>
                    <a:pt x="255066" y="2336"/>
                  </a:lnTo>
                  <a:lnTo>
                    <a:pt x="249453" y="0"/>
                  </a:lnTo>
                  <a:lnTo>
                    <a:pt x="243573" y="0"/>
                  </a:lnTo>
                  <a:lnTo>
                    <a:pt x="243573" y="22174"/>
                  </a:lnTo>
                  <a:lnTo>
                    <a:pt x="243573" y="66497"/>
                  </a:lnTo>
                  <a:lnTo>
                    <a:pt x="22136" y="66497"/>
                  </a:lnTo>
                  <a:lnTo>
                    <a:pt x="22136" y="22174"/>
                  </a:lnTo>
                  <a:lnTo>
                    <a:pt x="243573" y="22174"/>
                  </a:lnTo>
                  <a:lnTo>
                    <a:pt x="243573" y="0"/>
                  </a:lnTo>
                  <a:lnTo>
                    <a:pt x="16268" y="0"/>
                  </a:lnTo>
                  <a:lnTo>
                    <a:pt x="10629" y="2336"/>
                  </a:lnTo>
                  <a:lnTo>
                    <a:pt x="2324" y="10642"/>
                  </a:lnTo>
                  <a:lnTo>
                    <a:pt x="0" y="16294"/>
                  </a:lnTo>
                  <a:lnTo>
                    <a:pt x="0" y="249720"/>
                  </a:lnTo>
                  <a:lnTo>
                    <a:pt x="2324" y="255358"/>
                  </a:lnTo>
                  <a:lnTo>
                    <a:pt x="10629" y="263664"/>
                  </a:lnTo>
                  <a:lnTo>
                    <a:pt x="16268" y="266001"/>
                  </a:lnTo>
                  <a:lnTo>
                    <a:pt x="66421" y="266001"/>
                  </a:lnTo>
                  <a:lnTo>
                    <a:pt x="66421" y="243840"/>
                  </a:lnTo>
                  <a:lnTo>
                    <a:pt x="22136" y="243840"/>
                  </a:lnTo>
                  <a:lnTo>
                    <a:pt x="22136" y="88671"/>
                  </a:lnTo>
                  <a:lnTo>
                    <a:pt x="265722" y="88671"/>
                  </a:lnTo>
                  <a:lnTo>
                    <a:pt x="265722" y="66497"/>
                  </a:lnTo>
                  <a:lnTo>
                    <a:pt x="265722" y="22174"/>
                  </a:lnTo>
                  <a:lnTo>
                    <a:pt x="265722" y="1629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740" y="10938649"/>
            <a:ext cx="376564" cy="37637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708181" y="10938649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4" h="310515">
                <a:moveTo>
                  <a:pt x="243574" y="0"/>
                </a:moveTo>
                <a:lnTo>
                  <a:pt x="227962" y="15634"/>
                </a:lnTo>
                <a:lnTo>
                  <a:pt x="267613" y="55413"/>
                </a:lnTo>
                <a:lnTo>
                  <a:pt x="190561" y="55425"/>
                </a:lnTo>
                <a:lnTo>
                  <a:pt x="186879" y="56386"/>
                </a:lnTo>
                <a:lnTo>
                  <a:pt x="180336" y="60030"/>
                </a:lnTo>
                <a:lnTo>
                  <a:pt x="177579" y="62651"/>
                </a:lnTo>
                <a:lnTo>
                  <a:pt x="132859" y="134215"/>
                </a:lnTo>
                <a:lnTo>
                  <a:pt x="88135" y="62651"/>
                </a:lnTo>
                <a:lnTo>
                  <a:pt x="85378" y="60030"/>
                </a:lnTo>
                <a:lnTo>
                  <a:pt x="78835" y="56386"/>
                </a:lnTo>
                <a:lnTo>
                  <a:pt x="75153" y="55425"/>
                </a:lnTo>
                <a:lnTo>
                  <a:pt x="0" y="55413"/>
                </a:lnTo>
                <a:lnTo>
                  <a:pt x="0" y="77580"/>
                </a:lnTo>
                <a:lnTo>
                  <a:pt x="71410" y="77580"/>
                </a:lnTo>
                <a:lnTo>
                  <a:pt x="119794" y="155164"/>
                </a:lnTo>
                <a:lnTo>
                  <a:pt x="71410" y="232747"/>
                </a:lnTo>
                <a:lnTo>
                  <a:pt x="0" y="232747"/>
                </a:lnTo>
                <a:lnTo>
                  <a:pt x="0" y="254914"/>
                </a:lnTo>
                <a:lnTo>
                  <a:pt x="75154" y="254902"/>
                </a:lnTo>
                <a:lnTo>
                  <a:pt x="132859" y="176110"/>
                </a:lnTo>
                <a:lnTo>
                  <a:pt x="177579" y="247673"/>
                </a:lnTo>
                <a:lnTo>
                  <a:pt x="180337" y="250297"/>
                </a:lnTo>
                <a:lnTo>
                  <a:pt x="186879" y="253941"/>
                </a:lnTo>
                <a:lnTo>
                  <a:pt x="190561" y="254902"/>
                </a:lnTo>
                <a:lnTo>
                  <a:pt x="267613" y="254914"/>
                </a:lnTo>
                <a:lnTo>
                  <a:pt x="227962" y="294701"/>
                </a:lnTo>
                <a:lnTo>
                  <a:pt x="243575" y="310330"/>
                </a:lnTo>
                <a:lnTo>
                  <a:pt x="310010" y="243830"/>
                </a:lnTo>
                <a:lnTo>
                  <a:pt x="243574" y="177330"/>
                </a:lnTo>
                <a:lnTo>
                  <a:pt x="227962" y="192956"/>
                </a:lnTo>
                <a:lnTo>
                  <a:pt x="267613" y="232747"/>
                </a:lnTo>
                <a:lnTo>
                  <a:pt x="194304" y="232747"/>
                </a:lnTo>
                <a:lnTo>
                  <a:pt x="145923" y="155164"/>
                </a:lnTo>
                <a:lnTo>
                  <a:pt x="194304" y="77580"/>
                </a:lnTo>
                <a:lnTo>
                  <a:pt x="267613" y="77580"/>
                </a:lnTo>
                <a:lnTo>
                  <a:pt x="227962" y="117368"/>
                </a:lnTo>
                <a:lnTo>
                  <a:pt x="243574" y="132997"/>
                </a:lnTo>
                <a:lnTo>
                  <a:pt x="310010" y="66497"/>
                </a:lnTo>
                <a:lnTo>
                  <a:pt x="243574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1" name="object 11"/>
          <p:cNvSpPr/>
          <p:nvPr/>
        </p:nvSpPr>
        <p:spPr>
          <a:xfrm>
            <a:off x="58297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2" name="object 12"/>
          <p:cNvSpPr/>
          <p:nvPr/>
        </p:nvSpPr>
        <p:spPr>
          <a:xfrm>
            <a:off x="6671689" y="10518118"/>
            <a:ext cx="4942688" cy="0"/>
          </a:xfrm>
          <a:custGeom>
            <a:avLst/>
            <a:gdLst/>
            <a:ahLst/>
            <a:cxnLst/>
            <a:rect l="l" t="t" r="r" b="b"/>
            <a:pathLst>
              <a:path w="4075429">
                <a:moveTo>
                  <a:pt x="0" y="0"/>
                </a:moveTo>
                <a:lnTo>
                  <a:pt x="4075282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3" name="object 13"/>
          <p:cNvSpPr/>
          <p:nvPr/>
        </p:nvSpPr>
        <p:spPr>
          <a:xfrm>
            <a:off x="12732977" y="10518118"/>
            <a:ext cx="5025093" cy="0"/>
          </a:xfrm>
          <a:custGeom>
            <a:avLst/>
            <a:gdLst/>
            <a:ahLst/>
            <a:cxnLst/>
            <a:rect l="l" t="t" r="r" b="b"/>
            <a:pathLst>
              <a:path w="4143375">
                <a:moveTo>
                  <a:pt x="0" y="0"/>
                </a:moveTo>
                <a:lnTo>
                  <a:pt x="4143125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4" name="object 14"/>
          <p:cNvSpPr/>
          <p:nvPr/>
        </p:nvSpPr>
        <p:spPr>
          <a:xfrm>
            <a:off x="18867403" y="10518118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19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121" dirty="0"/>
              <a:t>Qiskit</a:t>
            </a:r>
            <a:r>
              <a:rPr spc="24" dirty="0"/>
              <a:t> </a:t>
            </a:r>
            <a:r>
              <a:rPr spc="164" dirty="0"/>
              <a:t>addons</a:t>
            </a:r>
            <a:r>
              <a:rPr spc="73" dirty="0"/>
              <a:t> </a:t>
            </a:r>
            <a:r>
              <a:rPr spc="121" dirty="0"/>
              <a:t>build</a:t>
            </a:r>
            <a:r>
              <a:rPr spc="18" dirty="0"/>
              <a:t> </a:t>
            </a:r>
            <a:r>
              <a:rPr spc="127" dirty="0"/>
              <a:t>on</a:t>
            </a:r>
            <a:r>
              <a:rPr spc="49" dirty="0"/>
              <a:t> </a:t>
            </a:r>
            <a:r>
              <a:rPr spc="97" dirty="0"/>
              <a:t>the</a:t>
            </a:r>
            <a:r>
              <a:rPr spc="36" dirty="0"/>
              <a:t> </a:t>
            </a:r>
            <a:r>
              <a:rPr spc="121" dirty="0"/>
              <a:t>Qiskit</a:t>
            </a:r>
            <a:r>
              <a:rPr spc="30" dirty="0"/>
              <a:t> </a:t>
            </a:r>
            <a:r>
              <a:rPr spc="273" dirty="0"/>
              <a:t>SDK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785888" y="1604496"/>
            <a:ext cx="8235761" cy="1892693"/>
          </a:xfrm>
          <a:prstGeom prst="rect">
            <a:avLst/>
          </a:prstGeom>
        </p:spPr>
        <p:txBody>
          <a:bodyPr vert="horz" wrap="square" lIns="0" tIns="11552" rIns="0" bIns="0" rtlCol="0">
            <a:spAutoFit/>
          </a:bodyPr>
          <a:lstStyle/>
          <a:p>
            <a:pPr marL="15403" marR="6161">
              <a:lnSpc>
                <a:spcPct val="110500"/>
              </a:lnSpc>
              <a:spcBef>
                <a:spcPts val="91"/>
              </a:spcBef>
            </a:pPr>
            <a:r>
              <a:rPr sz="2789" spc="91" dirty="0">
                <a:latin typeface="Calibri"/>
                <a:cs typeface="Calibri"/>
              </a:rPr>
              <a:t>Starting</a:t>
            </a:r>
            <a:r>
              <a:rPr sz="2789" spc="115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with</a:t>
            </a:r>
            <a:r>
              <a:rPr sz="2789" spc="158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multi-</a:t>
            </a:r>
            <a:r>
              <a:rPr sz="2789" spc="85" dirty="0">
                <a:latin typeface="Calibri"/>
                <a:cs typeface="Calibri"/>
              </a:rPr>
              <a:t>product </a:t>
            </a:r>
            <a:r>
              <a:rPr sz="2789" spc="97" dirty="0">
                <a:latin typeface="Calibri"/>
                <a:cs typeface="Calibri"/>
              </a:rPr>
              <a:t>formulas</a:t>
            </a:r>
            <a:r>
              <a:rPr sz="2789" spc="115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(</a:t>
            </a:r>
            <a:r>
              <a:rPr sz="2789" spc="73" dirty="0">
                <a:solidFill>
                  <a:srgbClr val="893EFB"/>
                </a:solidFill>
                <a:latin typeface="Calibri"/>
                <a:cs typeface="Calibri"/>
              </a:rPr>
              <a:t>MPF</a:t>
            </a:r>
            <a:r>
              <a:rPr sz="2789" spc="73" dirty="0">
                <a:latin typeface="Calibri"/>
                <a:cs typeface="Calibri"/>
              </a:rPr>
              <a:t>), </a:t>
            </a:r>
            <a:r>
              <a:rPr sz="2789" spc="97" dirty="0">
                <a:latin typeface="Calibri"/>
                <a:cs typeface="Calibri"/>
              </a:rPr>
              <a:t>approximate</a:t>
            </a:r>
            <a:r>
              <a:rPr sz="2789" spc="24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quantum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compilation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138" dirty="0">
                <a:latin typeface="Calibri"/>
                <a:cs typeface="Calibri"/>
              </a:rPr>
              <a:t>(</a:t>
            </a:r>
            <a:r>
              <a:rPr sz="2789" spc="138" dirty="0">
                <a:solidFill>
                  <a:srgbClr val="893EFB"/>
                </a:solidFill>
                <a:latin typeface="Calibri"/>
                <a:cs typeface="Calibri"/>
              </a:rPr>
              <a:t>AQC-</a:t>
            </a:r>
            <a:r>
              <a:rPr sz="2789" spc="67" dirty="0">
                <a:solidFill>
                  <a:srgbClr val="893EFB"/>
                </a:solidFill>
                <a:latin typeface="Calibri"/>
                <a:cs typeface="Calibri"/>
              </a:rPr>
              <a:t>Tensor</a:t>
            </a:r>
            <a:r>
              <a:rPr sz="2789" spc="67" dirty="0">
                <a:latin typeface="Calibri"/>
                <a:cs typeface="Calibri"/>
              </a:rPr>
              <a:t>), operator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backpropagation</a:t>
            </a:r>
            <a:r>
              <a:rPr sz="2789" spc="49" dirty="0">
                <a:latin typeface="Calibri"/>
                <a:cs typeface="Calibri"/>
              </a:rPr>
              <a:t> </a:t>
            </a:r>
            <a:r>
              <a:rPr sz="2789" spc="133" dirty="0">
                <a:latin typeface="Calibri"/>
                <a:cs typeface="Calibri"/>
              </a:rPr>
              <a:t>(</a:t>
            </a:r>
            <a:r>
              <a:rPr sz="2789" spc="133" dirty="0">
                <a:solidFill>
                  <a:srgbClr val="893EFB"/>
                </a:solidFill>
                <a:latin typeface="Calibri"/>
                <a:cs typeface="Calibri"/>
              </a:rPr>
              <a:t>OBP</a:t>
            </a:r>
            <a:r>
              <a:rPr sz="2789" spc="133" dirty="0">
                <a:latin typeface="Calibri"/>
                <a:cs typeface="Calibri"/>
              </a:rPr>
              <a:t>),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127" dirty="0">
                <a:latin typeface="Calibri"/>
                <a:cs typeface="Calibri"/>
              </a:rPr>
              <a:t>and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70" dirty="0">
                <a:latin typeface="Calibri"/>
                <a:cs typeface="Calibri"/>
              </a:rPr>
              <a:t>sample-</a:t>
            </a:r>
            <a:r>
              <a:rPr sz="2789" spc="138" dirty="0">
                <a:latin typeface="Calibri"/>
                <a:cs typeface="Calibri"/>
              </a:rPr>
              <a:t>based </a:t>
            </a:r>
            <a:r>
              <a:rPr sz="2789" spc="115" dirty="0">
                <a:latin typeface="Calibri"/>
                <a:cs typeface="Calibri"/>
              </a:rPr>
              <a:t>quantum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79" dirty="0">
                <a:latin typeface="Calibri"/>
                <a:cs typeface="Calibri"/>
              </a:rPr>
              <a:t>diagonalization</a:t>
            </a:r>
            <a:r>
              <a:rPr sz="2789" spc="55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(</a:t>
            </a:r>
            <a:r>
              <a:rPr sz="2789" spc="103" dirty="0">
                <a:solidFill>
                  <a:srgbClr val="893EFB"/>
                </a:solidFill>
                <a:latin typeface="Calibri"/>
                <a:cs typeface="Calibri"/>
              </a:rPr>
              <a:t>SQD</a:t>
            </a:r>
            <a:r>
              <a:rPr sz="2789" spc="103" dirty="0">
                <a:latin typeface="Calibri"/>
                <a:cs typeface="Calibri"/>
              </a:rPr>
              <a:t>).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891" y="7722098"/>
            <a:ext cx="231500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15" dirty="0">
                <a:latin typeface="Calibri"/>
                <a:cs typeface="Calibri"/>
              </a:rPr>
              <a:t>Domain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inputs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891" y="9131142"/>
            <a:ext cx="3133655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1" dirty="0">
                <a:latin typeface="Calibri"/>
                <a:cs typeface="Calibri"/>
              </a:rPr>
              <a:t>Circuits,</a:t>
            </a:r>
            <a:r>
              <a:rPr sz="2789" spc="103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52604" y="7722098"/>
            <a:ext cx="3130575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1" dirty="0">
                <a:latin typeface="Calibri"/>
                <a:cs typeface="Calibri"/>
              </a:rPr>
              <a:t>Circuits,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52604" y="9131142"/>
            <a:ext cx="356030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267" dirty="0">
                <a:latin typeface="Calibri"/>
                <a:cs typeface="Calibri"/>
              </a:rPr>
              <a:t>ISA</a:t>
            </a:r>
            <a:r>
              <a:rPr sz="2789" spc="67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circuit,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57446" y="7722098"/>
            <a:ext cx="356646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267" dirty="0">
                <a:latin typeface="Calibri"/>
                <a:cs typeface="Calibri"/>
              </a:rPr>
              <a:t>ISA</a:t>
            </a:r>
            <a:r>
              <a:rPr sz="2789" spc="79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circuit,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57446" y="9131142"/>
            <a:ext cx="427498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09" dirty="0">
                <a:latin typeface="Calibri"/>
                <a:cs typeface="Calibri"/>
              </a:rPr>
              <a:t>Expectation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value/samples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63809" y="7722098"/>
            <a:ext cx="427729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03" dirty="0">
                <a:latin typeface="Calibri"/>
                <a:cs typeface="Calibri"/>
              </a:rPr>
              <a:t>Expectation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value/samples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63809" y="9131142"/>
            <a:ext cx="422107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7" dirty="0">
                <a:latin typeface="Calibri"/>
                <a:cs typeface="Calibri"/>
              </a:rPr>
              <a:t>Data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79" dirty="0">
                <a:latin typeface="Calibri"/>
                <a:cs typeface="Calibri"/>
              </a:rPr>
              <a:t>objects/visualizations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6625" y="6324636"/>
            <a:ext cx="4958862" cy="844832"/>
            <a:chOff x="473434" y="5214896"/>
            <a:chExt cx="4088765" cy="696595"/>
          </a:xfrm>
        </p:grpSpPr>
        <p:sp>
          <p:nvSpPr>
            <p:cNvPr id="26" name="object 26"/>
            <p:cNvSpPr/>
            <p:nvPr/>
          </p:nvSpPr>
          <p:spPr>
            <a:xfrm>
              <a:off x="47866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63" y="0"/>
                  </a:lnTo>
                  <a:lnTo>
                    <a:pt x="33144" y="4264"/>
                  </a:lnTo>
                  <a:lnTo>
                    <a:pt x="15895" y="15900"/>
                  </a:lnTo>
                  <a:lnTo>
                    <a:pt x="4265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5" y="652840"/>
                  </a:lnTo>
                  <a:lnTo>
                    <a:pt x="15895" y="670079"/>
                  </a:lnTo>
                  <a:lnTo>
                    <a:pt x="33144" y="681703"/>
                  </a:lnTo>
                  <a:lnTo>
                    <a:pt x="54263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7" name="object 27"/>
            <p:cNvSpPr/>
            <p:nvPr/>
          </p:nvSpPr>
          <p:spPr>
            <a:xfrm>
              <a:off x="47866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5" y="33170"/>
                  </a:lnTo>
                  <a:lnTo>
                    <a:pt x="15895" y="15900"/>
                  </a:lnTo>
                  <a:lnTo>
                    <a:pt x="33144" y="4264"/>
                  </a:lnTo>
                  <a:lnTo>
                    <a:pt x="54263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63" y="685966"/>
                  </a:lnTo>
                  <a:lnTo>
                    <a:pt x="33144" y="681703"/>
                  </a:lnTo>
                  <a:lnTo>
                    <a:pt x="15895" y="670079"/>
                  </a:lnTo>
                  <a:lnTo>
                    <a:pt x="4265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7277" y="6496077"/>
            <a:ext cx="3177553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79" dirty="0">
                <a:latin typeface="Calibri"/>
                <a:cs typeface="Calibri"/>
              </a:rPr>
              <a:t>Qiskit</a:t>
            </a:r>
            <a:r>
              <a:rPr sz="2789" spc="85" dirty="0">
                <a:latin typeface="Calibri"/>
                <a:cs typeface="Calibri"/>
              </a:rPr>
              <a:t> Circuit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Library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665340" y="6324636"/>
            <a:ext cx="4958862" cy="844832"/>
            <a:chOff x="5493805" y="5214896"/>
            <a:chExt cx="4088765" cy="696595"/>
          </a:xfrm>
        </p:grpSpPr>
        <p:sp>
          <p:nvSpPr>
            <p:cNvPr id="30" name="object 30"/>
            <p:cNvSpPr/>
            <p:nvPr/>
          </p:nvSpPr>
          <p:spPr>
            <a:xfrm>
              <a:off x="5499040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1" name="object 31"/>
            <p:cNvSpPr/>
            <p:nvPr/>
          </p:nvSpPr>
          <p:spPr>
            <a:xfrm>
              <a:off x="5499040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2" name="object 32"/>
            <p:cNvSpPr/>
            <p:nvPr/>
          </p:nvSpPr>
          <p:spPr>
            <a:xfrm>
              <a:off x="5499040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9040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76625" y="5373845"/>
            <a:ext cx="4958862" cy="844832"/>
            <a:chOff x="473434" y="4430934"/>
            <a:chExt cx="4088765" cy="696595"/>
          </a:xfrm>
        </p:grpSpPr>
        <p:sp>
          <p:nvSpPr>
            <p:cNvPr id="35" name="object 35"/>
            <p:cNvSpPr/>
            <p:nvPr/>
          </p:nvSpPr>
          <p:spPr>
            <a:xfrm>
              <a:off x="478669" y="44361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63" y="0"/>
                  </a:lnTo>
                  <a:lnTo>
                    <a:pt x="33144" y="4264"/>
                  </a:lnTo>
                  <a:lnTo>
                    <a:pt x="15895" y="15900"/>
                  </a:lnTo>
                  <a:lnTo>
                    <a:pt x="4265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5" y="652840"/>
                  </a:lnTo>
                  <a:lnTo>
                    <a:pt x="15895" y="670079"/>
                  </a:lnTo>
                  <a:lnTo>
                    <a:pt x="33144" y="681703"/>
                  </a:lnTo>
                  <a:lnTo>
                    <a:pt x="54263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6" name="object 36"/>
            <p:cNvSpPr/>
            <p:nvPr/>
          </p:nvSpPr>
          <p:spPr>
            <a:xfrm>
              <a:off x="478669" y="44361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5" y="33170"/>
                  </a:lnTo>
                  <a:lnTo>
                    <a:pt x="15895" y="15900"/>
                  </a:lnTo>
                  <a:lnTo>
                    <a:pt x="33144" y="4264"/>
                  </a:lnTo>
                  <a:lnTo>
                    <a:pt x="54263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63" y="685966"/>
                  </a:lnTo>
                  <a:lnTo>
                    <a:pt x="33144" y="681703"/>
                  </a:lnTo>
                  <a:lnTo>
                    <a:pt x="15895" y="670079"/>
                  </a:lnTo>
                  <a:lnTo>
                    <a:pt x="4265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67278" y="5547762"/>
            <a:ext cx="729312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85" dirty="0">
                <a:latin typeface="Calibri"/>
                <a:cs typeface="Calibri"/>
              </a:rPr>
              <a:t>MPF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665340" y="5373845"/>
            <a:ext cx="4958862" cy="844832"/>
            <a:chOff x="5493805" y="4430934"/>
            <a:chExt cx="4088765" cy="696595"/>
          </a:xfrm>
        </p:grpSpPr>
        <p:sp>
          <p:nvSpPr>
            <p:cNvPr id="39" name="object 39"/>
            <p:cNvSpPr/>
            <p:nvPr/>
          </p:nvSpPr>
          <p:spPr>
            <a:xfrm>
              <a:off x="5499040" y="44361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0" name="object 40"/>
            <p:cNvSpPr/>
            <p:nvPr/>
          </p:nvSpPr>
          <p:spPr>
            <a:xfrm>
              <a:off x="5499040" y="44361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854747" y="5547762"/>
            <a:ext cx="2211811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85" dirty="0">
                <a:latin typeface="Calibri"/>
                <a:cs typeface="Calibri"/>
              </a:rPr>
              <a:t>Circuit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55" dirty="0">
                <a:latin typeface="Calibri"/>
                <a:cs typeface="Calibri"/>
              </a:rPr>
              <a:t>cutting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8888481" y="4395628"/>
            <a:ext cx="4958862" cy="844832"/>
            <a:chOff x="15572238" y="3624358"/>
            <a:chExt cx="4088765" cy="696595"/>
          </a:xfrm>
        </p:grpSpPr>
        <p:sp>
          <p:nvSpPr>
            <p:cNvPr id="43" name="object 43"/>
            <p:cNvSpPr/>
            <p:nvPr/>
          </p:nvSpPr>
          <p:spPr>
            <a:xfrm>
              <a:off x="15577473" y="3629593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4" name="object 44"/>
            <p:cNvSpPr/>
            <p:nvPr/>
          </p:nvSpPr>
          <p:spPr>
            <a:xfrm>
              <a:off x="15577473" y="3629593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9088558" y="4569290"/>
            <a:ext cx="716990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133" dirty="0">
                <a:latin typeface="Calibri"/>
                <a:cs typeface="Calibri"/>
              </a:rPr>
              <a:t>SQD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76625" y="4423055"/>
            <a:ext cx="4958862" cy="844832"/>
            <a:chOff x="473434" y="3646972"/>
            <a:chExt cx="4088765" cy="696595"/>
          </a:xfrm>
        </p:grpSpPr>
        <p:sp>
          <p:nvSpPr>
            <p:cNvPr id="47" name="object 47"/>
            <p:cNvSpPr/>
            <p:nvPr/>
          </p:nvSpPr>
          <p:spPr>
            <a:xfrm>
              <a:off x="478669" y="3652207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63" y="0"/>
                  </a:lnTo>
                  <a:lnTo>
                    <a:pt x="33144" y="4264"/>
                  </a:lnTo>
                  <a:lnTo>
                    <a:pt x="15895" y="15900"/>
                  </a:lnTo>
                  <a:lnTo>
                    <a:pt x="4265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5" y="652840"/>
                  </a:lnTo>
                  <a:lnTo>
                    <a:pt x="15895" y="670079"/>
                  </a:lnTo>
                  <a:lnTo>
                    <a:pt x="33144" y="681703"/>
                  </a:lnTo>
                  <a:lnTo>
                    <a:pt x="54263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893EFB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8" name="object 48"/>
            <p:cNvSpPr/>
            <p:nvPr/>
          </p:nvSpPr>
          <p:spPr>
            <a:xfrm>
              <a:off x="478669" y="3652207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5" y="33170"/>
                  </a:lnTo>
                  <a:lnTo>
                    <a:pt x="15895" y="15900"/>
                  </a:lnTo>
                  <a:lnTo>
                    <a:pt x="33144" y="4264"/>
                  </a:lnTo>
                  <a:lnTo>
                    <a:pt x="54263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63" y="685966"/>
                  </a:lnTo>
                  <a:lnTo>
                    <a:pt x="33144" y="681703"/>
                  </a:lnTo>
                  <a:lnTo>
                    <a:pt x="15895" y="670079"/>
                  </a:lnTo>
                  <a:lnTo>
                    <a:pt x="4265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67277" y="4598559"/>
            <a:ext cx="1923783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152" dirty="0">
                <a:solidFill>
                  <a:srgbClr val="FFFFFF"/>
                </a:solidFill>
                <a:latin typeface="Calibri"/>
                <a:cs typeface="Calibri"/>
              </a:rPr>
              <a:t>AQC-</a:t>
            </a:r>
            <a:r>
              <a:rPr sz="2789" spc="91" dirty="0">
                <a:solidFill>
                  <a:srgbClr val="FFFFFF"/>
                </a:solidFill>
                <a:latin typeface="Calibri"/>
                <a:cs typeface="Calibri"/>
              </a:rPr>
              <a:t>Tensor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4891" y="1658906"/>
            <a:ext cx="7646612" cy="140759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9800"/>
              </a:lnSpc>
              <a:spcBef>
                <a:spcPts val="115"/>
              </a:spcBef>
            </a:pPr>
            <a:r>
              <a:rPr sz="2789" spc="138" dirty="0">
                <a:latin typeface="Calibri"/>
                <a:cs typeface="Calibri"/>
              </a:rPr>
              <a:t>A</a:t>
            </a:r>
            <a:r>
              <a:rPr sz="2789" spc="73" dirty="0">
                <a:latin typeface="Calibri"/>
                <a:cs typeface="Calibri"/>
              </a:rPr>
              <a:t> </a:t>
            </a:r>
            <a:r>
              <a:rPr sz="2789" spc="85" dirty="0">
                <a:latin typeface="Calibri"/>
                <a:cs typeface="Calibri"/>
              </a:rPr>
              <a:t>collection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61" dirty="0">
                <a:latin typeface="Calibri"/>
                <a:cs typeface="Calibri"/>
              </a:rPr>
              <a:t>of</a:t>
            </a:r>
            <a:r>
              <a:rPr sz="2789" spc="24" dirty="0">
                <a:latin typeface="Calibri"/>
                <a:cs typeface="Calibri"/>
              </a:rPr>
              <a:t> </a:t>
            </a:r>
            <a:r>
              <a:rPr sz="2789" spc="115" dirty="0">
                <a:latin typeface="Calibri"/>
                <a:cs typeface="Calibri"/>
              </a:rPr>
              <a:t>research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capabilities</a:t>
            </a:r>
            <a:r>
              <a:rPr sz="2789" spc="-12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developed </a:t>
            </a:r>
            <a:r>
              <a:rPr sz="2789" spc="170" dirty="0">
                <a:latin typeface="Calibri"/>
                <a:cs typeface="Calibri"/>
              </a:rPr>
              <a:t>as</a:t>
            </a:r>
            <a:r>
              <a:rPr sz="2789" spc="67" dirty="0">
                <a:latin typeface="Calibri"/>
                <a:cs typeface="Calibri"/>
              </a:rPr>
              <a:t> </a:t>
            </a:r>
            <a:r>
              <a:rPr sz="2789" spc="115" dirty="0">
                <a:latin typeface="Calibri"/>
                <a:cs typeface="Calibri"/>
              </a:rPr>
              <a:t>modular</a:t>
            </a:r>
            <a:r>
              <a:rPr sz="2789" spc="49" dirty="0">
                <a:latin typeface="Calibri"/>
                <a:cs typeface="Calibri"/>
              </a:rPr>
              <a:t> </a:t>
            </a:r>
            <a:r>
              <a:rPr sz="2789" spc="85" dirty="0">
                <a:latin typeface="Calibri"/>
                <a:cs typeface="Calibri"/>
              </a:rPr>
              <a:t>tools</a:t>
            </a:r>
            <a:r>
              <a:rPr sz="2789" dirty="0">
                <a:latin typeface="Calibri"/>
                <a:cs typeface="Calibri"/>
              </a:rPr>
              <a:t> </a:t>
            </a:r>
            <a:r>
              <a:rPr sz="2789" spc="61" dirty="0">
                <a:latin typeface="Calibri"/>
                <a:cs typeface="Calibri"/>
              </a:rPr>
              <a:t>that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152" dirty="0">
                <a:latin typeface="Calibri"/>
                <a:cs typeface="Calibri"/>
              </a:rPr>
              <a:t>can</a:t>
            </a:r>
            <a:r>
              <a:rPr sz="2789" spc="49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plug</a:t>
            </a:r>
            <a:r>
              <a:rPr sz="2789" spc="73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into</a:t>
            </a:r>
            <a:r>
              <a:rPr sz="2789" spc="73" dirty="0">
                <a:latin typeface="Calibri"/>
                <a:cs typeface="Calibri"/>
              </a:rPr>
              <a:t> </a:t>
            </a:r>
            <a:r>
              <a:rPr sz="2789" spc="146" dirty="0">
                <a:latin typeface="Calibri"/>
                <a:cs typeface="Calibri"/>
              </a:rPr>
              <a:t>a</a:t>
            </a:r>
            <a:r>
              <a:rPr sz="2789" spc="6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workflow</a:t>
            </a:r>
            <a:r>
              <a:rPr sz="2789" spc="91" dirty="0">
                <a:latin typeface="Calibri"/>
                <a:cs typeface="Calibri"/>
              </a:rPr>
              <a:t> </a:t>
            </a:r>
            <a:r>
              <a:rPr sz="2789" spc="-30" dirty="0">
                <a:latin typeface="Calibri"/>
                <a:cs typeface="Calibri"/>
              </a:rPr>
              <a:t>to </a:t>
            </a:r>
            <a:r>
              <a:rPr sz="2789" spc="127" dirty="0">
                <a:latin typeface="Calibri"/>
                <a:cs typeface="Calibri"/>
              </a:rPr>
              <a:t>design</a:t>
            </a:r>
            <a:r>
              <a:rPr sz="2789" spc="97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new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algorithms</a:t>
            </a:r>
            <a:r>
              <a:rPr sz="2789" spc="127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at</a:t>
            </a:r>
            <a:r>
              <a:rPr sz="2789" spc="91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the</a:t>
            </a:r>
            <a:r>
              <a:rPr sz="2789" spc="158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utility</a:t>
            </a:r>
            <a:r>
              <a:rPr sz="2789" spc="115" dirty="0">
                <a:latin typeface="Calibri"/>
                <a:cs typeface="Calibri"/>
              </a:rPr>
              <a:t> </a:t>
            </a:r>
            <a:r>
              <a:rPr sz="2789" spc="121" dirty="0">
                <a:latin typeface="Calibri"/>
                <a:cs typeface="Calibri"/>
              </a:rPr>
              <a:t>scale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54747" y="6496077"/>
            <a:ext cx="1620352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97" dirty="0">
                <a:latin typeface="Calibri"/>
                <a:cs typeface="Calibri"/>
              </a:rPr>
              <a:t>Transpiler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763198" y="6324636"/>
            <a:ext cx="4958862" cy="844832"/>
            <a:chOff x="10521715" y="5214896"/>
            <a:chExt cx="4088765" cy="696595"/>
          </a:xfrm>
        </p:grpSpPr>
        <p:sp>
          <p:nvSpPr>
            <p:cNvPr id="53" name="object 53"/>
            <p:cNvSpPr/>
            <p:nvPr/>
          </p:nvSpPr>
          <p:spPr>
            <a:xfrm>
              <a:off x="1052694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54" name="object 54"/>
            <p:cNvSpPr/>
            <p:nvPr/>
          </p:nvSpPr>
          <p:spPr>
            <a:xfrm>
              <a:off x="10526949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2959844" y="6496077"/>
            <a:ext cx="1590317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85" dirty="0">
                <a:latin typeface="Calibri"/>
                <a:cs typeface="Calibri"/>
              </a:rPr>
              <a:t>Primitives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8870197" y="6324636"/>
            <a:ext cx="4958862" cy="844832"/>
            <a:chOff x="15557162" y="5214896"/>
            <a:chExt cx="4088765" cy="696595"/>
          </a:xfrm>
        </p:grpSpPr>
        <p:sp>
          <p:nvSpPr>
            <p:cNvPr id="57" name="object 57"/>
            <p:cNvSpPr/>
            <p:nvPr/>
          </p:nvSpPr>
          <p:spPr>
            <a:xfrm>
              <a:off x="15562396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58" name="object 58"/>
            <p:cNvSpPr/>
            <p:nvPr/>
          </p:nvSpPr>
          <p:spPr>
            <a:xfrm>
              <a:off x="15562396" y="5220131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9065955" y="6496077"/>
            <a:ext cx="2221823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97" dirty="0">
                <a:latin typeface="Calibri"/>
                <a:cs typeface="Calibri"/>
              </a:rPr>
              <a:t>Quantum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15" dirty="0">
                <a:latin typeface="Calibri"/>
                <a:cs typeface="Calibri"/>
              </a:rPr>
              <a:t>Info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8888481" y="5373845"/>
            <a:ext cx="4958862" cy="844832"/>
            <a:chOff x="15572238" y="4430934"/>
            <a:chExt cx="4088765" cy="696595"/>
          </a:xfrm>
        </p:grpSpPr>
        <p:sp>
          <p:nvSpPr>
            <p:cNvPr id="61" name="object 61"/>
            <p:cNvSpPr/>
            <p:nvPr/>
          </p:nvSpPr>
          <p:spPr>
            <a:xfrm>
              <a:off x="15577473" y="44361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62" name="object 62"/>
            <p:cNvSpPr/>
            <p:nvPr/>
          </p:nvSpPr>
          <p:spPr>
            <a:xfrm>
              <a:off x="15577473" y="44361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5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9086398" y="5547762"/>
            <a:ext cx="525228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-30" dirty="0">
                <a:latin typeface="Calibri"/>
                <a:cs typeface="Calibri"/>
              </a:rPr>
              <a:t>M3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665340" y="4413913"/>
            <a:ext cx="4958862" cy="844832"/>
            <a:chOff x="5493805" y="3639434"/>
            <a:chExt cx="4088765" cy="696595"/>
          </a:xfrm>
        </p:grpSpPr>
        <p:sp>
          <p:nvSpPr>
            <p:cNvPr id="65" name="object 65"/>
            <p:cNvSpPr/>
            <p:nvPr/>
          </p:nvSpPr>
          <p:spPr>
            <a:xfrm>
              <a:off x="5499040" y="36446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66" name="object 66"/>
            <p:cNvSpPr/>
            <p:nvPr/>
          </p:nvSpPr>
          <p:spPr>
            <a:xfrm>
              <a:off x="5499040" y="3644669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854748" y="4584973"/>
            <a:ext cx="720071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158" dirty="0">
                <a:latin typeface="Calibri"/>
                <a:cs typeface="Calibri"/>
              </a:rPr>
              <a:t>OBP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5432" y="12922725"/>
            <a:ext cx="2273421" cy="259026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1577" spc="-97" dirty="0">
                <a:latin typeface="Calibri"/>
                <a:cs typeface="Calibri"/>
              </a:rPr>
              <a:t>©</a:t>
            </a:r>
            <a:r>
              <a:rPr sz="1577" dirty="0">
                <a:latin typeface="Calibri"/>
                <a:cs typeface="Calibri"/>
              </a:rPr>
              <a:t>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67" dirty="0">
                <a:latin typeface="Calibri"/>
                <a:cs typeface="Calibri"/>
              </a:rPr>
              <a:t> </a:t>
            </a:r>
            <a:r>
              <a:rPr sz="1577" spc="121" dirty="0">
                <a:latin typeface="Calibri"/>
                <a:cs typeface="Calibri"/>
              </a:rPr>
              <a:t>IBM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3558211" y="12921772"/>
            <a:ext cx="268775" cy="259026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1577" spc="91" dirty="0">
                <a:latin typeface="Calibri"/>
                <a:cs typeface="Calibri"/>
              </a:rPr>
              <a:t>41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6015503" y="12747752"/>
            <a:ext cx="3849876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38" dirty="0">
                <a:latin typeface="Calibri"/>
                <a:cs typeface="Calibri"/>
              </a:rPr>
              <a:t>Lecture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notes: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u="sng" spc="13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5"/>
              </a:rPr>
              <a:t>Link</a:t>
            </a:r>
            <a:endParaRPr sz="357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894743" y="11002654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5" h="310515">
                <a:moveTo>
                  <a:pt x="310007" y="77584"/>
                </a:moveTo>
                <a:lnTo>
                  <a:pt x="232511" y="77584"/>
                </a:lnTo>
                <a:lnTo>
                  <a:pt x="232511" y="99745"/>
                </a:lnTo>
                <a:lnTo>
                  <a:pt x="272249" y="99745"/>
                </a:lnTo>
                <a:lnTo>
                  <a:pt x="188214" y="183870"/>
                </a:lnTo>
                <a:lnTo>
                  <a:pt x="139687" y="135166"/>
                </a:lnTo>
                <a:lnTo>
                  <a:pt x="135775" y="133223"/>
                </a:lnTo>
                <a:lnTo>
                  <a:pt x="131394" y="132930"/>
                </a:lnTo>
                <a:lnTo>
                  <a:pt x="127254" y="134353"/>
                </a:lnTo>
                <a:lnTo>
                  <a:pt x="124993" y="136207"/>
                </a:lnTo>
                <a:lnTo>
                  <a:pt x="44284" y="217119"/>
                </a:lnTo>
                <a:lnTo>
                  <a:pt x="59893" y="232752"/>
                </a:lnTo>
                <a:lnTo>
                  <a:pt x="132867" y="159702"/>
                </a:lnTo>
                <a:lnTo>
                  <a:pt x="181394" y="208407"/>
                </a:lnTo>
                <a:lnTo>
                  <a:pt x="185305" y="210350"/>
                </a:lnTo>
                <a:lnTo>
                  <a:pt x="189687" y="210642"/>
                </a:lnTo>
                <a:lnTo>
                  <a:pt x="193827" y="209232"/>
                </a:lnTo>
                <a:lnTo>
                  <a:pt x="196075" y="207365"/>
                </a:lnTo>
                <a:lnTo>
                  <a:pt x="287870" y="115366"/>
                </a:lnTo>
                <a:lnTo>
                  <a:pt x="287870" y="155168"/>
                </a:lnTo>
                <a:lnTo>
                  <a:pt x="310007" y="155168"/>
                </a:lnTo>
                <a:lnTo>
                  <a:pt x="310007" y="77584"/>
                </a:lnTo>
                <a:close/>
              </a:path>
              <a:path w="310515" h="310515">
                <a:moveTo>
                  <a:pt x="310019" y="288163"/>
                </a:moveTo>
                <a:lnTo>
                  <a:pt x="22148" y="288163"/>
                </a:lnTo>
                <a:lnTo>
                  <a:pt x="22148" y="0"/>
                </a:lnTo>
                <a:lnTo>
                  <a:pt x="0" y="0"/>
                </a:lnTo>
                <a:lnTo>
                  <a:pt x="0" y="294043"/>
                </a:lnTo>
                <a:lnTo>
                  <a:pt x="2336" y="299681"/>
                </a:lnTo>
                <a:lnTo>
                  <a:pt x="10642" y="307987"/>
                </a:lnTo>
                <a:lnTo>
                  <a:pt x="16268" y="310324"/>
                </a:lnTo>
                <a:lnTo>
                  <a:pt x="310019" y="310324"/>
                </a:lnTo>
                <a:lnTo>
                  <a:pt x="310019" y="288163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grpSp>
        <p:nvGrpSpPr>
          <p:cNvPr id="3" name="object 3"/>
          <p:cNvGrpSpPr/>
          <p:nvPr/>
        </p:nvGrpSpPr>
        <p:grpSpPr>
          <a:xfrm>
            <a:off x="12796323" y="11029527"/>
            <a:ext cx="335776" cy="349639"/>
            <a:chOff x="10549028" y="9094254"/>
            <a:chExt cx="276860" cy="288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8776" y="9205085"/>
              <a:ext cx="177048" cy="1772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549026" y="9094256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221424" y="199504"/>
                  </a:moveTo>
                  <a:lnTo>
                    <a:pt x="166065" y="166255"/>
                  </a:lnTo>
                  <a:lnTo>
                    <a:pt x="166065" y="232752"/>
                  </a:lnTo>
                  <a:lnTo>
                    <a:pt x="221424" y="199504"/>
                  </a:lnTo>
                  <a:close/>
                </a:path>
                <a:path w="266065" h="266065">
                  <a:moveTo>
                    <a:pt x="265722" y="16294"/>
                  </a:moveTo>
                  <a:lnTo>
                    <a:pt x="263385" y="10642"/>
                  </a:lnTo>
                  <a:lnTo>
                    <a:pt x="255066" y="2336"/>
                  </a:lnTo>
                  <a:lnTo>
                    <a:pt x="249453" y="0"/>
                  </a:lnTo>
                  <a:lnTo>
                    <a:pt x="243573" y="0"/>
                  </a:lnTo>
                  <a:lnTo>
                    <a:pt x="243573" y="22174"/>
                  </a:lnTo>
                  <a:lnTo>
                    <a:pt x="243573" y="66497"/>
                  </a:lnTo>
                  <a:lnTo>
                    <a:pt x="22136" y="66497"/>
                  </a:lnTo>
                  <a:lnTo>
                    <a:pt x="22136" y="22174"/>
                  </a:lnTo>
                  <a:lnTo>
                    <a:pt x="243573" y="22174"/>
                  </a:lnTo>
                  <a:lnTo>
                    <a:pt x="243573" y="0"/>
                  </a:lnTo>
                  <a:lnTo>
                    <a:pt x="16268" y="0"/>
                  </a:lnTo>
                  <a:lnTo>
                    <a:pt x="10629" y="2336"/>
                  </a:lnTo>
                  <a:lnTo>
                    <a:pt x="2324" y="10642"/>
                  </a:lnTo>
                  <a:lnTo>
                    <a:pt x="0" y="16294"/>
                  </a:lnTo>
                  <a:lnTo>
                    <a:pt x="0" y="249720"/>
                  </a:lnTo>
                  <a:lnTo>
                    <a:pt x="2324" y="255358"/>
                  </a:lnTo>
                  <a:lnTo>
                    <a:pt x="10629" y="263664"/>
                  </a:lnTo>
                  <a:lnTo>
                    <a:pt x="16268" y="266001"/>
                  </a:lnTo>
                  <a:lnTo>
                    <a:pt x="66421" y="266001"/>
                  </a:lnTo>
                  <a:lnTo>
                    <a:pt x="66421" y="243840"/>
                  </a:lnTo>
                  <a:lnTo>
                    <a:pt x="22136" y="243840"/>
                  </a:lnTo>
                  <a:lnTo>
                    <a:pt x="22136" y="88671"/>
                  </a:lnTo>
                  <a:lnTo>
                    <a:pt x="265722" y="88671"/>
                  </a:lnTo>
                  <a:lnTo>
                    <a:pt x="265722" y="66497"/>
                  </a:lnTo>
                  <a:lnTo>
                    <a:pt x="265722" y="22174"/>
                  </a:lnTo>
                  <a:lnTo>
                    <a:pt x="265722" y="1629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740" y="11002645"/>
            <a:ext cx="376564" cy="37636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708181" y="11002645"/>
            <a:ext cx="376593" cy="376593"/>
          </a:xfrm>
          <a:custGeom>
            <a:avLst/>
            <a:gdLst/>
            <a:ahLst/>
            <a:cxnLst/>
            <a:rect l="l" t="t" r="r" b="b"/>
            <a:pathLst>
              <a:path w="310514" h="310515">
                <a:moveTo>
                  <a:pt x="243574" y="0"/>
                </a:moveTo>
                <a:lnTo>
                  <a:pt x="227962" y="15634"/>
                </a:lnTo>
                <a:lnTo>
                  <a:pt x="267613" y="55413"/>
                </a:lnTo>
                <a:lnTo>
                  <a:pt x="190561" y="55425"/>
                </a:lnTo>
                <a:lnTo>
                  <a:pt x="186879" y="56386"/>
                </a:lnTo>
                <a:lnTo>
                  <a:pt x="180336" y="60030"/>
                </a:lnTo>
                <a:lnTo>
                  <a:pt x="177579" y="62651"/>
                </a:lnTo>
                <a:lnTo>
                  <a:pt x="132859" y="134214"/>
                </a:lnTo>
                <a:lnTo>
                  <a:pt x="88135" y="62651"/>
                </a:lnTo>
                <a:lnTo>
                  <a:pt x="85378" y="60030"/>
                </a:lnTo>
                <a:lnTo>
                  <a:pt x="78835" y="56386"/>
                </a:lnTo>
                <a:lnTo>
                  <a:pt x="75153" y="55425"/>
                </a:lnTo>
                <a:lnTo>
                  <a:pt x="0" y="55413"/>
                </a:lnTo>
                <a:lnTo>
                  <a:pt x="0" y="77580"/>
                </a:lnTo>
                <a:lnTo>
                  <a:pt x="71410" y="77580"/>
                </a:lnTo>
                <a:lnTo>
                  <a:pt x="119794" y="155163"/>
                </a:lnTo>
                <a:lnTo>
                  <a:pt x="71410" y="232747"/>
                </a:lnTo>
                <a:lnTo>
                  <a:pt x="0" y="232747"/>
                </a:lnTo>
                <a:lnTo>
                  <a:pt x="0" y="254914"/>
                </a:lnTo>
                <a:lnTo>
                  <a:pt x="75154" y="254902"/>
                </a:lnTo>
                <a:lnTo>
                  <a:pt x="132859" y="176110"/>
                </a:lnTo>
                <a:lnTo>
                  <a:pt x="177579" y="247673"/>
                </a:lnTo>
                <a:lnTo>
                  <a:pt x="180337" y="250297"/>
                </a:lnTo>
                <a:lnTo>
                  <a:pt x="186879" y="253941"/>
                </a:lnTo>
                <a:lnTo>
                  <a:pt x="190561" y="254902"/>
                </a:lnTo>
                <a:lnTo>
                  <a:pt x="267613" y="254914"/>
                </a:lnTo>
                <a:lnTo>
                  <a:pt x="227962" y="294701"/>
                </a:lnTo>
                <a:lnTo>
                  <a:pt x="243575" y="310330"/>
                </a:lnTo>
                <a:lnTo>
                  <a:pt x="310010" y="243830"/>
                </a:lnTo>
                <a:lnTo>
                  <a:pt x="243574" y="177330"/>
                </a:lnTo>
                <a:lnTo>
                  <a:pt x="227962" y="192956"/>
                </a:lnTo>
                <a:lnTo>
                  <a:pt x="267613" y="232747"/>
                </a:lnTo>
                <a:lnTo>
                  <a:pt x="194304" y="232747"/>
                </a:lnTo>
                <a:lnTo>
                  <a:pt x="145923" y="155163"/>
                </a:lnTo>
                <a:lnTo>
                  <a:pt x="194304" y="77580"/>
                </a:lnTo>
                <a:lnTo>
                  <a:pt x="267613" y="77580"/>
                </a:lnTo>
                <a:lnTo>
                  <a:pt x="227962" y="117368"/>
                </a:lnTo>
                <a:lnTo>
                  <a:pt x="243574" y="132997"/>
                </a:lnTo>
                <a:lnTo>
                  <a:pt x="310010" y="66497"/>
                </a:lnTo>
                <a:lnTo>
                  <a:pt x="243574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8" name="object 8"/>
          <p:cNvSpPr/>
          <p:nvPr/>
        </p:nvSpPr>
        <p:spPr>
          <a:xfrm>
            <a:off x="582973" y="10444980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9" name="object 9"/>
          <p:cNvSpPr/>
          <p:nvPr/>
        </p:nvSpPr>
        <p:spPr>
          <a:xfrm>
            <a:off x="6671689" y="10444980"/>
            <a:ext cx="4942688" cy="0"/>
          </a:xfrm>
          <a:custGeom>
            <a:avLst/>
            <a:gdLst/>
            <a:ahLst/>
            <a:cxnLst/>
            <a:rect l="l" t="t" r="r" b="b"/>
            <a:pathLst>
              <a:path w="4075429">
                <a:moveTo>
                  <a:pt x="0" y="0"/>
                </a:moveTo>
                <a:lnTo>
                  <a:pt x="4075282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0" name="object 10"/>
          <p:cNvSpPr/>
          <p:nvPr/>
        </p:nvSpPr>
        <p:spPr>
          <a:xfrm>
            <a:off x="12732977" y="10444980"/>
            <a:ext cx="5025093" cy="0"/>
          </a:xfrm>
          <a:custGeom>
            <a:avLst/>
            <a:gdLst/>
            <a:ahLst/>
            <a:cxnLst/>
            <a:rect l="l" t="t" r="r" b="b"/>
            <a:pathLst>
              <a:path w="4143375">
                <a:moveTo>
                  <a:pt x="0" y="0"/>
                </a:moveTo>
                <a:lnTo>
                  <a:pt x="4143125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1" name="object 11"/>
          <p:cNvSpPr/>
          <p:nvPr/>
        </p:nvSpPr>
        <p:spPr>
          <a:xfrm>
            <a:off x="18867403" y="10444980"/>
            <a:ext cx="4953471" cy="0"/>
          </a:xfrm>
          <a:custGeom>
            <a:avLst/>
            <a:gdLst/>
            <a:ahLst/>
            <a:cxnLst/>
            <a:rect l="l" t="t" r="r" b="b"/>
            <a:pathLst>
              <a:path w="4084319">
                <a:moveTo>
                  <a:pt x="0" y="0"/>
                </a:moveTo>
                <a:lnTo>
                  <a:pt x="4084286" y="0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2" name="object 12"/>
          <p:cNvSpPr txBox="1"/>
          <p:nvPr/>
        </p:nvSpPr>
        <p:spPr>
          <a:xfrm>
            <a:off x="564891" y="7650738"/>
            <a:ext cx="231500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15" dirty="0">
                <a:latin typeface="Calibri"/>
                <a:cs typeface="Calibri"/>
              </a:rPr>
              <a:t>Domain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inputs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891" y="9059401"/>
            <a:ext cx="3133655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1" dirty="0">
                <a:latin typeface="Calibri"/>
                <a:cs typeface="Calibri"/>
              </a:rPr>
              <a:t>Circuits,</a:t>
            </a:r>
            <a:r>
              <a:rPr sz="2789" spc="103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2604" y="7650738"/>
            <a:ext cx="3130575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1" dirty="0">
                <a:latin typeface="Calibri"/>
                <a:cs typeface="Calibri"/>
              </a:rPr>
              <a:t>Circuits,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2604" y="9059401"/>
            <a:ext cx="356030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267" dirty="0">
                <a:latin typeface="Calibri"/>
                <a:cs typeface="Calibri"/>
              </a:rPr>
              <a:t>ISA</a:t>
            </a:r>
            <a:r>
              <a:rPr sz="2789" spc="67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circuit,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7" dirty="0">
                <a:latin typeface="Calibri"/>
                <a:cs typeface="Calibri"/>
              </a:rPr>
              <a:t>observable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57445" y="7650738"/>
            <a:ext cx="5061289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267" dirty="0">
                <a:latin typeface="Calibri"/>
                <a:cs typeface="Calibri"/>
              </a:rPr>
              <a:t>ISA</a:t>
            </a:r>
            <a:r>
              <a:rPr sz="2789" spc="85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circuit,</a:t>
            </a:r>
            <a:r>
              <a:rPr sz="2789" spc="24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observable,</a:t>
            </a:r>
            <a:r>
              <a:rPr sz="2789" spc="-12" dirty="0">
                <a:latin typeface="Calibri"/>
                <a:cs typeface="Calibri"/>
              </a:rPr>
              <a:t> </a:t>
            </a:r>
            <a:r>
              <a:rPr sz="2789" spc="133" dirty="0">
                <a:latin typeface="Calibri"/>
                <a:cs typeface="Calibri"/>
              </a:rPr>
              <a:t>samplex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57446" y="9059401"/>
            <a:ext cx="427498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09" dirty="0">
                <a:latin typeface="Calibri"/>
                <a:cs typeface="Calibri"/>
              </a:rPr>
              <a:t>Expectation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value/samples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863809" y="7650738"/>
            <a:ext cx="4277297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103" dirty="0">
                <a:latin typeface="Calibri"/>
                <a:cs typeface="Calibri"/>
              </a:rPr>
              <a:t>Input: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103" dirty="0">
                <a:latin typeface="Calibri"/>
                <a:cs typeface="Calibri"/>
              </a:rPr>
              <a:t>Expectation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value/samples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63809" y="9059401"/>
            <a:ext cx="4221078" cy="953680"/>
          </a:xfrm>
          <a:prstGeom prst="rect">
            <a:avLst/>
          </a:prstGeom>
        </p:spPr>
        <p:txBody>
          <a:bodyPr vert="horz" wrap="square" lIns="0" tIns="56219" rIns="0" bIns="0" rtlCol="0">
            <a:spAutoFit/>
          </a:bodyPr>
          <a:lstStyle/>
          <a:p>
            <a:pPr marL="15403">
              <a:spcBef>
                <a:spcPts val="443"/>
              </a:spcBef>
            </a:pPr>
            <a:r>
              <a:rPr sz="2789" spc="42" dirty="0">
                <a:latin typeface="Calibri"/>
                <a:cs typeface="Calibri"/>
              </a:rPr>
              <a:t>Output: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27"/>
              </a:spcBef>
            </a:pPr>
            <a:r>
              <a:rPr sz="2789" spc="97" dirty="0">
                <a:latin typeface="Calibri"/>
                <a:cs typeface="Calibri"/>
              </a:rPr>
              <a:t>Data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79" dirty="0">
                <a:latin typeface="Calibri"/>
                <a:cs typeface="Calibri"/>
              </a:rPr>
              <a:t>objects/visualizations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65340" y="6260640"/>
            <a:ext cx="4958862" cy="844832"/>
            <a:chOff x="5493805" y="5162129"/>
            <a:chExt cx="4088765" cy="696595"/>
          </a:xfrm>
        </p:grpSpPr>
        <p:sp>
          <p:nvSpPr>
            <p:cNvPr id="21" name="object 21"/>
            <p:cNvSpPr/>
            <p:nvPr/>
          </p:nvSpPr>
          <p:spPr>
            <a:xfrm>
              <a:off x="5499040" y="5167364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F6F1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9040" y="5167364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0" y="54337"/>
                  </a:moveTo>
                  <a:lnTo>
                    <a:pt x="4263" y="33170"/>
                  </a:lnTo>
                  <a:lnTo>
                    <a:pt x="15887" y="15900"/>
                  </a:lnTo>
                  <a:lnTo>
                    <a:pt x="33126" y="4264"/>
                  </a:lnTo>
                  <a:lnTo>
                    <a:pt x="54232" y="0"/>
                  </a:lnTo>
                  <a:lnTo>
                    <a:pt x="4023877" y="0"/>
                  </a:lnTo>
                  <a:lnTo>
                    <a:pt x="4044983" y="4264"/>
                  </a:lnTo>
                  <a:lnTo>
                    <a:pt x="4062221" y="15900"/>
                  </a:lnTo>
                  <a:lnTo>
                    <a:pt x="4073846" y="33170"/>
                  </a:lnTo>
                  <a:lnTo>
                    <a:pt x="4078109" y="54337"/>
                  </a:lnTo>
                  <a:lnTo>
                    <a:pt x="4078109" y="631734"/>
                  </a:lnTo>
                  <a:lnTo>
                    <a:pt x="4073846" y="652840"/>
                  </a:lnTo>
                  <a:lnTo>
                    <a:pt x="4062221" y="670079"/>
                  </a:lnTo>
                  <a:lnTo>
                    <a:pt x="4044983" y="681703"/>
                  </a:lnTo>
                  <a:lnTo>
                    <a:pt x="4023877" y="685966"/>
                  </a:lnTo>
                  <a:lnTo>
                    <a:pt x="54232" y="685966"/>
                  </a:lnTo>
                  <a:lnTo>
                    <a:pt x="33126" y="681703"/>
                  </a:lnTo>
                  <a:lnTo>
                    <a:pt x="15887" y="670079"/>
                  </a:lnTo>
                  <a:lnTo>
                    <a:pt x="4263" y="652840"/>
                  </a:lnTo>
                  <a:lnTo>
                    <a:pt x="0" y="631734"/>
                  </a:lnTo>
                  <a:lnTo>
                    <a:pt x="0" y="54337"/>
                  </a:lnTo>
                  <a:close/>
                </a:path>
              </a:pathLst>
            </a:custGeom>
            <a:ln w="10469">
              <a:solidFill>
                <a:srgbClr val="893EFB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3" name="object 23"/>
            <p:cNvSpPr/>
            <p:nvPr/>
          </p:nvSpPr>
          <p:spPr>
            <a:xfrm>
              <a:off x="5495271" y="5163595"/>
              <a:ext cx="4078604" cy="686435"/>
            </a:xfrm>
            <a:custGeom>
              <a:avLst/>
              <a:gdLst/>
              <a:ahLst/>
              <a:cxnLst/>
              <a:rect l="l" t="t" r="r" b="b"/>
              <a:pathLst>
                <a:path w="4078604" h="686435">
                  <a:moveTo>
                    <a:pt x="4023877" y="0"/>
                  </a:moveTo>
                  <a:lnTo>
                    <a:pt x="54232" y="0"/>
                  </a:lnTo>
                  <a:lnTo>
                    <a:pt x="33126" y="4264"/>
                  </a:lnTo>
                  <a:lnTo>
                    <a:pt x="15887" y="15900"/>
                  </a:lnTo>
                  <a:lnTo>
                    <a:pt x="4263" y="33170"/>
                  </a:lnTo>
                  <a:lnTo>
                    <a:pt x="0" y="54337"/>
                  </a:lnTo>
                  <a:lnTo>
                    <a:pt x="0" y="631734"/>
                  </a:lnTo>
                  <a:lnTo>
                    <a:pt x="4263" y="652840"/>
                  </a:lnTo>
                  <a:lnTo>
                    <a:pt x="15887" y="670079"/>
                  </a:lnTo>
                  <a:lnTo>
                    <a:pt x="33126" y="681703"/>
                  </a:lnTo>
                  <a:lnTo>
                    <a:pt x="54232" y="685966"/>
                  </a:lnTo>
                  <a:lnTo>
                    <a:pt x="4023877" y="685966"/>
                  </a:lnTo>
                  <a:lnTo>
                    <a:pt x="4044983" y="681703"/>
                  </a:lnTo>
                  <a:lnTo>
                    <a:pt x="4062221" y="670079"/>
                  </a:lnTo>
                  <a:lnTo>
                    <a:pt x="4073846" y="652840"/>
                  </a:lnTo>
                  <a:lnTo>
                    <a:pt x="4078109" y="631734"/>
                  </a:lnTo>
                  <a:lnTo>
                    <a:pt x="4078109" y="54337"/>
                  </a:lnTo>
                  <a:lnTo>
                    <a:pt x="4073846" y="33170"/>
                  </a:lnTo>
                  <a:lnTo>
                    <a:pt x="4062221" y="15900"/>
                  </a:lnTo>
                  <a:lnTo>
                    <a:pt x="4044983" y="4264"/>
                  </a:lnTo>
                  <a:lnTo>
                    <a:pt x="4023877" y="0"/>
                  </a:lnTo>
                  <a:close/>
                </a:path>
              </a:pathLst>
            </a:custGeom>
            <a:solidFill>
              <a:srgbClr val="696F77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4" name="object 24"/>
          <p:cNvSpPr/>
          <p:nvPr/>
        </p:nvSpPr>
        <p:spPr>
          <a:xfrm>
            <a:off x="578401" y="5320770"/>
            <a:ext cx="4946538" cy="823268"/>
          </a:xfrm>
          <a:custGeom>
            <a:avLst/>
            <a:gdLst/>
            <a:ahLst/>
            <a:cxnLst/>
            <a:rect l="l" t="t" r="r" b="b"/>
            <a:pathLst>
              <a:path w="4078604" h="678814">
                <a:moveTo>
                  <a:pt x="4024400" y="0"/>
                </a:moveTo>
                <a:lnTo>
                  <a:pt x="53667" y="0"/>
                </a:lnTo>
                <a:lnTo>
                  <a:pt x="32777" y="4225"/>
                </a:lnTo>
                <a:lnTo>
                  <a:pt x="15718" y="15743"/>
                </a:lnTo>
                <a:lnTo>
                  <a:pt x="4217" y="32817"/>
                </a:lnTo>
                <a:lnTo>
                  <a:pt x="0" y="53708"/>
                </a:lnTo>
                <a:lnTo>
                  <a:pt x="0" y="624824"/>
                </a:lnTo>
                <a:lnTo>
                  <a:pt x="4217" y="645699"/>
                </a:lnTo>
                <a:lnTo>
                  <a:pt x="15718" y="662737"/>
                </a:lnTo>
                <a:lnTo>
                  <a:pt x="32777" y="674219"/>
                </a:lnTo>
                <a:lnTo>
                  <a:pt x="53667" y="678428"/>
                </a:lnTo>
                <a:lnTo>
                  <a:pt x="4024400" y="678428"/>
                </a:lnTo>
                <a:lnTo>
                  <a:pt x="4045292" y="674219"/>
                </a:lnTo>
                <a:lnTo>
                  <a:pt x="4062365" y="662737"/>
                </a:lnTo>
                <a:lnTo>
                  <a:pt x="4073884" y="645699"/>
                </a:lnTo>
                <a:lnTo>
                  <a:pt x="4078109" y="624824"/>
                </a:lnTo>
                <a:lnTo>
                  <a:pt x="4078109" y="53708"/>
                </a:lnTo>
                <a:lnTo>
                  <a:pt x="4073884" y="32817"/>
                </a:lnTo>
                <a:lnTo>
                  <a:pt x="4062365" y="15743"/>
                </a:lnTo>
                <a:lnTo>
                  <a:pt x="4045292" y="4225"/>
                </a:lnTo>
                <a:lnTo>
                  <a:pt x="4024400" y="0"/>
                </a:lnTo>
                <a:close/>
              </a:path>
            </a:pathLst>
          </a:custGeom>
          <a:solidFill>
            <a:srgbClr val="D3BA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25" name="object 25"/>
          <p:cNvSpPr txBox="1"/>
          <p:nvPr/>
        </p:nvSpPr>
        <p:spPr>
          <a:xfrm>
            <a:off x="767277" y="5488782"/>
            <a:ext cx="730082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85" dirty="0">
                <a:latin typeface="Calibri"/>
                <a:cs typeface="Calibri"/>
              </a:rPr>
              <a:t>MPF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890260" y="4342553"/>
            <a:ext cx="4946538" cy="823268"/>
          </a:xfrm>
          <a:custGeom>
            <a:avLst/>
            <a:gdLst/>
            <a:ahLst/>
            <a:cxnLst/>
            <a:rect l="l" t="t" r="r" b="b"/>
            <a:pathLst>
              <a:path w="4078605" h="678814">
                <a:moveTo>
                  <a:pt x="4024400" y="0"/>
                </a:moveTo>
                <a:lnTo>
                  <a:pt x="53708" y="0"/>
                </a:lnTo>
                <a:lnTo>
                  <a:pt x="32817" y="4225"/>
                </a:lnTo>
                <a:lnTo>
                  <a:pt x="15743" y="15743"/>
                </a:lnTo>
                <a:lnTo>
                  <a:pt x="4225" y="32817"/>
                </a:lnTo>
                <a:lnTo>
                  <a:pt x="0" y="53708"/>
                </a:lnTo>
                <a:lnTo>
                  <a:pt x="0" y="624824"/>
                </a:lnTo>
                <a:lnTo>
                  <a:pt x="4225" y="645699"/>
                </a:lnTo>
                <a:lnTo>
                  <a:pt x="15743" y="662737"/>
                </a:lnTo>
                <a:lnTo>
                  <a:pt x="32817" y="674219"/>
                </a:lnTo>
                <a:lnTo>
                  <a:pt x="53708" y="678428"/>
                </a:lnTo>
                <a:lnTo>
                  <a:pt x="4024400" y="678428"/>
                </a:lnTo>
                <a:lnTo>
                  <a:pt x="4045292" y="674219"/>
                </a:lnTo>
                <a:lnTo>
                  <a:pt x="4062365" y="662737"/>
                </a:lnTo>
                <a:lnTo>
                  <a:pt x="4073884" y="645699"/>
                </a:lnTo>
                <a:lnTo>
                  <a:pt x="4078109" y="624824"/>
                </a:lnTo>
                <a:lnTo>
                  <a:pt x="4078109" y="53708"/>
                </a:lnTo>
                <a:lnTo>
                  <a:pt x="4073884" y="32817"/>
                </a:lnTo>
                <a:lnTo>
                  <a:pt x="4062365" y="15743"/>
                </a:lnTo>
                <a:lnTo>
                  <a:pt x="4045292" y="4225"/>
                </a:lnTo>
                <a:lnTo>
                  <a:pt x="4024400" y="0"/>
                </a:lnTo>
                <a:close/>
              </a:path>
            </a:pathLst>
          </a:custGeom>
          <a:solidFill>
            <a:srgbClr val="D3BA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27" name="object 27"/>
          <p:cNvSpPr txBox="1"/>
          <p:nvPr/>
        </p:nvSpPr>
        <p:spPr>
          <a:xfrm>
            <a:off x="19088557" y="4510312"/>
            <a:ext cx="717760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133" dirty="0">
                <a:latin typeface="Calibri"/>
                <a:cs typeface="Calibri"/>
              </a:rPr>
              <a:t>SQD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8401" y="4369979"/>
            <a:ext cx="4946538" cy="832510"/>
          </a:xfrm>
          <a:custGeom>
            <a:avLst/>
            <a:gdLst/>
            <a:ahLst/>
            <a:cxnLst/>
            <a:rect l="l" t="t" r="r" b="b"/>
            <a:pathLst>
              <a:path w="4078604" h="686435">
                <a:moveTo>
                  <a:pt x="4023877" y="0"/>
                </a:moveTo>
                <a:lnTo>
                  <a:pt x="54263" y="0"/>
                </a:lnTo>
                <a:lnTo>
                  <a:pt x="33144" y="4264"/>
                </a:lnTo>
                <a:lnTo>
                  <a:pt x="15895" y="15900"/>
                </a:lnTo>
                <a:lnTo>
                  <a:pt x="4265" y="33170"/>
                </a:lnTo>
                <a:lnTo>
                  <a:pt x="0" y="54337"/>
                </a:lnTo>
                <a:lnTo>
                  <a:pt x="0" y="631734"/>
                </a:lnTo>
                <a:lnTo>
                  <a:pt x="4265" y="652840"/>
                </a:lnTo>
                <a:lnTo>
                  <a:pt x="15895" y="670079"/>
                </a:lnTo>
                <a:lnTo>
                  <a:pt x="33144" y="681703"/>
                </a:lnTo>
                <a:lnTo>
                  <a:pt x="54263" y="685966"/>
                </a:lnTo>
                <a:lnTo>
                  <a:pt x="4023877" y="685966"/>
                </a:lnTo>
                <a:lnTo>
                  <a:pt x="4044983" y="681703"/>
                </a:lnTo>
                <a:lnTo>
                  <a:pt x="4062221" y="670079"/>
                </a:lnTo>
                <a:lnTo>
                  <a:pt x="4073846" y="652840"/>
                </a:lnTo>
                <a:lnTo>
                  <a:pt x="4078109" y="631734"/>
                </a:lnTo>
                <a:lnTo>
                  <a:pt x="4078109" y="54337"/>
                </a:lnTo>
                <a:lnTo>
                  <a:pt x="4073846" y="33170"/>
                </a:lnTo>
                <a:lnTo>
                  <a:pt x="4062221" y="15900"/>
                </a:lnTo>
                <a:lnTo>
                  <a:pt x="4044983" y="4264"/>
                </a:lnTo>
                <a:lnTo>
                  <a:pt x="4023877" y="0"/>
                </a:lnTo>
                <a:close/>
              </a:path>
            </a:pathLst>
          </a:custGeom>
          <a:solidFill>
            <a:srgbClr val="C8A8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29" name="object 29"/>
          <p:cNvSpPr txBox="1"/>
          <p:nvPr/>
        </p:nvSpPr>
        <p:spPr>
          <a:xfrm>
            <a:off x="767277" y="4540594"/>
            <a:ext cx="1923783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158" dirty="0">
                <a:latin typeface="Calibri"/>
                <a:cs typeface="Calibri"/>
              </a:rPr>
              <a:t>AQC-</a:t>
            </a:r>
            <a:r>
              <a:rPr sz="2789" spc="85" dirty="0">
                <a:latin typeface="Calibri"/>
                <a:cs typeface="Calibri"/>
              </a:rPr>
              <a:t>Tensor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8890260" y="5320770"/>
            <a:ext cx="4946538" cy="823268"/>
          </a:xfrm>
          <a:custGeom>
            <a:avLst/>
            <a:gdLst/>
            <a:ahLst/>
            <a:cxnLst/>
            <a:rect l="l" t="t" r="r" b="b"/>
            <a:pathLst>
              <a:path w="4078605" h="678814">
                <a:moveTo>
                  <a:pt x="4024400" y="0"/>
                </a:moveTo>
                <a:lnTo>
                  <a:pt x="53708" y="0"/>
                </a:lnTo>
                <a:lnTo>
                  <a:pt x="32817" y="4225"/>
                </a:lnTo>
                <a:lnTo>
                  <a:pt x="15743" y="15743"/>
                </a:lnTo>
                <a:lnTo>
                  <a:pt x="4225" y="32817"/>
                </a:lnTo>
                <a:lnTo>
                  <a:pt x="0" y="53708"/>
                </a:lnTo>
                <a:lnTo>
                  <a:pt x="0" y="624824"/>
                </a:lnTo>
                <a:lnTo>
                  <a:pt x="4225" y="645699"/>
                </a:lnTo>
                <a:lnTo>
                  <a:pt x="15743" y="662737"/>
                </a:lnTo>
                <a:lnTo>
                  <a:pt x="32817" y="674219"/>
                </a:lnTo>
                <a:lnTo>
                  <a:pt x="53708" y="678428"/>
                </a:lnTo>
                <a:lnTo>
                  <a:pt x="4024400" y="678428"/>
                </a:lnTo>
                <a:lnTo>
                  <a:pt x="4045292" y="674219"/>
                </a:lnTo>
                <a:lnTo>
                  <a:pt x="4062365" y="662737"/>
                </a:lnTo>
                <a:lnTo>
                  <a:pt x="4073884" y="645699"/>
                </a:lnTo>
                <a:lnTo>
                  <a:pt x="4078109" y="624824"/>
                </a:lnTo>
                <a:lnTo>
                  <a:pt x="4078109" y="53708"/>
                </a:lnTo>
                <a:lnTo>
                  <a:pt x="4073884" y="32817"/>
                </a:lnTo>
                <a:lnTo>
                  <a:pt x="4062365" y="15743"/>
                </a:lnTo>
                <a:lnTo>
                  <a:pt x="4045292" y="4225"/>
                </a:lnTo>
                <a:lnTo>
                  <a:pt x="4024400" y="0"/>
                </a:lnTo>
                <a:close/>
              </a:path>
            </a:pathLst>
          </a:custGeom>
          <a:solidFill>
            <a:srgbClr val="D3BA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1" name="object 31"/>
          <p:cNvSpPr txBox="1"/>
          <p:nvPr/>
        </p:nvSpPr>
        <p:spPr>
          <a:xfrm>
            <a:off x="19086398" y="5488782"/>
            <a:ext cx="525228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-30" dirty="0">
                <a:latin typeface="Calibri"/>
                <a:cs typeface="Calibri"/>
              </a:rPr>
              <a:t>M3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667117" y="5329911"/>
            <a:ext cx="4946538" cy="832510"/>
          </a:xfrm>
          <a:custGeom>
            <a:avLst/>
            <a:gdLst/>
            <a:ahLst/>
            <a:cxnLst/>
            <a:rect l="l" t="t" r="r" b="b"/>
            <a:pathLst>
              <a:path w="4078604" h="686435">
                <a:moveTo>
                  <a:pt x="4023877" y="0"/>
                </a:moveTo>
                <a:lnTo>
                  <a:pt x="54232" y="0"/>
                </a:lnTo>
                <a:lnTo>
                  <a:pt x="33126" y="4264"/>
                </a:lnTo>
                <a:lnTo>
                  <a:pt x="15887" y="15900"/>
                </a:lnTo>
                <a:lnTo>
                  <a:pt x="4263" y="33170"/>
                </a:lnTo>
                <a:lnTo>
                  <a:pt x="0" y="54337"/>
                </a:lnTo>
                <a:lnTo>
                  <a:pt x="0" y="631734"/>
                </a:lnTo>
                <a:lnTo>
                  <a:pt x="4263" y="652840"/>
                </a:lnTo>
                <a:lnTo>
                  <a:pt x="15887" y="670079"/>
                </a:lnTo>
                <a:lnTo>
                  <a:pt x="33126" y="681703"/>
                </a:lnTo>
                <a:lnTo>
                  <a:pt x="54232" y="685966"/>
                </a:lnTo>
                <a:lnTo>
                  <a:pt x="4023877" y="685966"/>
                </a:lnTo>
                <a:lnTo>
                  <a:pt x="4044983" y="681703"/>
                </a:lnTo>
                <a:lnTo>
                  <a:pt x="4062221" y="670079"/>
                </a:lnTo>
                <a:lnTo>
                  <a:pt x="4073846" y="652840"/>
                </a:lnTo>
                <a:lnTo>
                  <a:pt x="4078109" y="631734"/>
                </a:lnTo>
                <a:lnTo>
                  <a:pt x="4078109" y="54337"/>
                </a:lnTo>
                <a:lnTo>
                  <a:pt x="4073846" y="33170"/>
                </a:lnTo>
                <a:lnTo>
                  <a:pt x="4062221" y="15900"/>
                </a:lnTo>
                <a:lnTo>
                  <a:pt x="4044983" y="4264"/>
                </a:lnTo>
                <a:lnTo>
                  <a:pt x="4023877" y="0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3" name="object 33"/>
          <p:cNvSpPr/>
          <p:nvPr/>
        </p:nvSpPr>
        <p:spPr>
          <a:xfrm>
            <a:off x="12755833" y="5311627"/>
            <a:ext cx="4937298" cy="832510"/>
          </a:xfrm>
          <a:custGeom>
            <a:avLst/>
            <a:gdLst/>
            <a:ahLst/>
            <a:cxnLst/>
            <a:rect l="l" t="t" r="r" b="b"/>
            <a:pathLst>
              <a:path w="4070984" h="686435">
                <a:moveTo>
                  <a:pt x="4016338" y="0"/>
                </a:moveTo>
                <a:lnTo>
                  <a:pt x="54232" y="0"/>
                </a:lnTo>
                <a:lnTo>
                  <a:pt x="33126" y="4264"/>
                </a:lnTo>
                <a:lnTo>
                  <a:pt x="15887" y="15900"/>
                </a:lnTo>
                <a:lnTo>
                  <a:pt x="4263" y="33170"/>
                </a:lnTo>
                <a:lnTo>
                  <a:pt x="0" y="54337"/>
                </a:lnTo>
                <a:lnTo>
                  <a:pt x="0" y="631734"/>
                </a:lnTo>
                <a:lnTo>
                  <a:pt x="4263" y="652840"/>
                </a:lnTo>
                <a:lnTo>
                  <a:pt x="15887" y="670079"/>
                </a:lnTo>
                <a:lnTo>
                  <a:pt x="33126" y="681703"/>
                </a:lnTo>
                <a:lnTo>
                  <a:pt x="54232" y="685966"/>
                </a:lnTo>
                <a:lnTo>
                  <a:pt x="4016338" y="685966"/>
                </a:lnTo>
                <a:lnTo>
                  <a:pt x="4037444" y="681703"/>
                </a:lnTo>
                <a:lnTo>
                  <a:pt x="4054683" y="670079"/>
                </a:lnTo>
                <a:lnTo>
                  <a:pt x="4066308" y="652840"/>
                </a:lnTo>
                <a:lnTo>
                  <a:pt x="4070571" y="631734"/>
                </a:lnTo>
                <a:lnTo>
                  <a:pt x="4070571" y="54337"/>
                </a:lnTo>
                <a:lnTo>
                  <a:pt x="4066308" y="33170"/>
                </a:lnTo>
                <a:lnTo>
                  <a:pt x="4054683" y="15900"/>
                </a:lnTo>
                <a:lnTo>
                  <a:pt x="4037444" y="4264"/>
                </a:lnTo>
                <a:lnTo>
                  <a:pt x="4016338" y="0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4" name="object 34"/>
          <p:cNvSpPr txBox="1"/>
          <p:nvPr/>
        </p:nvSpPr>
        <p:spPr>
          <a:xfrm>
            <a:off x="12943083" y="5481926"/>
            <a:ext cx="1420118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97" dirty="0">
                <a:solidFill>
                  <a:srgbClr val="FFFFFF"/>
                </a:solidFill>
                <a:latin typeface="Calibri"/>
                <a:cs typeface="Calibri"/>
              </a:rPr>
              <a:t>Executor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667117" y="4571108"/>
            <a:ext cx="4946538" cy="649219"/>
          </a:xfrm>
          <a:custGeom>
            <a:avLst/>
            <a:gdLst/>
            <a:ahLst/>
            <a:cxnLst/>
            <a:rect l="l" t="t" r="r" b="b"/>
            <a:pathLst>
              <a:path w="4078604" h="535304">
                <a:moveTo>
                  <a:pt x="4035812" y="0"/>
                </a:moveTo>
                <a:lnTo>
                  <a:pt x="42297" y="0"/>
                </a:lnTo>
                <a:lnTo>
                  <a:pt x="25838" y="3327"/>
                </a:lnTo>
                <a:lnTo>
                  <a:pt x="12393" y="12406"/>
                </a:lnTo>
                <a:lnTo>
                  <a:pt x="3325" y="25882"/>
                </a:lnTo>
                <a:lnTo>
                  <a:pt x="0" y="42401"/>
                </a:lnTo>
                <a:lnTo>
                  <a:pt x="0" y="492907"/>
                </a:lnTo>
                <a:lnTo>
                  <a:pt x="3325" y="509366"/>
                </a:lnTo>
                <a:lnTo>
                  <a:pt x="12393" y="522811"/>
                </a:lnTo>
                <a:lnTo>
                  <a:pt x="25838" y="531879"/>
                </a:lnTo>
                <a:lnTo>
                  <a:pt x="42297" y="535204"/>
                </a:lnTo>
                <a:lnTo>
                  <a:pt x="4035812" y="535204"/>
                </a:lnTo>
                <a:lnTo>
                  <a:pt x="4052270" y="531879"/>
                </a:lnTo>
                <a:lnTo>
                  <a:pt x="4065716" y="522811"/>
                </a:lnTo>
                <a:lnTo>
                  <a:pt x="4074783" y="509366"/>
                </a:lnTo>
                <a:lnTo>
                  <a:pt x="4078109" y="492907"/>
                </a:lnTo>
                <a:lnTo>
                  <a:pt x="4078109" y="42401"/>
                </a:lnTo>
                <a:lnTo>
                  <a:pt x="4074783" y="25882"/>
                </a:lnTo>
                <a:lnTo>
                  <a:pt x="4065716" y="12406"/>
                </a:lnTo>
                <a:lnTo>
                  <a:pt x="4052270" y="3327"/>
                </a:lnTo>
                <a:lnTo>
                  <a:pt x="4035812" y="0"/>
                </a:lnTo>
                <a:close/>
              </a:path>
            </a:pathLst>
          </a:custGeom>
          <a:solidFill>
            <a:srgbClr val="D3BA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6" name="object 36"/>
          <p:cNvSpPr/>
          <p:nvPr/>
        </p:nvSpPr>
        <p:spPr>
          <a:xfrm>
            <a:off x="6667117" y="3794019"/>
            <a:ext cx="4946538" cy="649219"/>
          </a:xfrm>
          <a:custGeom>
            <a:avLst/>
            <a:gdLst/>
            <a:ahLst/>
            <a:cxnLst/>
            <a:rect l="l" t="t" r="r" b="b"/>
            <a:pathLst>
              <a:path w="4078604" h="535304">
                <a:moveTo>
                  <a:pt x="4035812" y="0"/>
                </a:moveTo>
                <a:lnTo>
                  <a:pt x="42297" y="0"/>
                </a:lnTo>
                <a:lnTo>
                  <a:pt x="25838" y="3327"/>
                </a:lnTo>
                <a:lnTo>
                  <a:pt x="12393" y="12406"/>
                </a:lnTo>
                <a:lnTo>
                  <a:pt x="3325" y="25882"/>
                </a:lnTo>
                <a:lnTo>
                  <a:pt x="0" y="42401"/>
                </a:lnTo>
                <a:lnTo>
                  <a:pt x="0" y="492907"/>
                </a:lnTo>
                <a:lnTo>
                  <a:pt x="3325" y="509366"/>
                </a:lnTo>
                <a:lnTo>
                  <a:pt x="12393" y="522811"/>
                </a:lnTo>
                <a:lnTo>
                  <a:pt x="25838" y="531879"/>
                </a:lnTo>
                <a:lnTo>
                  <a:pt x="42297" y="535204"/>
                </a:lnTo>
                <a:lnTo>
                  <a:pt x="4035812" y="535204"/>
                </a:lnTo>
                <a:lnTo>
                  <a:pt x="4052270" y="531879"/>
                </a:lnTo>
                <a:lnTo>
                  <a:pt x="4065716" y="522811"/>
                </a:lnTo>
                <a:lnTo>
                  <a:pt x="4074783" y="509366"/>
                </a:lnTo>
                <a:lnTo>
                  <a:pt x="4078109" y="492907"/>
                </a:lnTo>
                <a:lnTo>
                  <a:pt x="4078109" y="42401"/>
                </a:lnTo>
                <a:lnTo>
                  <a:pt x="4074783" y="25882"/>
                </a:lnTo>
                <a:lnTo>
                  <a:pt x="4065716" y="12406"/>
                </a:lnTo>
                <a:lnTo>
                  <a:pt x="4052270" y="3327"/>
                </a:lnTo>
                <a:lnTo>
                  <a:pt x="4035812" y="0"/>
                </a:lnTo>
                <a:close/>
              </a:path>
            </a:pathLst>
          </a:custGeom>
          <a:solidFill>
            <a:srgbClr val="D3BA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7" name="object 37"/>
          <p:cNvSpPr/>
          <p:nvPr/>
        </p:nvSpPr>
        <p:spPr>
          <a:xfrm>
            <a:off x="6667117" y="3007789"/>
            <a:ext cx="4946538" cy="676944"/>
          </a:xfrm>
          <a:custGeom>
            <a:avLst/>
            <a:gdLst/>
            <a:ahLst/>
            <a:cxnLst/>
            <a:rect l="l" t="t" r="r" b="b"/>
            <a:pathLst>
              <a:path w="4078604" h="558164">
                <a:moveTo>
                  <a:pt x="4033927" y="0"/>
                </a:moveTo>
                <a:lnTo>
                  <a:pt x="44181" y="0"/>
                </a:lnTo>
                <a:lnTo>
                  <a:pt x="26986" y="3472"/>
                </a:lnTo>
                <a:lnTo>
                  <a:pt x="12943" y="12943"/>
                </a:lnTo>
                <a:lnTo>
                  <a:pt x="3472" y="26986"/>
                </a:lnTo>
                <a:lnTo>
                  <a:pt x="0" y="44181"/>
                </a:lnTo>
                <a:lnTo>
                  <a:pt x="0" y="513742"/>
                </a:lnTo>
                <a:lnTo>
                  <a:pt x="3472" y="530876"/>
                </a:lnTo>
                <a:lnTo>
                  <a:pt x="12943" y="544889"/>
                </a:lnTo>
                <a:lnTo>
                  <a:pt x="26986" y="554347"/>
                </a:lnTo>
                <a:lnTo>
                  <a:pt x="44181" y="557819"/>
                </a:lnTo>
                <a:lnTo>
                  <a:pt x="4033927" y="557819"/>
                </a:lnTo>
                <a:lnTo>
                  <a:pt x="4051122" y="554347"/>
                </a:lnTo>
                <a:lnTo>
                  <a:pt x="4065166" y="544889"/>
                </a:lnTo>
                <a:lnTo>
                  <a:pt x="4074636" y="530876"/>
                </a:lnTo>
                <a:lnTo>
                  <a:pt x="4078109" y="513742"/>
                </a:lnTo>
                <a:lnTo>
                  <a:pt x="4078109" y="44181"/>
                </a:lnTo>
                <a:lnTo>
                  <a:pt x="4074636" y="26986"/>
                </a:lnTo>
                <a:lnTo>
                  <a:pt x="4065166" y="12943"/>
                </a:lnTo>
                <a:lnTo>
                  <a:pt x="4051122" y="3472"/>
                </a:lnTo>
                <a:lnTo>
                  <a:pt x="4033927" y="0"/>
                </a:lnTo>
                <a:close/>
              </a:path>
            </a:pathLst>
          </a:custGeom>
          <a:solidFill>
            <a:srgbClr val="D3BA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8" name="object 38"/>
          <p:cNvSpPr txBox="1"/>
          <p:nvPr/>
        </p:nvSpPr>
        <p:spPr>
          <a:xfrm>
            <a:off x="6850684" y="3175802"/>
            <a:ext cx="2258019" cy="2690796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158" dirty="0">
                <a:latin typeface="Calibri"/>
                <a:cs typeface="Calibri"/>
              </a:rPr>
              <a:t>OBP</a:t>
            </a:r>
            <a:endParaRPr sz="2789">
              <a:latin typeface="Calibri"/>
              <a:cs typeface="Calibri"/>
            </a:endParaRPr>
          </a:p>
          <a:p>
            <a:pPr marL="15403" marR="6161" algn="just">
              <a:lnSpc>
                <a:spcPct val="181200"/>
              </a:lnSpc>
              <a:spcBef>
                <a:spcPts val="103"/>
              </a:spcBef>
            </a:pPr>
            <a:r>
              <a:rPr sz="2789" spc="85" dirty="0">
                <a:latin typeface="Calibri"/>
                <a:cs typeface="Calibri"/>
              </a:rPr>
              <a:t>Circuit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73" dirty="0">
                <a:latin typeface="Calibri"/>
                <a:cs typeface="Calibri"/>
              </a:rPr>
              <a:t>Cutting </a:t>
            </a:r>
            <a:r>
              <a:rPr sz="2789" spc="127" dirty="0">
                <a:latin typeface="Calibri"/>
                <a:cs typeface="Calibri"/>
              </a:rPr>
              <a:t>Noise</a:t>
            </a:r>
            <a:r>
              <a:rPr sz="2789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Learner </a:t>
            </a:r>
            <a:r>
              <a:rPr sz="2789" spc="115" dirty="0">
                <a:solidFill>
                  <a:srgbClr val="FFFFFF"/>
                </a:solidFill>
                <a:latin typeface="Calibri"/>
                <a:cs typeface="Calibri"/>
              </a:rPr>
              <a:t>Samplomatic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676259" y="2111852"/>
            <a:ext cx="4946538" cy="832510"/>
          </a:xfrm>
          <a:custGeom>
            <a:avLst/>
            <a:gdLst/>
            <a:ahLst/>
            <a:cxnLst/>
            <a:rect l="l" t="t" r="r" b="b"/>
            <a:pathLst>
              <a:path w="4078604" h="686435">
                <a:moveTo>
                  <a:pt x="4023877" y="0"/>
                </a:moveTo>
                <a:lnTo>
                  <a:pt x="54232" y="0"/>
                </a:lnTo>
                <a:lnTo>
                  <a:pt x="33126" y="4263"/>
                </a:lnTo>
                <a:lnTo>
                  <a:pt x="15887" y="15887"/>
                </a:lnTo>
                <a:lnTo>
                  <a:pt x="4263" y="33126"/>
                </a:lnTo>
                <a:lnTo>
                  <a:pt x="0" y="54232"/>
                </a:lnTo>
                <a:lnTo>
                  <a:pt x="0" y="631734"/>
                </a:lnTo>
                <a:lnTo>
                  <a:pt x="4263" y="652840"/>
                </a:lnTo>
                <a:lnTo>
                  <a:pt x="15887" y="670079"/>
                </a:lnTo>
                <a:lnTo>
                  <a:pt x="33126" y="681703"/>
                </a:lnTo>
                <a:lnTo>
                  <a:pt x="54232" y="685966"/>
                </a:lnTo>
                <a:lnTo>
                  <a:pt x="4023877" y="685966"/>
                </a:lnTo>
                <a:lnTo>
                  <a:pt x="4044983" y="681703"/>
                </a:lnTo>
                <a:lnTo>
                  <a:pt x="4062221" y="670079"/>
                </a:lnTo>
                <a:lnTo>
                  <a:pt x="4073846" y="652840"/>
                </a:lnTo>
                <a:lnTo>
                  <a:pt x="4078109" y="631734"/>
                </a:lnTo>
                <a:lnTo>
                  <a:pt x="4078109" y="54232"/>
                </a:lnTo>
                <a:lnTo>
                  <a:pt x="4073846" y="33126"/>
                </a:lnTo>
                <a:lnTo>
                  <a:pt x="4062221" y="15887"/>
                </a:lnTo>
                <a:lnTo>
                  <a:pt x="4044983" y="4263"/>
                </a:lnTo>
                <a:lnTo>
                  <a:pt x="4023877" y="0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0" name="object 40"/>
          <p:cNvSpPr txBox="1"/>
          <p:nvPr/>
        </p:nvSpPr>
        <p:spPr>
          <a:xfrm>
            <a:off x="6863256" y="2279864"/>
            <a:ext cx="3013515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146" dirty="0">
                <a:solidFill>
                  <a:srgbClr val="FFFFFF"/>
                </a:solidFill>
                <a:latin typeface="Calibri"/>
                <a:cs typeface="Calibri"/>
              </a:rPr>
              <a:t>Shaded</a:t>
            </a:r>
            <a:r>
              <a:rPr sz="2789" spc="6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89" spc="109" dirty="0">
                <a:solidFill>
                  <a:srgbClr val="FFFFFF"/>
                </a:solidFill>
                <a:latin typeface="Calibri"/>
                <a:cs typeface="Calibri"/>
              </a:rPr>
              <a:t>Lightcones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676259" y="1179346"/>
            <a:ext cx="4946538" cy="823268"/>
          </a:xfrm>
          <a:custGeom>
            <a:avLst/>
            <a:gdLst/>
            <a:ahLst/>
            <a:cxnLst/>
            <a:rect l="l" t="t" r="r" b="b"/>
            <a:pathLst>
              <a:path w="4078604" h="678814">
                <a:moveTo>
                  <a:pt x="4024400" y="0"/>
                </a:moveTo>
                <a:lnTo>
                  <a:pt x="53708" y="0"/>
                </a:lnTo>
                <a:lnTo>
                  <a:pt x="32817" y="4225"/>
                </a:lnTo>
                <a:lnTo>
                  <a:pt x="15743" y="15743"/>
                </a:lnTo>
                <a:lnTo>
                  <a:pt x="4225" y="32817"/>
                </a:lnTo>
                <a:lnTo>
                  <a:pt x="0" y="53708"/>
                </a:lnTo>
                <a:lnTo>
                  <a:pt x="0" y="624719"/>
                </a:lnTo>
                <a:lnTo>
                  <a:pt x="4225" y="645655"/>
                </a:lnTo>
                <a:lnTo>
                  <a:pt x="15743" y="662724"/>
                </a:lnTo>
                <a:lnTo>
                  <a:pt x="32817" y="674217"/>
                </a:lnTo>
                <a:lnTo>
                  <a:pt x="53708" y="678428"/>
                </a:lnTo>
                <a:lnTo>
                  <a:pt x="4024400" y="678428"/>
                </a:lnTo>
                <a:lnTo>
                  <a:pt x="4045292" y="674217"/>
                </a:lnTo>
                <a:lnTo>
                  <a:pt x="4062365" y="662724"/>
                </a:lnTo>
                <a:lnTo>
                  <a:pt x="4073884" y="645655"/>
                </a:lnTo>
                <a:lnTo>
                  <a:pt x="4078109" y="624719"/>
                </a:lnTo>
                <a:lnTo>
                  <a:pt x="4078109" y="53708"/>
                </a:lnTo>
                <a:lnTo>
                  <a:pt x="4073884" y="32817"/>
                </a:lnTo>
                <a:lnTo>
                  <a:pt x="4062365" y="15743"/>
                </a:lnTo>
                <a:lnTo>
                  <a:pt x="4045292" y="4225"/>
                </a:lnTo>
                <a:lnTo>
                  <a:pt x="4024400" y="0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2" name="object 42"/>
          <p:cNvSpPr txBox="1"/>
          <p:nvPr/>
        </p:nvSpPr>
        <p:spPr>
          <a:xfrm>
            <a:off x="6862875" y="1343295"/>
            <a:ext cx="4459818" cy="436318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2729" spc="79" dirty="0">
                <a:solidFill>
                  <a:srgbClr val="FFFFFF"/>
                </a:solidFill>
                <a:latin typeface="Calibri"/>
                <a:cs typeface="Calibri"/>
              </a:rPr>
              <a:t>Propagated</a:t>
            </a:r>
            <a:r>
              <a:rPr sz="27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29" spc="109" dirty="0">
                <a:solidFill>
                  <a:srgbClr val="FFFFFF"/>
                </a:solidFill>
                <a:latin typeface="Calibri"/>
                <a:cs typeface="Calibri"/>
              </a:rPr>
              <a:t>Noise</a:t>
            </a:r>
            <a:r>
              <a:rPr sz="2729" spc="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29" spc="55" dirty="0">
                <a:solidFill>
                  <a:srgbClr val="FFFFFF"/>
                </a:solidFill>
                <a:latin typeface="Calibri"/>
                <a:cs typeface="Calibri"/>
              </a:rPr>
              <a:t>Absorption</a:t>
            </a:r>
            <a:endParaRPr sz="2729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881117" y="3437474"/>
            <a:ext cx="4955781" cy="832510"/>
          </a:xfrm>
          <a:custGeom>
            <a:avLst/>
            <a:gdLst/>
            <a:ahLst/>
            <a:cxnLst/>
            <a:rect l="l" t="t" r="r" b="b"/>
            <a:pathLst>
              <a:path w="4086225" h="686435">
                <a:moveTo>
                  <a:pt x="4031415" y="0"/>
                </a:moveTo>
                <a:lnTo>
                  <a:pt x="54232" y="0"/>
                </a:lnTo>
                <a:lnTo>
                  <a:pt x="33126" y="4263"/>
                </a:lnTo>
                <a:lnTo>
                  <a:pt x="15887" y="15887"/>
                </a:lnTo>
                <a:lnTo>
                  <a:pt x="4263" y="33126"/>
                </a:lnTo>
                <a:lnTo>
                  <a:pt x="0" y="54232"/>
                </a:lnTo>
                <a:lnTo>
                  <a:pt x="0" y="631734"/>
                </a:lnTo>
                <a:lnTo>
                  <a:pt x="4263" y="652840"/>
                </a:lnTo>
                <a:lnTo>
                  <a:pt x="15887" y="670079"/>
                </a:lnTo>
                <a:lnTo>
                  <a:pt x="33126" y="681703"/>
                </a:lnTo>
                <a:lnTo>
                  <a:pt x="54232" y="685966"/>
                </a:lnTo>
                <a:lnTo>
                  <a:pt x="4031415" y="685966"/>
                </a:lnTo>
                <a:lnTo>
                  <a:pt x="4052521" y="681703"/>
                </a:lnTo>
                <a:lnTo>
                  <a:pt x="4069759" y="670079"/>
                </a:lnTo>
                <a:lnTo>
                  <a:pt x="4081384" y="652840"/>
                </a:lnTo>
                <a:lnTo>
                  <a:pt x="4085647" y="631734"/>
                </a:lnTo>
                <a:lnTo>
                  <a:pt x="4085647" y="54232"/>
                </a:lnTo>
                <a:lnTo>
                  <a:pt x="4081384" y="33126"/>
                </a:lnTo>
                <a:lnTo>
                  <a:pt x="4069759" y="15887"/>
                </a:lnTo>
                <a:lnTo>
                  <a:pt x="4052521" y="4263"/>
                </a:lnTo>
                <a:lnTo>
                  <a:pt x="4031415" y="0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4" name="object 44"/>
          <p:cNvSpPr txBox="1"/>
          <p:nvPr/>
        </p:nvSpPr>
        <p:spPr>
          <a:xfrm>
            <a:off x="19075096" y="3606502"/>
            <a:ext cx="672323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212" dirty="0">
                <a:solidFill>
                  <a:srgbClr val="FFFFFF"/>
                </a:solidFill>
                <a:latin typeface="Calibri"/>
                <a:cs typeface="Calibri"/>
              </a:rPr>
              <a:t>PEC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45" name="object 45" descr="$PPTXTitle"/>
          <p:cNvSpPr txBox="1">
            <a:spLocks noGrp="1"/>
          </p:cNvSpPr>
          <p:nvPr>
            <p:ph type="title"/>
          </p:nvPr>
        </p:nvSpPr>
        <p:spPr>
          <a:xfrm>
            <a:off x="12758968" y="450470"/>
            <a:ext cx="8633148" cy="240716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10300"/>
              </a:lnSpc>
              <a:spcBef>
                <a:spcPts val="115"/>
              </a:spcBef>
            </a:pPr>
            <a:r>
              <a:rPr sz="4791" dirty="0">
                <a:solidFill>
                  <a:srgbClr val="893EFB"/>
                </a:solidFill>
              </a:rPr>
              <a:t>Executor</a:t>
            </a:r>
            <a:r>
              <a:rPr sz="4791" spc="-67" dirty="0">
                <a:solidFill>
                  <a:srgbClr val="893EFB"/>
                </a:solidFill>
              </a:rPr>
              <a:t> </a:t>
            </a:r>
            <a:r>
              <a:rPr sz="4791" dirty="0">
                <a:solidFill>
                  <a:srgbClr val="893EFB"/>
                </a:solidFill>
              </a:rPr>
              <a:t>and</a:t>
            </a:r>
            <a:r>
              <a:rPr sz="4791" spc="-103" dirty="0">
                <a:solidFill>
                  <a:srgbClr val="893EFB"/>
                </a:solidFill>
              </a:rPr>
              <a:t> </a:t>
            </a:r>
            <a:r>
              <a:rPr sz="4791" dirty="0">
                <a:solidFill>
                  <a:srgbClr val="893EFB"/>
                </a:solidFill>
              </a:rPr>
              <a:t>Samplomatic</a:t>
            </a:r>
            <a:r>
              <a:rPr sz="4791" spc="-36" dirty="0">
                <a:solidFill>
                  <a:srgbClr val="893EFB"/>
                </a:solidFill>
              </a:rPr>
              <a:t> </a:t>
            </a:r>
            <a:r>
              <a:rPr sz="4791" spc="200" dirty="0"/>
              <a:t>enable </a:t>
            </a:r>
            <a:r>
              <a:rPr sz="4791" spc="206" dirty="0"/>
              <a:t>advanced</a:t>
            </a:r>
            <a:r>
              <a:rPr sz="4791" spc="24" dirty="0"/>
              <a:t> </a:t>
            </a:r>
            <a:r>
              <a:rPr sz="4791" spc="243" dirty="0"/>
              <a:t>classical</a:t>
            </a:r>
            <a:r>
              <a:rPr sz="4791" spc="85" dirty="0"/>
              <a:t> </a:t>
            </a:r>
            <a:r>
              <a:rPr sz="4791" spc="55" dirty="0"/>
              <a:t>error </a:t>
            </a:r>
            <a:r>
              <a:rPr sz="4791" spc="109" dirty="0"/>
              <a:t>mitigation</a:t>
            </a:r>
            <a:endParaRPr sz="4791"/>
          </a:p>
        </p:txBody>
      </p:sp>
      <p:sp>
        <p:nvSpPr>
          <p:cNvPr id="46" name="object 46"/>
          <p:cNvSpPr/>
          <p:nvPr/>
        </p:nvSpPr>
        <p:spPr>
          <a:xfrm>
            <a:off x="578401" y="6262418"/>
            <a:ext cx="4946538" cy="832510"/>
          </a:xfrm>
          <a:custGeom>
            <a:avLst/>
            <a:gdLst/>
            <a:ahLst/>
            <a:cxnLst/>
            <a:rect l="l" t="t" r="r" b="b"/>
            <a:pathLst>
              <a:path w="4078604" h="686435">
                <a:moveTo>
                  <a:pt x="4023877" y="0"/>
                </a:moveTo>
                <a:lnTo>
                  <a:pt x="54263" y="0"/>
                </a:lnTo>
                <a:lnTo>
                  <a:pt x="33144" y="4264"/>
                </a:lnTo>
                <a:lnTo>
                  <a:pt x="15895" y="15900"/>
                </a:lnTo>
                <a:lnTo>
                  <a:pt x="4265" y="33170"/>
                </a:lnTo>
                <a:lnTo>
                  <a:pt x="0" y="54337"/>
                </a:lnTo>
                <a:lnTo>
                  <a:pt x="0" y="631734"/>
                </a:lnTo>
                <a:lnTo>
                  <a:pt x="4265" y="652840"/>
                </a:lnTo>
                <a:lnTo>
                  <a:pt x="15895" y="670079"/>
                </a:lnTo>
                <a:lnTo>
                  <a:pt x="33144" y="681703"/>
                </a:lnTo>
                <a:lnTo>
                  <a:pt x="54263" y="685966"/>
                </a:lnTo>
                <a:lnTo>
                  <a:pt x="4023877" y="685966"/>
                </a:lnTo>
                <a:lnTo>
                  <a:pt x="4044983" y="681703"/>
                </a:lnTo>
                <a:lnTo>
                  <a:pt x="4062221" y="670079"/>
                </a:lnTo>
                <a:lnTo>
                  <a:pt x="4073846" y="652840"/>
                </a:lnTo>
                <a:lnTo>
                  <a:pt x="4078109" y="631734"/>
                </a:lnTo>
                <a:lnTo>
                  <a:pt x="4078109" y="54337"/>
                </a:lnTo>
                <a:lnTo>
                  <a:pt x="4073846" y="33170"/>
                </a:lnTo>
                <a:lnTo>
                  <a:pt x="4062221" y="15900"/>
                </a:lnTo>
                <a:lnTo>
                  <a:pt x="4044983" y="4264"/>
                </a:lnTo>
                <a:lnTo>
                  <a:pt x="4023877" y="0"/>
                </a:lnTo>
                <a:close/>
              </a:path>
            </a:pathLst>
          </a:custGeom>
          <a:solidFill>
            <a:srgbClr val="696F7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7" name="object 47"/>
          <p:cNvSpPr txBox="1"/>
          <p:nvPr/>
        </p:nvSpPr>
        <p:spPr>
          <a:xfrm>
            <a:off x="767277" y="6438112"/>
            <a:ext cx="3177553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79" dirty="0">
                <a:solidFill>
                  <a:srgbClr val="FFFFFF"/>
                </a:solidFill>
                <a:latin typeface="Calibri"/>
                <a:cs typeface="Calibri"/>
              </a:rPr>
              <a:t>Qiskit</a:t>
            </a:r>
            <a:r>
              <a:rPr sz="2789" spc="85" dirty="0">
                <a:solidFill>
                  <a:srgbClr val="FFFFFF"/>
                </a:solidFill>
                <a:latin typeface="Calibri"/>
                <a:cs typeface="Calibri"/>
              </a:rPr>
              <a:t> Circuit</a:t>
            </a:r>
            <a:r>
              <a:rPr sz="2789" spc="4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89" spc="73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54748" y="6438112"/>
            <a:ext cx="1619582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91" dirty="0">
                <a:solidFill>
                  <a:srgbClr val="FFFFFF"/>
                </a:solidFill>
                <a:latin typeface="Calibri"/>
                <a:cs typeface="Calibri"/>
              </a:rPr>
              <a:t>Transpiler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2764974" y="6262418"/>
            <a:ext cx="4946538" cy="832510"/>
          </a:xfrm>
          <a:custGeom>
            <a:avLst/>
            <a:gdLst/>
            <a:ahLst/>
            <a:cxnLst/>
            <a:rect l="l" t="t" r="r" b="b"/>
            <a:pathLst>
              <a:path w="4078605" h="686435">
                <a:moveTo>
                  <a:pt x="4023877" y="0"/>
                </a:moveTo>
                <a:lnTo>
                  <a:pt x="54232" y="0"/>
                </a:lnTo>
                <a:lnTo>
                  <a:pt x="33126" y="4264"/>
                </a:lnTo>
                <a:lnTo>
                  <a:pt x="15887" y="15900"/>
                </a:lnTo>
                <a:lnTo>
                  <a:pt x="4263" y="33170"/>
                </a:lnTo>
                <a:lnTo>
                  <a:pt x="0" y="54337"/>
                </a:lnTo>
                <a:lnTo>
                  <a:pt x="0" y="631734"/>
                </a:lnTo>
                <a:lnTo>
                  <a:pt x="4263" y="652840"/>
                </a:lnTo>
                <a:lnTo>
                  <a:pt x="15887" y="670079"/>
                </a:lnTo>
                <a:lnTo>
                  <a:pt x="33126" y="681703"/>
                </a:lnTo>
                <a:lnTo>
                  <a:pt x="54232" y="685966"/>
                </a:lnTo>
                <a:lnTo>
                  <a:pt x="4023877" y="685966"/>
                </a:lnTo>
                <a:lnTo>
                  <a:pt x="4044983" y="681703"/>
                </a:lnTo>
                <a:lnTo>
                  <a:pt x="4062221" y="670079"/>
                </a:lnTo>
                <a:lnTo>
                  <a:pt x="4073846" y="652840"/>
                </a:lnTo>
                <a:lnTo>
                  <a:pt x="4078109" y="631734"/>
                </a:lnTo>
                <a:lnTo>
                  <a:pt x="4078109" y="54337"/>
                </a:lnTo>
                <a:lnTo>
                  <a:pt x="4073846" y="33170"/>
                </a:lnTo>
                <a:lnTo>
                  <a:pt x="4062221" y="15900"/>
                </a:lnTo>
                <a:lnTo>
                  <a:pt x="4044983" y="4264"/>
                </a:lnTo>
                <a:lnTo>
                  <a:pt x="4023877" y="0"/>
                </a:lnTo>
                <a:close/>
              </a:path>
            </a:pathLst>
          </a:custGeom>
          <a:solidFill>
            <a:srgbClr val="696F7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0" name="object 50"/>
          <p:cNvSpPr txBox="1"/>
          <p:nvPr/>
        </p:nvSpPr>
        <p:spPr>
          <a:xfrm>
            <a:off x="12959844" y="6438112"/>
            <a:ext cx="1590317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79" dirty="0">
                <a:solidFill>
                  <a:srgbClr val="FFFFFF"/>
                </a:solidFill>
                <a:latin typeface="Calibri"/>
                <a:cs typeface="Calibri"/>
              </a:rPr>
              <a:t>Primitives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8871975" y="6262418"/>
            <a:ext cx="4946538" cy="832510"/>
          </a:xfrm>
          <a:custGeom>
            <a:avLst/>
            <a:gdLst/>
            <a:ahLst/>
            <a:cxnLst/>
            <a:rect l="l" t="t" r="r" b="b"/>
            <a:pathLst>
              <a:path w="4078605" h="686435">
                <a:moveTo>
                  <a:pt x="4023877" y="0"/>
                </a:moveTo>
                <a:lnTo>
                  <a:pt x="54232" y="0"/>
                </a:lnTo>
                <a:lnTo>
                  <a:pt x="33126" y="4264"/>
                </a:lnTo>
                <a:lnTo>
                  <a:pt x="15887" y="15900"/>
                </a:lnTo>
                <a:lnTo>
                  <a:pt x="4263" y="33170"/>
                </a:lnTo>
                <a:lnTo>
                  <a:pt x="0" y="54337"/>
                </a:lnTo>
                <a:lnTo>
                  <a:pt x="0" y="631734"/>
                </a:lnTo>
                <a:lnTo>
                  <a:pt x="4263" y="652840"/>
                </a:lnTo>
                <a:lnTo>
                  <a:pt x="15887" y="670079"/>
                </a:lnTo>
                <a:lnTo>
                  <a:pt x="33126" y="681703"/>
                </a:lnTo>
                <a:lnTo>
                  <a:pt x="54232" y="685966"/>
                </a:lnTo>
                <a:lnTo>
                  <a:pt x="4023877" y="685966"/>
                </a:lnTo>
                <a:lnTo>
                  <a:pt x="4044983" y="681703"/>
                </a:lnTo>
                <a:lnTo>
                  <a:pt x="4062221" y="670079"/>
                </a:lnTo>
                <a:lnTo>
                  <a:pt x="4073846" y="652840"/>
                </a:lnTo>
                <a:lnTo>
                  <a:pt x="4078109" y="631734"/>
                </a:lnTo>
                <a:lnTo>
                  <a:pt x="4078109" y="54337"/>
                </a:lnTo>
                <a:lnTo>
                  <a:pt x="4073846" y="33170"/>
                </a:lnTo>
                <a:lnTo>
                  <a:pt x="4062221" y="15900"/>
                </a:lnTo>
                <a:lnTo>
                  <a:pt x="4044983" y="4264"/>
                </a:lnTo>
                <a:lnTo>
                  <a:pt x="4023877" y="0"/>
                </a:lnTo>
                <a:close/>
              </a:path>
            </a:pathLst>
          </a:custGeom>
          <a:solidFill>
            <a:srgbClr val="696F7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2" name="object 52"/>
          <p:cNvSpPr txBox="1"/>
          <p:nvPr/>
        </p:nvSpPr>
        <p:spPr>
          <a:xfrm>
            <a:off x="19065956" y="6438112"/>
            <a:ext cx="2221051" cy="447106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spcBef>
                <a:spcPts val="139"/>
              </a:spcBef>
            </a:pPr>
            <a:r>
              <a:rPr sz="2789" spc="97" dirty="0">
                <a:solidFill>
                  <a:srgbClr val="FFFFFF"/>
                </a:solidFill>
                <a:latin typeface="Calibri"/>
                <a:cs typeface="Calibri"/>
              </a:rPr>
              <a:t>Quantum</a:t>
            </a:r>
            <a:r>
              <a:rPr sz="2789" spc="2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89" spc="109" dirty="0">
                <a:solidFill>
                  <a:srgbClr val="FFFFFF"/>
                </a:solidFill>
                <a:latin typeface="Calibri"/>
                <a:cs typeface="Calibri"/>
              </a:rPr>
              <a:t>Info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78401" y="12342117"/>
            <a:ext cx="4946538" cy="768589"/>
          </a:xfrm>
          <a:custGeom>
            <a:avLst/>
            <a:gdLst/>
            <a:ahLst/>
            <a:cxnLst/>
            <a:rect l="l" t="t" r="r" b="b"/>
            <a:pathLst>
              <a:path w="4078604" h="633729">
                <a:moveTo>
                  <a:pt x="4028064" y="0"/>
                </a:moveTo>
                <a:lnTo>
                  <a:pt x="50096" y="0"/>
                </a:lnTo>
                <a:lnTo>
                  <a:pt x="30595" y="3932"/>
                </a:lnTo>
                <a:lnTo>
                  <a:pt x="14671" y="14657"/>
                </a:lnTo>
                <a:lnTo>
                  <a:pt x="3936" y="30564"/>
                </a:lnTo>
                <a:lnTo>
                  <a:pt x="0" y="50044"/>
                </a:lnTo>
                <a:lnTo>
                  <a:pt x="0" y="583061"/>
                </a:lnTo>
                <a:lnTo>
                  <a:pt x="3936" y="602556"/>
                </a:lnTo>
                <a:lnTo>
                  <a:pt x="14671" y="618477"/>
                </a:lnTo>
                <a:lnTo>
                  <a:pt x="30595" y="629211"/>
                </a:lnTo>
                <a:lnTo>
                  <a:pt x="50096" y="633147"/>
                </a:lnTo>
                <a:lnTo>
                  <a:pt x="4028064" y="633147"/>
                </a:lnTo>
                <a:lnTo>
                  <a:pt x="4047544" y="629211"/>
                </a:lnTo>
                <a:lnTo>
                  <a:pt x="4063452" y="618477"/>
                </a:lnTo>
                <a:lnTo>
                  <a:pt x="4074176" y="602556"/>
                </a:lnTo>
                <a:lnTo>
                  <a:pt x="4078109" y="583061"/>
                </a:lnTo>
                <a:lnTo>
                  <a:pt x="4078109" y="50044"/>
                </a:lnTo>
                <a:lnTo>
                  <a:pt x="4074176" y="30564"/>
                </a:lnTo>
                <a:lnTo>
                  <a:pt x="4063452" y="14657"/>
                </a:lnTo>
                <a:lnTo>
                  <a:pt x="4047544" y="3932"/>
                </a:lnTo>
                <a:lnTo>
                  <a:pt x="4028064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4" name="object 54"/>
          <p:cNvSpPr txBox="1"/>
          <p:nvPr/>
        </p:nvSpPr>
        <p:spPr>
          <a:xfrm>
            <a:off x="563316" y="11489885"/>
            <a:ext cx="2689291" cy="1433346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  <a:p>
            <a:pPr marL="217176">
              <a:spcBef>
                <a:spcPts val="3886"/>
              </a:spcBef>
            </a:pPr>
            <a:r>
              <a:rPr sz="2365" spc="133" dirty="0">
                <a:latin typeface="Calibri"/>
                <a:cs typeface="Calibri"/>
              </a:rPr>
              <a:t>Classical</a:t>
            </a:r>
            <a:r>
              <a:rPr sz="2365" spc="97" dirty="0">
                <a:latin typeface="Calibri"/>
                <a:cs typeface="Calibri"/>
              </a:rPr>
              <a:t> </a:t>
            </a:r>
            <a:r>
              <a:rPr sz="2365" spc="91" dirty="0">
                <a:latin typeface="Calibri"/>
                <a:cs typeface="Calibri"/>
              </a:rPr>
              <a:t>compute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2691838" y="12342117"/>
            <a:ext cx="4946538" cy="768589"/>
          </a:xfrm>
          <a:custGeom>
            <a:avLst/>
            <a:gdLst/>
            <a:ahLst/>
            <a:cxnLst/>
            <a:rect l="l" t="t" r="r" b="b"/>
            <a:pathLst>
              <a:path w="4078605" h="633729">
                <a:moveTo>
                  <a:pt x="4028064" y="0"/>
                </a:moveTo>
                <a:lnTo>
                  <a:pt x="50044" y="0"/>
                </a:lnTo>
                <a:lnTo>
                  <a:pt x="30564" y="3932"/>
                </a:lnTo>
                <a:lnTo>
                  <a:pt x="14657" y="14657"/>
                </a:lnTo>
                <a:lnTo>
                  <a:pt x="3932" y="30564"/>
                </a:lnTo>
                <a:lnTo>
                  <a:pt x="0" y="50044"/>
                </a:lnTo>
                <a:lnTo>
                  <a:pt x="0" y="583061"/>
                </a:lnTo>
                <a:lnTo>
                  <a:pt x="3932" y="602556"/>
                </a:lnTo>
                <a:lnTo>
                  <a:pt x="14657" y="618477"/>
                </a:lnTo>
                <a:lnTo>
                  <a:pt x="30564" y="629211"/>
                </a:lnTo>
                <a:lnTo>
                  <a:pt x="50044" y="633147"/>
                </a:lnTo>
                <a:lnTo>
                  <a:pt x="4028064" y="633147"/>
                </a:lnTo>
                <a:lnTo>
                  <a:pt x="4047544" y="629211"/>
                </a:lnTo>
                <a:lnTo>
                  <a:pt x="4063452" y="618477"/>
                </a:lnTo>
                <a:lnTo>
                  <a:pt x="4074176" y="602556"/>
                </a:lnTo>
                <a:lnTo>
                  <a:pt x="4078109" y="583061"/>
                </a:lnTo>
                <a:lnTo>
                  <a:pt x="4078109" y="50044"/>
                </a:lnTo>
                <a:lnTo>
                  <a:pt x="4074176" y="30564"/>
                </a:lnTo>
                <a:lnTo>
                  <a:pt x="4063452" y="14657"/>
                </a:lnTo>
                <a:lnTo>
                  <a:pt x="4047544" y="3932"/>
                </a:lnTo>
                <a:lnTo>
                  <a:pt x="4028064" y="0"/>
                </a:lnTo>
                <a:close/>
              </a:path>
            </a:pathLst>
          </a:custGeom>
          <a:solidFill>
            <a:srgbClr val="0E61FD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6" name="object 56"/>
          <p:cNvSpPr txBox="1"/>
          <p:nvPr/>
        </p:nvSpPr>
        <p:spPr>
          <a:xfrm>
            <a:off x="12785888" y="11489885"/>
            <a:ext cx="2683130" cy="1433346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52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  <a:p>
            <a:pPr marL="107818">
              <a:spcBef>
                <a:spcPts val="3886"/>
              </a:spcBef>
            </a:pPr>
            <a:r>
              <a:rPr sz="2365" spc="91" dirty="0">
                <a:solidFill>
                  <a:srgbClr val="FFFFFF"/>
                </a:solidFill>
                <a:latin typeface="Calibri"/>
                <a:cs typeface="Calibri"/>
              </a:rPr>
              <a:t>Quantum</a:t>
            </a:r>
            <a:r>
              <a:rPr sz="2365" spc="4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65" spc="97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8789693" y="12342117"/>
            <a:ext cx="4946538" cy="768589"/>
          </a:xfrm>
          <a:custGeom>
            <a:avLst/>
            <a:gdLst/>
            <a:ahLst/>
            <a:cxnLst/>
            <a:rect l="l" t="t" r="r" b="b"/>
            <a:pathLst>
              <a:path w="4078605" h="633729">
                <a:moveTo>
                  <a:pt x="4028064" y="0"/>
                </a:moveTo>
                <a:lnTo>
                  <a:pt x="50044" y="0"/>
                </a:lnTo>
                <a:lnTo>
                  <a:pt x="30564" y="3932"/>
                </a:lnTo>
                <a:lnTo>
                  <a:pt x="14657" y="14657"/>
                </a:lnTo>
                <a:lnTo>
                  <a:pt x="3932" y="30564"/>
                </a:lnTo>
                <a:lnTo>
                  <a:pt x="0" y="50044"/>
                </a:lnTo>
                <a:lnTo>
                  <a:pt x="0" y="583061"/>
                </a:lnTo>
                <a:lnTo>
                  <a:pt x="3932" y="602556"/>
                </a:lnTo>
                <a:lnTo>
                  <a:pt x="14657" y="618477"/>
                </a:lnTo>
                <a:lnTo>
                  <a:pt x="30564" y="629211"/>
                </a:lnTo>
                <a:lnTo>
                  <a:pt x="50044" y="633147"/>
                </a:lnTo>
                <a:lnTo>
                  <a:pt x="4028064" y="633147"/>
                </a:lnTo>
                <a:lnTo>
                  <a:pt x="4047544" y="629211"/>
                </a:lnTo>
                <a:lnTo>
                  <a:pt x="4063452" y="618477"/>
                </a:lnTo>
                <a:lnTo>
                  <a:pt x="4074176" y="602556"/>
                </a:lnTo>
                <a:lnTo>
                  <a:pt x="4078109" y="583061"/>
                </a:lnTo>
                <a:lnTo>
                  <a:pt x="4078109" y="50044"/>
                </a:lnTo>
                <a:lnTo>
                  <a:pt x="4074176" y="30564"/>
                </a:lnTo>
                <a:lnTo>
                  <a:pt x="4063452" y="14657"/>
                </a:lnTo>
                <a:lnTo>
                  <a:pt x="4047544" y="3932"/>
                </a:lnTo>
                <a:lnTo>
                  <a:pt x="4028064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8" name="object 58"/>
          <p:cNvSpPr txBox="1"/>
          <p:nvPr/>
        </p:nvSpPr>
        <p:spPr>
          <a:xfrm>
            <a:off x="18849968" y="11489884"/>
            <a:ext cx="2704694" cy="1433346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0" dirty="0">
                <a:latin typeface="Calibri"/>
                <a:cs typeface="Calibri"/>
              </a:rPr>
              <a:t>Post-</a:t>
            </a:r>
            <a:r>
              <a:rPr sz="3578" spc="194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  <a:p>
            <a:pPr marL="150175">
              <a:spcBef>
                <a:spcPts val="3886"/>
              </a:spcBef>
            </a:pPr>
            <a:r>
              <a:rPr sz="2365" spc="133" dirty="0">
                <a:latin typeface="Calibri"/>
                <a:cs typeface="Calibri"/>
              </a:rPr>
              <a:t>Classical</a:t>
            </a:r>
            <a:r>
              <a:rPr sz="2365" spc="97" dirty="0">
                <a:latin typeface="Calibri"/>
                <a:cs typeface="Calibri"/>
              </a:rPr>
              <a:t> Compute</a:t>
            </a:r>
            <a:endParaRPr sz="2365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7118" y="12360402"/>
            <a:ext cx="4945938" cy="767882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6652603" y="11489885"/>
            <a:ext cx="4077064" cy="1446170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09" dirty="0">
                <a:latin typeface="Calibri"/>
                <a:cs typeface="Calibri"/>
              </a:rPr>
              <a:t>Optimize</a:t>
            </a:r>
            <a:endParaRPr sz="3578">
              <a:latin typeface="Calibri"/>
              <a:cs typeface="Calibri"/>
            </a:endParaRPr>
          </a:p>
          <a:p>
            <a:pPr marL="215636">
              <a:spcBef>
                <a:spcPts val="4026"/>
              </a:spcBef>
            </a:pPr>
            <a:r>
              <a:rPr sz="2365" spc="103" dirty="0">
                <a:latin typeface="Calibri"/>
                <a:cs typeface="Calibri"/>
              </a:rPr>
              <a:t>Classical/Quantum</a:t>
            </a:r>
            <a:r>
              <a:rPr sz="2365" spc="67" dirty="0">
                <a:latin typeface="Calibri"/>
                <a:cs typeface="Calibri"/>
              </a:rPr>
              <a:t> </a:t>
            </a:r>
            <a:r>
              <a:rPr sz="2365" spc="97" dirty="0">
                <a:latin typeface="Calibri"/>
                <a:cs typeface="Calibri"/>
              </a:rPr>
              <a:t>Compute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solidFill>
                  <a:srgbClr val="161616"/>
                </a:solidFill>
                <a:latin typeface="Calibri"/>
                <a:cs typeface="Calibri"/>
              </a:rPr>
              <a:t>©</a:t>
            </a:r>
            <a:r>
              <a:rPr sz="1577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77" spc="146" dirty="0">
                <a:solidFill>
                  <a:srgbClr val="161616"/>
                </a:solidFill>
                <a:latin typeface="Calibri"/>
                <a:cs typeface="Calibri"/>
              </a:rPr>
              <a:t>2026</a:t>
            </a:r>
            <a:r>
              <a:rPr sz="1577" spc="67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77" spc="121" dirty="0">
                <a:solidFill>
                  <a:srgbClr val="161616"/>
                </a:solidFill>
                <a:latin typeface="Calibri"/>
                <a:cs typeface="Calibri"/>
              </a:rPr>
              <a:t>IBM</a:t>
            </a:r>
            <a:r>
              <a:rPr sz="1577" spc="18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77" spc="42" dirty="0">
                <a:solidFill>
                  <a:srgbClr val="161616"/>
                </a:solidFill>
                <a:latin typeface="Calibri"/>
                <a:cs typeface="Calibri"/>
              </a:rPr>
              <a:t>Corporation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>
                <a:solidFill>
                  <a:srgbClr val="161616"/>
                </a:solidFill>
              </a:rPr>
              <a:pPr marL="90875">
                <a:spcBef>
                  <a:spcPts val="164"/>
                </a:spcBef>
              </a:pPr>
              <a:t>32</a:t>
            </a:fld>
            <a:endParaRPr spc="109" dirty="0">
              <a:solidFill>
                <a:srgbClr val="161616"/>
              </a:solidFill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769761" y="3213387"/>
            <a:ext cx="5380122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u="sng" spc="6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5"/>
              </a:rPr>
              <a:t>https://quantum.cloud.ibm.com/d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769761" y="3634183"/>
            <a:ext cx="5105956" cy="865561"/>
          </a:xfrm>
          <a:prstGeom prst="rect">
            <a:avLst/>
          </a:prstGeom>
        </p:spPr>
        <p:txBody>
          <a:bodyPr vert="horz" wrap="square" lIns="0" tIns="12322" rIns="0" bIns="0" rtlCol="0">
            <a:spAutoFit/>
          </a:bodyPr>
          <a:lstStyle/>
          <a:p>
            <a:pPr marL="15403" marR="6161">
              <a:lnSpc>
                <a:spcPct val="101200"/>
              </a:lnSpc>
              <a:spcBef>
                <a:spcPts val="97"/>
              </a:spcBef>
            </a:pPr>
            <a:r>
              <a:rPr sz="2789" u="sng" spc="9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5"/>
              </a:rPr>
              <a:t>ocs/en/guides/get-</a:t>
            </a:r>
            <a:r>
              <a:rPr sz="2789" u="sng" spc="10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5"/>
              </a:rPr>
              <a:t>started-</a:t>
            </a:r>
            <a:r>
              <a:rPr sz="2789" u="sng" spc="7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5"/>
              </a:rPr>
              <a:t>with-executor</a:t>
            </a:r>
            <a:endParaRPr sz="278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691292"/>
          </a:xfrm>
          <a:prstGeom prst="rect">
            <a:avLst/>
          </a:prstGeom>
        </p:spPr>
        <p:txBody>
          <a:bodyPr vert="horz" wrap="square" lIns="0" tIns="1925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52"/>
              </a:spcBef>
            </a:pPr>
            <a:r>
              <a:rPr sz="4366" spc="146" dirty="0"/>
              <a:t>Qiskit</a:t>
            </a:r>
            <a:r>
              <a:rPr sz="4366" spc="85" dirty="0"/>
              <a:t> </a:t>
            </a:r>
            <a:r>
              <a:rPr sz="4366" spc="158" dirty="0"/>
              <a:t>Addon:</a:t>
            </a:r>
            <a:r>
              <a:rPr sz="4366" spc="115" dirty="0"/>
              <a:t> </a:t>
            </a:r>
            <a:r>
              <a:rPr sz="4366" spc="255" dirty="0"/>
              <a:t>Sampling-based</a:t>
            </a:r>
            <a:r>
              <a:rPr sz="4366" spc="24" dirty="0"/>
              <a:t> </a:t>
            </a:r>
            <a:r>
              <a:rPr sz="4366" spc="188" dirty="0"/>
              <a:t>quantum</a:t>
            </a:r>
            <a:r>
              <a:rPr sz="4366" spc="79" dirty="0"/>
              <a:t> </a:t>
            </a:r>
            <a:r>
              <a:rPr sz="4366" spc="133" dirty="0"/>
              <a:t>diagonalization</a:t>
            </a:r>
            <a:endParaRPr sz="4366"/>
          </a:p>
        </p:txBody>
      </p:sp>
      <p:sp>
        <p:nvSpPr>
          <p:cNvPr id="3" name="object 3"/>
          <p:cNvSpPr txBox="1"/>
          <p:nvPr/>
        </p:nvSpPr>
        <p:spPr>
          <a:xfrm>
            <a:off x="599251" y="1397513"/>
            <a:ext cx="12600083" cy="1109113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212" dirty="0">
                <a:latin typeface="Calibri"/>
                <a:cs typeface="Calibri"/>
              </a:rPr>
              <a:t>SQD</a:t>
            </a:r>
            <a:r>
              <a:rPr sz="3578" spc="115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classically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76" dirty="0">
                <a:latin typeface="Calibri"/>
                <a:cs typeface="Calibri"/>
              </a:rPr>
              <a:t>post-</a:t>
            </a:r>
            <a:r>
              <a:rPr sz="3578" spc="194" dirty="0">
                <a:latin typeface="Calibri"/>
                <a:cs typeface="Calibri"/>
              </a:rPr>
              <a:t>processes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noisy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206" dirty="0">
                <a:latin typeface="Calibri"/>
                <a:cs typeface="Calibri"/>
              </a:rPr>
              <a:t>samples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from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a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quantum </a:t>
            </a:r>
            <a:r>
              <a:rPr sz="3578" spc="152" dirty="0">
                <a:latin typeface="Calibri"/>
                <a:cs typeface="Calibri"/>
              </a:rPr>
              <a:t>processor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to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produce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more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accurate</a:t>
            </a:r>
            <a:r>
              <a:rPr sz="3578" spc="-12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energy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estimations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50581" y="3661457"/>
            <a:ext cx="0" cy="6139470"/>
          </a:xfrm>
          <a:custGeom>
            <a:avLst/>
            <a:gdLst/>
            <a:ahLst/>
            <a:cxnLst/>
            <a:rect l="l" t="t" r="r" b="b"/>
            <a:pathLst>
              <a:path h="5062220">
                <a:moveTo>
                  <a:pt x="0" y="0"/>
                </a:moveTo>
                <a:lnTo>
                  <a:pt x="0" y="5062144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" name="object 5"/>
          <p:cNvSpPr txBox="1"/>
          <p:nvPr/>
        </p:nvSpPr>
        <p:spPr>
          <a:xfrm>
            <a:off x="6187367" y="11457126"/>
            <a:ext cx="5441733" cy="1130995"/>
          </a:xfrm>
          <a:prstGeom prst="rect">
            <a:avLst/>
          </a:prstGeom>
        </p:spPr>
        <p:txBody>
          <a:bodyPr vert="horz" wrap="square" lIns="0" tIns="208705" rIns="0" bIns="0" rtlCol="0">
            <a:spAutoFit/>
          </a:bodyPr>
          <a:lstStyle/>
          <a:p>
            <a:pPr marL="15403">
              <a:spcBef>
                <a:spcPts val="1643"/>
              </a:spcBef>
            </a:pPr>
            <a:r>
              <a:rPr sz="2365" spc="115" dirty="0">
                <a:latin typeface="Calibri"/>
                <a:cs typeface="Calibri"/>
              </a:rPr>
              <a:t>Research</a:t>
            </a:r>
            <a:endParaRPr sz="2365">
              <a:latin typeface="Calibri"/>
              <a:cs typeface="Calibri"/>
            </a:endParaRPr>
          </a:p>
          <a:p>
            <a:pPr marL="15403">
              <a:spcBef>
                <a:spcPts val="1522"/>
              </a:spcBef>
            </a:pPr>
            <a:r>
              <a:rPr sz="2365" spc="133" dirty="0">
                <a:latin typeface="Calibri"/>
                <a:cs typeface="Calibri"/>
              </a:rPr>
              <a:t>Science</a:t>
            </a:r>
            <a:r>
              <a:rPr sz="2365" spc="55" dirty="0">
                <a:latin typeface="Calibri"/>
                <a:cs typeface="Calibri"/>
              </a:rPr>
              <a:t> </a:t>
            </a:r>
            <a:r>
              <a:rPr sz="2365" spc="121" dirty="0">
                <a:latin typeface="Calibri"/>
                <a:cs typeface="Calibri"/>
              </a:rPr>
              <a:t>Advances</a:t>
            </a:r>
            <a:r>
              <a:rPr sz="2365" spc="73" dirty="0">
                <a:latin typeface="Calibri"/>
                <a:cs typeface="Calibri"/>
              </a:rPr>
              <a:t> </a:t>
            </a:r>
            <a:r>
              <a:rPr sz="2365" spc="61" dirty="0">
                <a:latin typeface="Calibri"/>
                <a:cs typeface="Calibri"/>
              </a:rPr>
              <a:t>vol.</a:t>
            </a:r>
            <a:r>
              <a:rPr sz="2365" spc="79" dirty="0">
                <a:latin typeface="Calibri"/>
                <a:cs typeface="Calibri"/>
              </a:rPr>
              <a:t> </a:t>
            </a:r>
            <a:r>
              <a:rPr sz="2365" spc="158" dirty="0">
                <a:latin typeface="Calibri"/>
                <a:cs typeface="Calibri"/>
              </a:rPr>
              <a:t>11,</a:t>
            </a:r>
            <a:r>
              <a:rPr sz="2365" spc="6" dirty="0">
                <a:latin typeface="Calibri"/>
                <a:cs typeface="Calibri"/>
              </a:rPr>
              <a:t> </a:t>
            </a:r>
            <a:r>
              <a:rPr sz="2365" spc="61" dirty="0">
                <a:latin typeface="Calibri"/>
                <a:cs typeface="Calibri"/>
              </a:rPr>
              <a:t>no.</a:t>
            </a:r>
            <a:r>
              <a:rPr sz="2365" spc="73" dirty="0">
                <a:latin typeface="Calibri"/>
                <a:cs typeface="Calibri"/>
              </a:rPr>
              <a:t> </a:t>
            </a:r>
            <a:r>
              <a:rPr sz="2365" spc="230" dirty="0">
                <a:latin typeface="Calibri"/>
                <a:cs typeface="Calibri"/>
              </a:rPr>
              <a:t>25</a:t>
            </a:r>
            <a:r>
              <a:rPr sz="2365" spc="-12" dirty="0">
                <a:latin typeface="Calibri"/>
                <a:cs typeface="Calibri"/>
              </a:rPr>
              <a:t> </a:t>
            </a:r>
            <a:r>
              <a:rPr sz="2365" spc="164" dirty="0">
                <a:latin typeface="Calibri"/>
                <a:cs typeface="Calibri"/>
              </a:rPr>
              <a:t>(2025)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30371" y="11492424"/>
            <a:ext cx="5866074" cy="1055974"/>
          </a:xfrm>
          <a:prstGeom prst="rect">
            <a:avLst/>
          </a:prstGeom>
        </p:spPr>
        <p:txBody>
          <a:bodyPr vert="horz" wrap="square" lIns="0" tIns="172509" rIns="0" bIns="0" rtlCol="0">
            <a:spAutoFit/>
          </a:bodyPr>
          <a:lstStyle/>
          <a:p>
            <a:pPr marL="15403">
              <a:spcBef>
                <a:spcPts val="1358"/>
              </a:spcBef>
            </a:pPr>
            <a:r>
              <a:rPr sz="2365" spc="85" dirty="0">
                <a:latin typeface="Calibri"/>
                <a:cs typeface="Calibri"/>
              </a:rPr>
              <a:t>Development</a:t>
            </a:r>
            <a:endParaRPr sz="2365">
              <a:latin typeface="Calibri"/>
              <a:cs typeface="Calibri"/>
            </a:endParaRPr>
          </a:p>
          <a:p>
            <a:pPr marL="39275">
              <a:spcBef>
                <a:spcPts val="1243"/>
              </a:spcBef>
            </a:pPr>
            <a:r>
              <a:rPr sz="2365" spc="73" dirty="0">
                <a:latin typeface="Calibri"/>
                <a:cs typeface="Calibri"/>
                <a:hlinkClick r:id="rId2"/>
              </a:rPr>
              <a:t>https://github.com/Qiskit/qiskit-</a:t>
            </a:r>
            <a:r>
              <a:rPr sz="2365" spc="127" dirty="0">
                <a:latin typeface="Calibri"/>
                <a:cs typeface="Calibri"/>
                <a:hlinkClick r:id="rId2"/>
              </a:rPr>
              <a:t>addon-</a:t>
            </a:r>
            <a:r>
              <a:rPr sz="2365" spc="115" dirty="0">
                <a:latin typeface="Calibri"/>
                <a:cs typeface="Calibri"/>
                <a:hlinkClick r:id="rId2"/>
              </a:rPr>
              <a:t>sqd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099" y="5951583"/>
            <a:ext cx="4589970" cy="921539"/>
          </a:xfrm>
          <a:prstGeom prst="rect">
            <a:avLst/>
          </a:prstGeom>
          <a:solidFill>
            <a:srgbClr val="F4F4F4"/>
          </a:solidFill>
          <a:ln w="15704">
            <a:solidFill>
              <a:srgbClr val="893EFB"/>
            </a:solidFill>
          </a:ln>
        </p:spPr>
        <p:txBody>
          <a:bodyPr vert="horz" wrap="square" lIns="0" tIns="367352" rIns="0" bIns="0" rtlCol="0">
            <a:spAutoFit/>
          </a:bodyPr>
          <a:lstStyle/>
          <a:p>
            <a:pPr marL="885647">
              <a:spcBef>
                <a:spcPts val="2893"/>
              </a:spcBef>
            </a:pPr>
            <a:r>
              <a:rPr sz="3578" spc="127" dirty="0">
                <a:solidFill>
                  <a:srgbClr val="893EFB"/>
                </a:solidFill>
                <a:latin typeface="Calibri"/>
                <a:cs typeface="Calibri"/>
              </a:rPr>
              <a:t>Quantum</a:t>
            </a:r>
            <a:r>
              <a:rPr sz="3578" spc="85" dirty="0">
                <a:solidFill>
                  <a:srgbClr val="893EFB"/>
                </a:solidFill>
                <a:latin typeface="Calibri"/>
                <a:cs typeface="Calibri"/>
              </a:rPr>
              <a:t> </a:t>
            </a:r>
            <a:r>
              <a:rPr sz="3578" spc="158" dirty="0">
                <a:solidFill>
                  <a:srgbClr val="893EFB"/>
                </a:solidFill>
                <a:latin typeface="Calibri"/>
                <a:cs typeface="Calibri"/>
              </a:rPr>
              <a:t>Info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3464" y="4130503"/>
            <a:ext cx="4593050" cy="1531017"/>
            <a:chOff x="676962" y="3405753"/>
            <a:chExt cx="3787140" cy="1262380"/>
          </a:xfrm>
        </p:grpSpPr>
        <p:sp>
          <p:nvSpPr>
            <p:cNvPr id="9" name="object 9"/>
            <p:cNvSpPr/>
            <p:nvPr/>
          </p:nvSpPr>
          <p:spPr>
            <a:xfrm>
              <a:off x="682197" y="3410988"/>
              <a:ext cx="3776979" cy="1251585"/>
            </a:xfrm>
            <a:custGeom>
              <a:avLst/>
              <a:gdLst/>
              <a:ahLst/>
              <a:cxnLst/>
              <a:rect l="l" t="t" r="r" b="b"/>
              <a:pathLst>
                <a:path w="3776979" h="1251585">
                  <a:moveTo>
                    <a:pt x="3568031" y="0"/>
                  </a:moveTo>
                  <a:lnTo>
                    <a:pt x="208553" y="0"/>
                  </a:lnTo>
                  <a:lnTo>
                    <a:pt x="160736" y="5508"/>
                  </a:lnTo>
                  <a:lnTo>
                    <a:pt x="116839" y="21200"/>
                  </a:lnTo>
                  <a:lnTo>
                    <a:pt x="78116" y="45821"/>
                  </a:lnTo>
                  <a:lnTo>
                    <a:pt x="45818" y="78120"/>
                  </a:lnTo>
                  <a:lnTo>
                    <a:pt x="21198" y="116844"/>
                  </a:lnTo>
                  <a:lnTo>
                    <a:pt x="5508" y="160739"/>
                  </a:lnTo>
                  <a:lnTo>
                    <a:pt x="0" y="208553"/>
                  </a:lnTo>
                  <a:lnTo>
                    <a:pt x="0" y="1042769"/>
                  </a:lnTo>
                  <a:lnTo>
                    <a:pt x="5508" y="1090584"/>
                  </a:lnTo>
                  <a:lnTo>
                    <a:pt x="21198" y="1134479"/>
                  </a:lnTo>
                  <a:lnTo>
                    <a:pt x="45818" y="1173203"/>
                  </a:lnTo>
                  <a:lnTo>
                    <a:pt x="78116" y="1205501"/>
                  </a:lnTo>
                  <a:lnTo>
                    <a:pt x="116839" y="1230123"/>
                  </a:lnTo>
                  <a:lnTo>
                    <a:pt x="160736" y="1245814"/>
                  </a:lnTo>
                  <a:lnTo>
                    <a:pt x="208553" y="1251323"/>
                  </a:lnTo>
                  <a:lnTo>
                    <a:pt x="3568031" y="1251323"/>
                  </a:lnTo>
                  <a:lnTo>
                    <a:pt x="3615846" y="1245814"/>
                  </a:lnTo>
                  <a:lnTo>
                    <a:pt x="3659741" y="1230123"/>
                  </a:lnTo>
                  <a:lnTo>
                    <a:pt x="3698464" y="1205501"/>
                  </a:lnTo>
                  <a:lnTo>
                    <a:pt x="3730763" y="1173203"/>
                  </a:lnTo>
                  <a:lnTo>
                    <a:pt x="3755385" y="1134479"/>
                  </a:lnTo>
                  <a:lnTo>
                    <a:pt x="3771076" y="1090584"/>
                  </a:lnTo>
                  <a:lnTo>
                    <a:pt x="3776585" y="1042769"/>
                  </a:lnTo>
                  <a:lnTo>
                    <a:pt x="3776585" y="208553"/>
                  </a:lnTo>
                  <a:lnTo>
                    <a:pt x="3771076" y="160739"/>
                  </a:lnTo>
                  <a:lnTo>
                    <a:pt x="3755385" y="116844"/>
                  </a:lnTo>
                  <a:lnTo>
                    <a:pt x="3730763" y="78120"/>
                  </a:lnTo>
                  <a:lnTo>
                    <a:pt x="3698464" y="45821"/>
                  </a:lnTo>
                  <a:lnTo>
                    <a:pt x="3659741" y="21200"/>
                  </a:lnTo>
                  <a:lnTo>
                    <a:pt x="3615846" y="5508"/>
                  </a:lnTo>
                  <a:lnTo>
                    <a:pt x="3568031" y="0"/>
                  </a:lnTo>
                  <a:close/>
                </a:path>
              </a:pathLst>
            </a:custGeom>
            <a:solidFill>
              <a:srgbClr val="A46D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10" name="object 10"/>
            <p:cNvSpPr/>
            <p:nvPr/>
          </p:nvSpPr>
          <p:spPr>
            <a:xfrm>
              <a:off x="682197" y="3410988"/>
              <a:ext cx="3776979" cy="1251585"/>
            </a:xfrm>
            <a:custGeom>
              <a:avLst/>
              <a:gdLst/>
              <a:ahLst/>
              <a:cxnLst/>
              <a:rect l="l" t="t" r="r" b="b"/>
              <a:pathLst>
                <a:path w="3776979" h="1251585">
                  <a:moveTo>
                    <a:pt x="0" y="208553"/>
                  </a:moveTo>
                  <a:lnTo>
                    <a:pt x="5508" y="160739"/>
                  </a:lnTo>
                  <a:lnTo>
                    <a:pt x="21198" y="116844"/>
                  </a:lnTo>
                  <a:lnTo>
                    <a:pt x="45818" y="78120"/>
                  </a:lnTo>
                  <a:lnTo>
                    <a:pt x="78116" y="45821"/>
                  </a:lnTo>
                  <a:lnTo>
                    <a:pt x="116839" y="21200"/>
                  </a:lnTo>
                  <a:lnTo>
                    <a:pt x="160736" y="5508"/>
                  </a:lnTo>
                  <a:lnTo>
                    <a:pt x="208553" y="0"/>
                  </a:lnTo>
                  <a:lnTo>
                    <a:pt x="3568031" y="0"/>
                  </a:lnTo>
                  <a:lnTo>
                    <a:pt x="3615846" y="5508"/>
                  </a:lnTo>
                  <a:lnTo>
                    <a:pt x="3659741" y="21200"/>
                  </a:lnTo>
                  <a:lnTo>
                    <a:pt x="3698464" y="45821"/>
                  </a:lnTo>
                  <a:lnTo>
                    <a:pt x="3730763" y="78120"/>
                  </a:lnTo>
                  <a:lnTo>
                    <a:pt x="3755385" y="116844"/>
                  </a:lnTo>
                  <a:lnTo>
                    <a:pt x="3771076" y="160739"/>
                  </a:lnTo>
                  <a:lnTo>
                    <a:pt x="3776585" y="208553"/>
                  </a:lnTo>
                  <a:lnTo>
                    <a:pt x="3776585" y="1042769"/>
                  </a:lnTo>
                  <a:lnTo>
                    <a:pt x="3771076" y="1090584"/>
                  </a:lnTo>
                  <a:lnTo>
                    <a:pt x="3755385" y="1134479"/>
                  </a:lnTo>
                  <a:lnTo>
                    <a:pt x="3730763" y="1173203"/>
                  </a:lnTo>
                  <a:lnTo>
                    <a:pt x="3698464" y="1205501"/>
                  </a:lnTo>
                  <a:lnTo>
                    <a:pt x="3659741" y="1230123"/>
                  </a:lnTo>
                  <a:lnTo>
                    <a:pt x="3615846" y="1245814"/>
                  </a:lnTo>
                  <a:lnTo>
                    <a:pt x="3568031" y="1251323"/>
                  </a:lnTo>
                  <a:lnTo>
                    <a:pt x="208553" y="1251323"/>
                  </a:lnTo>
                  <a:lnTo>
                    <a:pt x="160736" y="1245814"/>
                  </a:lnTo>
                  <a:lnTo>
                    <a:pt x="116839" y="1230123"/>
                  </a:lnTo>
                  <a:lnTo>
                    <a:pt x="78116" y="1205501"/>
                  </a:lnTo>
                  <a:lnTo>
                    <a:pt x="45818" y="1173203"/>
                  </a:lnTo>
                  <a:lnTo>
                    <a:pt x="21198" y="1134479"/>
                  </a:lnTo>
                  <a:lnTo>
                    <a:pt x="5508" y="1090584"/>
                  </a:lnTo>
                  <a:lnTo>
                    <a:pt x="0" y="1042769"/>
                  </a:lnTo>
                  <a:lnTo>
                    <a:pt x="0" y="208553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05143" y="4490122"/>
            <a:ext cx="923385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12" dirty="0">
                <a:latin typeface="Calibri"/>
                <a:cs typeface="Calibri"/>
              </a:rPr>
              <a:t>SQD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991" y="7823222"/>
            <a:ext cx="360035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64" dirty="0">
                <a:latin typeface="Calibri"/>
                <a:cs typeface="Calibri"/>
              </a:rPr>
              <a:t>Result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processing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13" name="object 13" descr="A diagram of a workload management system  Description automatically generated"/>
          <p:cNvGrpSpPr/>
          <p:nvPr/>
        </p:nvGrpSpPr>
        <p:grpSpPr>
          <a:xfrm>
            <a:off x="6930384" y="3038761"/>
            <a:ext cx="7215340" cy="7713613"/>
            <a:chOff x="5712344" y="2505571"/>
            <a:chExt cx="5949315" cy="6360160"/>
          </a:xfrm>
        </p:grpSpPr>
        <p:pic>
          <p:nvPicPr>
            <p:cNvPr id="14" name="object 14" descr="A diagram of a workload management system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2344" y="2505571"/>
              <a:ext cx="5949088" cy="63597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11471" y="5178671"/>
              <a:ext cx="3633470" cy="3121025"/>
            </a:xfrm>
            <a:custGeom>
              <a:avLst/>
              <a:gdLst/>
              <a:ahLst/>
              <a:cxnLst/>
              <a:rect l="l" t="t" r="r" b="b"/>
              <a:pathLst>
                <a:path w="3633470" h="3121025">
                  <a:moveTo>
                    <a:pt x="0" y="3120771"/>
                  </a:moveTo>
                  <a:lnTo>
                    <a:pt x="3633361" y="3120771"/>
                  </a:lnTo>
                  <a:lnTo>
                    <a:pt x="3633361" y="0"/>
                  </a:lnTo>
                  <a:lnTo>
                    <a:pt x="0" y="0"/>
                  </a:lnTo>
                  <a:lnTo>
                    <a:pt x="0" y="3120771"/>
                  </a:lnTo>
                  <a:close/>
                </a:path>
              </a:pathLst>
            </a:custGeom>
            <a:ln w="31408">
              <a:solidFill>
                <a:srgbClr val="0E61FD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338878" y="5731170"/>
            <a:ext cx="2051623" cy="454555"/>
          </a:xfrm>
          <a:prstGeom prst="rect">
            <a:avLst/>
          </a:prstGeom>
        </p:spPr>
        <p:txBody>
          <a:bodyPr vert="horz" wrap="square" lIns="0" tIns="30805" rIns="0" bIns="0" rtlCol="0">
            <a:spAutoFit/>
          </a:bodyPr>
          <a:lstStyle/>
          <a:p>
            <a:pPr marL="15403">
              <a:spcBef>
                <a:spcPts val="243"/>
              </a:spcBef>
            </a:pPr>
            <a:r>
              <a:rPr sz="1334" b="1" spc="138" dirty="0">
                <a:solidFill>
                  <a:srgbClr val="0E61FD"/>
                </a:solidFill>
                <a:latin typeface="Calibri"/>
                <a:cs typeface="Calibri"/>
              </a:rPr>
              <a:t>Sample-</a:t>
            </a:r>
            <a:r>
              <a:rPr sz="1334" b="1" spc="133" dirty="0">
                <a:solidFill>
                  <a:srgbClr val="0E61FD"/>
                </a:solidFill>
                <a:latin typeface="Calibri"/>
                <a:cs typeface="Calibri"/>
              </a:rPr>
              <a:t>based</a:t>
            </a:r>
            <a:r>
              <a:rPr sz="1334" b="1" spc="49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1334" b="1" spc="91" dirty="0">
                <a:solidFill>
                  <a:srgbClr val="0E61FD"/>
                </a:solidFill>
                <a:latin typeface="Calibri"/>
                <a:cs typeface="Calibri"/>
              </a:rPr>
              <a:t>Quantum</a:t>
            </a:r>
            <a:endParaRPr sz="1334">
              <a:latin typeface="Calibri"/>
              <a:cs typeface="Calibri"/>
            </a:endParaRPr>
          </a:p>
          <a:p>
            <a:pPr marL="15403">
              <a:spcBef>
                <a:spcPts val="127"/>
              </a:spcBef>
            </a:pPr>
            <a:r>
              <a:rPr sz="1334" b="1" spc="97" dirty="0">
                <a:solidFill>
                  <a:srgbClr val="0E61FD"/>
                </a:solidFill>
                <a:latin typeface="Calibri"/>
                <a:cs typeface="Calibri"/>
              </a:rPr>
              <a:t>Diagonalization</a:t>
            </a:r>
            <a:r>
              <a:rPr sz="1334" b="1" spc="115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1334" b="1" spc="97" dirty="0">
                <a:solidFill>
                  <a:srgbClr val="0E61FD"/>
                </a:solidFill>
                <a:latin typeface="Calibri"/>
                <a:cs typeface="Calibri"/>
              </a:rPr>
              <a:t>(SQD)</a:t>
            </a:r>
            <a:endParaRPr sz="1334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089467" y="12251711"/>
            <a:ext cx="501353" cy="281867"/>
            <a:chOff x="9966199" y="10101989"/>
            <a:chExt cx="413384" cy="232410"/>
          </a:xfrm>
        </p:grpSpPr>
        <p:sp>
          <p:nvSpPr>
            <p:cNvPr id="18" name="object 18"/>
            <p:cNvSpPr/>
            <p:nvPr/>
          </p:nvSpPr>
          <p:spPr>
            <a:xfrm>
              <a:off x="9976669" y="10112459"/>
              <a:ext cx="392430" cy="211454"/>
            </a:xfrm>
            <a:custGeom>
              <a:avLst/>
              <a:gdLst/>
              <a:ahLst/>
              <a:cxnLst/>
              <a:rect l="l" t="t" r="r" b="b"/>
              <a:pathLst>
                <a:path w="392429" h="211454">
                  <a:moveTo>
                    <a:pt x="286447" y="0"/>
                  </a:moveTo>
                  <a:lnTo>
                    <a:pt x="286447" y="52766"/>
                  </a:lnTo>
                  <a:lnTo>
                    <a:pt x="0" y="52766"/>
                  </a:lnTo>
                  <a:lnTo>
                    <a:pt x="0" y="158247"/>
                  </a:lnTo>
                  <a:lnTo>
                    <a:pt x="286447" y="158247"/>
                  </a:lnTo>
                  <a:lnTo>
                    <a:pt x="286447" y="211014"/>
                  </a:lnTo>
                  <a:lnTo>
                    <a:pt x="391980" y="105533"/>
                  </a:lnTo>
                  <a:lnTo>
                    <a:pt x="28644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19" name="object 19"/>
            <p:cNvSpPr/>
            <p:nvPr/>
          </p:nvSpPr>
          <p:spPr>
            <a:xfrm>
              <a:off x="9976669" y="10112459"/>
              <a:ext cx="392430" cy="211454"/>
            </a:xfrm>
            <a:custGeom>
              <a:avLst/>
              <a:gdLst/>
              <a:ahLst/>
              <a:cxnLst/>
              <a:rect l="l" t="t" r="r" b="b"/>
              <a:pathLst>
                <a:path w="392429" h="211454">
                  <a:moveTo>
                    <a:pt x="0" y="52766"/>
                  </a:moveTo>
                  <a:lnTo>
                    <a:pt x="286447" y="52766"/>
                  </a:lnTo>
                  <a:lnTo>
                    <a:pt x="286447" y="0"/>
                  </a:lnTo>
                  <a:lnTo>
                    <a:pt x="391980" y="105533"/>
                  </a:lnTo>
                  <a:lnTo>
                    <a:pt x="286447" y="211014"/>
                  </a:lnTo>
                  <a:lnTo>
                    <a:pt x="286447" y="158247"/>
                  </a:lnTo>
                  <a:lnTo>
                    <a:pt x="0" y="158247"/>
                  </a:lnTo>
                  <a:lnTo>
                    <a:pt x="0" y="52766"/>
                  </a:lnTo>
                  <a:close/>
                </a:path>
              </a:pathLst>
            </a:custGeom>
            <a:ln w="20939">
              <a:solidFill>
                <a:srgbClr val="01246C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9062184" y="4276780"/>
            <a:ext cx="4373563" cy="1210642"/>
            <a:chOff x="15715462" y="3526363"/>
            <a:chExt cx="3606165" cy="998219"/>
          </a:xfrm>
        </p:grpSpPr>
        <p:sp>
          <p:nvSpPr>
            <p:cNvPr id="21" name="object 21"/>
            <p:cNvSpPr/>
            <p:nvPr/>
          </p:nvSpPr>
          <p:spPr>
            <a:xfrm>
              <a:off x="15720697" y="3531597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54"/>
                  </a:lnTo>
                  <a:lnTo>
                    <a:pt x="22474" y="905967"/>
                  </a:lnTo>
                  <a:lnTo>
                    <a:pt x="48212" y="939278"/>
                  </a:lnTo>
                  <a:lnTo>
                    <a:pt x="81523" y="965015"/>
                  </a:lnTo>
                  <a:lnTo>
                    <a:pt x="120836" y="981610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0"/>
                  </a:lnTo>
                  <a:lnTo>
                    <a:pt x="3514148" y="965015"/>
                  </a:lnTo>
                  <a:lnTo>
                    <a:pt x="3547458" y="939278"/>
                  </a:lnTo>
                  <a:lnTo>
                    <a:pt x="3573196" y="905967"/>
                  </a:lnTo>
                  <a:lnTo>
                    <a:pt x="3589790" y="866654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2" name="object 22"/>
            <p:cNvSpPr/>
            <p:nvPr/>
          </p:nvSpPr>
          <p:spPr>
            <a:xfrm>
              <a:off x="15720697" y="3531597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54"/>
                  </a:lnTo>
                  <a:lnTo>
                    <a:pt x="3573196" y="905967"/>
                  </a:lnTo>
                  <a:lnTo>
                    <a:pt x="3547458" y="939278"/>
                  </a:lnTo>
                  <a:lnTo>
                    <a:pt x="3514148" y="965015"/>
                  </a:lnTo>
                  <a:lnTo>
                    <a:pt x="3474835" y="981610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0"/>
                  </a:lnTo>
                  <a:lnTo>
                    <a:pt x="81523" y="965015"/>
                  </a:lnTo>
                  <a:lnTo>
                    <a:pt x="48212" y="939278"/>
                  </a:lnTo>
                  <a:lnTo>
                    <a:pt x="22474" y="905967"/>
                  </a:lnTo>
                  <a:lnTo>
                    <a:pt x="5880" y="866654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545031" y="4553228"/>
            <a:ext cx="3326958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88" dirty="0">
                <a:latin typeface="Calibri"/>
                <a:cs typeface="Calibri"/>
              </a:rPr>
              <a:t>Transpile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circuit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062184" y="6690325"/>
            <a:ext cx="4373563" cy="1210642"/>
            <a:chOff x="15715462" y="5516420"/>
            <a:chExt cx="3606165" cy="998219"/>
          </a:xfrm>
        </p:grpSpPr>
        <p:sp>
          <p:nvSpPr>
            <p:cNvPr id="25" name="object 25"/>
            <p:cNvSpPr/>
            <p:nvPr/>
          </p:nvSpPr>
          <p:spPr>
            <a:xfrm>
              <a:off x="15720697" y="5521655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59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54"/>
                  </a:lnTo>
                  <a:lnTo>
                    <a:pt x="22474" y="905967"/>
                  </a:lnTo>
                  <a:lnTo>
                    <a:pt x="48212" y="939278"/>
                  </a:lnTo>
                  <a:lnTo>
                    <a:pt x="81523" y="965015"/>
                  </a:lnTo>
                  <a:lnTo>
                    <a:pt x="120836" y="981610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0"/>
                  </a:lnTo>
                  <a:lnTo>
                    <a:pt x="3514148" y="965015"/>
                  </a:lnTo>
                  <a:lnTo>
                    <a:pt x="3547458" y="939278"/>
                  </a:lnTo>
                  <a:lnTo>
                    <a:pt x="3573196" y="905967"/>
                  </a:lnTo>
                  <a:lnTo>
                    <a:pt x="3589790" y="866654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6" name="object 26"/>
            <p:cNvSpPr/>
            <p:nvPr/>
          </p:nvSpPr>
          <p:spPr>
            <a:xfrm>
              <a:off x="15720697" y="5521655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59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54"/>
                  </a:lnTo>
                  <a:lnTo>
                    <a:pt x="3573196" y="905967"/>
                  </a:lnTo>
                  <a:lnTo>
                    <a:pt x="3547458" y="939278"/>
                  </a:lnTo>
                  <a:lnTo>
                    <a:pt x="3514148" y="965015"/>
                  </a:lnTo>
                  <a:lnTo>
                    <a:pt x="3474835" y="981610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0"/>
                  </a:lnTo>
                  <a:lnTo>
                    <a:pt x="81523" y="965015"/>
                  </a:lnTo>
                  <a:lnTo>
                    <a:pt x="48212" y="939278"/>
                  </a:lnTo>
                  <a:lnTo>
                    <a:pt x="22474" y="905967"/>
                  </a:lnTo>
                  <a:lnTo>
                    <a:pt x="5880" y="866654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9376156" y="6970837"/>
            <a:ext cx="366196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6" dirty="0">
                <a:latin typeface="Calibri"/>
                <a:cs typeface="Calibri"/>
              </a:rPr>
              <a:t>Sampler</a:t>
            </a:r>
            <a:r>
              <a:rPr sz="3578" spc="24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primitive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062184" y="9113010"/>
            <a:ext cx="4373563" cy="1201401"/>
            <a:chOff x="15715462" y="7514014"/>
            <a:chExt cx="3606165" cy="990600"/>
          </a:xfrm>
        </p:grpSpPr>
        <p:sp>
          <p:nvSpPr>
            <p:cNvPr id="29" name="object 29"/>
            <p:cNvSpPr/>
            <p:nvPr/>
          </p:nvSpPr>
          <p:spPr>
            <a:xfrm>
              <a:off x="15720697" y="7519249"/>
              <a:ext cx="3596004" cy="980440"/>
            </a:xfrm>
            <a:custGeom>
              <a:avLst/>
              <a:gdLst/>
              <a:ahLst/>
              <a:cxnLst/>
              <a:rect l="l" t="t" r="r" b="b"/>
              <a:pathLst>
                <a:path w="3596005" h="980440">
                  <a:moveTo>
                    <a:pt x="3432345" y="0"/>
                  </a:moveTo>
                  <a:lnTo>
                    <a:pt x="163325" y="0"/>
                  </a:lnTo>
                  <a:lnTo>
                    <a:pt x="119891" y="5838"/>
                  </a:lnTo>
                  <a:lnTo>
                    <a:pt x="80871" y="22311"/>
                  </a:lnTo>
                  <a:lnTo>
                    <a:pt x="47819" y="47859"/>
                  </a:lnTo>
                  <a:lnTo>
                    <a:pt x="22288" y="80918"/>
                  </a:lnTo>
                  <a:lnTo>
                    <a:pt x="5830" y="119927"/>
                  </a:lnTo>
                  <a:lnTo>
                    <a:pt x="0" y="163325"/>
                  </a:lnTo>
                  <a:lnTo>
                    <a:pt x="0" y="816626"/>
                  </a:lnTo>
                  <a:lnTo>
                    <a:pt x="5830" y="860061"/>
                  </a:lnTo>
                  <a:lnTo>
                    <a:pt x="22288" y="899080"/>
                  </a:lnTo>
                  <a:lnTo>
                    <a:pt x="47819" y="932132"/>
                  </a:lnTo>
                  <a:lnTo>
                    <a:pt x="80871" y="957663"/>
                  </a:lnTo>
                  <a:lnTo>
                    <a:pt x="119891" y="974121"/>
                  </a:lnTo>
                  <a:lnTo>
                    <a:pt x="163325" y="979952"/>
                  </a:lnTo>
                  <a:lnTo>
                    <a:pt x="3432345" y="979952"/>
                  </a:lnTo>
                  <a:lnTo>
                    <a:pt x="3475780" y="974121"/>
                  </a:lnTo>
                  <a:lnTo>
                    <a:pt x="3514799" y="957663"/>
                  </a:lnTo>
                  <a:lnTo>
                    <a:pt x="3547851" y="932132"/>
                  </a:lnTo>
                  <a:lnTo>
                    <a:pt x="3573382" y="899080"/>
                  </a:lnTo>
                  <a:lnTo>
                    <a:pt x="3589840" y="860061"/>
                  </a:lnTo>
                  <a:lnTo>
                    <a:pt x="3595671" y="816626"/>
                  </a:lnTo>
                  <a:lnTo>
                    <a:pt x="3595671" y="163325"/>
                  </a:lnTo>
                  <a:lnTo>
                    <a:pt x="3589840" y="119927"/>
                  </a:lnTo>
                  <a:lnTo>
                    <a:pt x="3573382" y="80918"/>
                  </a:lnTo>
                  <a:lnTo>
                    <a:pt x="3547851" y="47859"/>
                  </a:lnTo>
                  <a:lnTo>
                    <a:pt x="3514799" y="22311"/>
                  </a:lnTo>
                  <a:lnTo>
                    <a:pt x="3475780" y="5838"/>
                  </a:lnTo>
                  <a:lnTo>
                    <a:pt x="3432345" y="0"/>
                  </a:lnTo>
                  <a:close/>
                </a:path>
              </a:pathLst>
            </a:custGeom>
            <a:solidFill>
              <a:srgbClr val="A46D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0" name="object 30"/>
            <p:cNvSpPr/>
            <p:nvPr/>
          </p:nvSpPr>
          <p:spPr>
            <a:xfrm>
              <a:off x="15720697" y="7519249"/>
              <a:ext cx="3596004" cy="980440"/>
            </a:xfrm>
            <a:custGeom>
              <a:avLst/>
              <a:gdLst/>
              <a:ahLst/>
              <a:cxnLst/>
              <a:rect l="l" t="t" r="r" b="b"/>
              <a:pathLst>
                <a:path w="3596005" h="980440">
                  <a:moveTo>
                    <a:pt x="0" y="163325"/>
                  </a:moveTo>
                  <a:lnTo>
                    <a:pt x="5830" y="119927"/>
                  </a:lnTo>
                  <a:lnTo>
                    <a:pt x="22288" y="80918"/>
                  </a:lnTo>
                  <a:lnTo>
                    <a:pt x="47819" y="47859"/>
                  </a:lnTo>
                  <a:lnTo>
                    <a:pt x="80871" y="22311"/>
                  </a:lnTo>
                  <a:lnTo>
                    <a:pt x="119891" y="5838"/>
                  </a:lnTo>
                  <a:lnTo>
                    <a:pt x="163325" y="0"/>
                  </a:lnTo>
                  <a:lnTo>
                    <a:pt x="3432345" y="0"/>
                  </a:lnTo>
                  <a:lnTo>
                    <a:pt x="3475780" y="5838"/>
                  </a:lnTo>
                  <a:lnTo>
                    <a:pt x="3514799" y="22311"/>
                  </a:lnTo>
                  <a:lnTo>
                    <a:pt x="3547851" y="47859"/>
                  </a:lnTo>
                  <a:lnTo>
                    <a:pt x="3573382" y="80918"/>
                  </a:lnTo>
                  <a:lnTo>
                    <a:pt x="3589840" y="119927"/>
                  </a:lnTo>
                  <a:lnTo>
                    <a:pt x="3595671" y="163325"/>
                  </a:lnTo>
                  <a:lnTo>
                    <a:pt x="3595671" y="816626"/>
                  </a:lnTo>
                  <a:lnTo>
                    <a:pt x="3589840" y="860061"/>
                  </a:lnTo>
                  <a:lnTo>
                    <a:pt x="3573382" y="899080"/>
                  </a:lnTo>
                  <a:lnTo>
                    <a:pt x="3547851" y="932132"/>
                  </a:lnTo>
                  <a:lnTo>
                    <a:pt x="3514799" y="957663"/>
                  </a:lnTo>
                  <a:lnTo>
                    <a:pt x="3475780" y="974121"/>
                  </a:lnTo>
                  <a:lnTo>
                    <a:pt x="3432345" y="979952"/>
                  </a:lnTo>
                  <a:lnTo>
                    <a:pt x="163325" y="979952"/>
                  </a:lnTo>
                  <a:lnTo>
                    <a:pt x="119891" y="974121"/>
                  </a:lnTo>
                  <a:lnTo>
                    <a:pt x="80871" y="957663"/>
                  </a:lnTo>
                  <a:lnTo>
                    <a:pt x="47819" y="932132"/>
                  </a:lnTo>
                  <a:lnTo>
                    <a:pt x="22288" y="899080"/>
                  </a:lnTo>
                  <a:lnTo>
                    <a:pt x="5830" y="860061"/>
                  </a:lnTo>
                  <a:lnTo>
                    <a:pt x="0" y="816626"/>
                  </a:lnTo>
                  <a:lnTo>
                    <a:pt x="0" y="163325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0746219" y="9390096"/>
            <a:ext cx="2244926" cy="1758820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12" dirty="0">
                <a:latin typeface="Calibri"/>
                <a:cs typeface="Calibri"/>
              </a:rPr>
              <a:t>SQD</a:t>
            </a:r>
            <a:endParaRPr sz="3578">
              <a:latin typeface="Calibri"/>
              <a:cs typeface="Calibri"/>
            </a:endParaRPr>
          </a:p>
          <a:p>
            <a:pPr marL="797853">
              <a:spcBef>
                <a:spcPts val="3590"/>
              </a:spcBef>
            </a:pPr>
            <a:r>
              <a:rPr sz="2365" spc="97" dirty="0">
                <a:solidFill>
                  <a:srgbClr val="893EFB"/>
                </a:solidFill>
                <a:latin typeface="Calibri"/>
                <a:cs typeface="Calibri"/>
              </a:rPr>
              <a:t>Energy</a:t>
            </a:r>
            <a:endParaRPr sz="2365">
              <a:latin typeface="Calibri"/>
              <a:cs typeface="Calibri"/>
            </a:endParaRPr>
          </a:p>
          <a:p>
            <a:pPr marL="797853">
              <a:spcBef>
                <a:spcPts val="42"/>
              </a:spcBef>
            </a:pPr>
            <a:r>
              <a:rPr sz="2365" spc="79" dirty="0">
                <a:solidFill>
                  <a:srgbClr val="893EFB"/>
                </a:solidFill>
                <a:latin typeface="Calibri"/>
                <a:cs typeface="Calibri"/>
              </a:rPr>
              <a:t>estimation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7194378" y="4072856"/>
            <a:ext cx="6606938" cy="0"/>
          </a:xfrm>
          <a:custGeom>
            <a:avLst/>
            <a:gdLst/>
            <a:ahLst/>
            <a:cxnLst/>
            <a:rect l="l" t="t" r="r" b="b"/>
            <a:pathLst>
              <a:path w="5447665">
                <a:moveTo>
                  <a:pt x="0" y="0"/>
                </a:moveTo>
                <a:lnTo>
                  <a:pt x="5447320" y="0"/>
                </a:lnTo>
              </a:path>
            </a:pathLst>
          </a:custGeom>
          <a:ln w="1046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3" name="object 33"/>
          <p:cNvSpPr txBox="1"/>
          <p:nvPr/>
        </p:nvSpPr>
        <p:spPr>
          <a:xfrm>
            <a:off x="17268621" y="3287159"/>
            <a:ext cx="883338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7194378" y="6477259"/>
            <a:ext cx="6606938" cy="0"/>
          </a:xfrm>
          <a:custGeom>
            <a:avLst/>
            <a:gdLst/>
            <a:ahLst/>
            <a:cxnLst/>
            <a:rect l="l" t="t" r="r" b="b"/>
            <a:pathLst>
              <a:path w="5447665">
                <a:moveTo>
                  <a:pt x="0" y="0"/>
                </a:moveTo>
                <a:lnTo>
                  <a:pt x="5447320" y="0"/>
                </a:lnTo>
              </a:path>
            </a:pathLst>
          </a:custGeom>
          <a:ln w="1046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5" name="object 35"/>
          <p:cNvSpPr txBox="1"/>
          <p:nvPr/>
        </p:nvSpPr>
        <p:spPr>
          <a:xfrm>
            <a:off x="17193325" y="5729654"/>
            <a:ext cx="171122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12" dirty="0">
                <a:latin typeface="Calibri"/>
                <a:cs typeface="Calibri"/>
              </a:rPr>
              <a:t>Optimize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194378" y="8909089"/>
            <a:ext cx="6606938" cy="0"/>
          </a:xfrm>
          <a:custGeom>
            <a:avLst/>
            <a:gdLst/>
            <a:ahLst/>
            <a:cxnLst/>
            <a:rect l="l" t="t" r="r" b="b"/>
            <a:pathLst>
              <a:path w="5447665">
                <a:moveTo>
                  <a:pt x="0" y="0"/>
                </a:moveTo>
                <a:lnTo>
                  <a:pt x="5447320" y="0"/>
                </a:lnTo>
              </a:path>
            </a:pathLst>
          </a:custGeom>
          <a:ln w="1046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7" name="object 37"/>
          <p:cNvSpPr txBox="1"/>
          <p:nvPr/>
        </p:nvSpPr>
        <p:spPr>
          <a:xfrm>
            <a:off x="17193325" y="8126819"/>
            <a:ext cx="1491740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12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193325" y="10573504"/>
            <a:ext cx="2402032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dirty="0">
                <a:latin typeface="Calibri"/>
                <a:cs typeface="Calibri"/>
              </a:rPr>
              <a:t>Post-</a:t>
            </a:r>
            <a:r>
              <a:rPr sz="3578" spc="-12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529275" y="3166342"/>
            <a:ext cx="1043525" cy="38027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2365" spc="85" dirty="0">
                <a:latin typeface="Calibri"/>
                <a:cs typeface="Calibri"/>
              </a:rPr>
              <a:t>Circuits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208319" y="937076"/>
            <a:ext cx="127071" cy="725462"/>
          </a:xfrm>
          <a:custGeom>
            <a:avLst/>
            <a:gdLst/>
            <a:ahLst/>
            <a:cxnLst/>
            <a:rect l="l" t="t" r="r" b="b"/>
            <a:pathLst>
              <a:path w="104775" h="598169">
                <a:moveTo>
                  <a:pt x="41878" y="534995"/>
                </a:moveTo>
                <a:lnTo>
                  <a:pt x="0" y="534995"/>
                </a:lnTo>
                <a:lnTo>
                  <a:pt x="52347" y="597812"/>
                </a:lnTo>
                <a:lnTo>
                  <a:pt x="95971" y="545464"/>
                </a:lnTo>
                <a:lnTo>
                  <a:pt x="41878" y="545464"/>
                </a:lnTo>
                <a:lnTo>
                  <a:pt x="41878" y="534995"/>
                </a:lnTo>
                <a:close/>
              </a:path>
              <a:path w="104775" h="598169">
                <a:moveTo>
                  <a:pt x="62817" y="0"/>
                </a:moveTo>
                <a:lnTo>
                  <a:pt x="41878" y="0"/>
                </a:lnTo>
                <a:lnTo>
                  <a:pt x="41878" y="545464"/>
                </a:lnTo>
                <a:lnTo>
                  <a:pt x="62817" y="545464"/>
                </a:lnTo>
                <a:lnTo>
                  <a:pt x="62817" y="0"/>
                </a:lnTo>
                <a:close/>
              </a:path>
              <a:path w="104775" h="598169">
                <a:moveTo>
                  <a:pt x="104695" y="534995"/>
                </a:moveTo>
                <a:lnTo>
                  <a:pt x="62817" y="534995"/>
                </a:lnTo>
                <a:lnTo>
                  <a:pt x="62817" y="545464"/>
                </a:lnTo>
                <a:lnTo>
                  <a:pt x="95971" y="545464"/>
                </a:lnTo>
                <a:lnTo>
                  <a:pt x="104695" y="53499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1" name="object 41"/>
          <p:cNvSpPr/>
          <p:nvPr/>
        </p:nvSpPr>
        <p:spPr>
          <a:xfrm>
            <a:off x="21217460" y="3195204"/>
            <a:ext cx="127071" cy="725462"/>
          </a:xfrm>
          <a:custGeom>
            <a:avLst/>
            <a:gdLst/>
            <a:ahLst/>
            <a:cxnLst/>
            <a:rect l="l" t="t" r="r" b="b"/>
            <a:pathLst>
              <a:path w="104775" h="598169">
                <a:moveTo>
                  <a:pt x="41878" y="534995"/>
                </a:moveTo>
                <a:lnTo>
                  <a:pt x="0" y="534995"/>
                </a:lnTo>
                <a:lnTo>
                  <a:pt x="52347" y="597812"/>
                </a:lnTo>
                <a:lnTo>
                  <a:pt x="95971" y="545464"/>
                </a:lnTo>
                <a:lnTo>
                  <a:pt x="41878" y="545464"/>
                </a:lnTo>
                <a:lnTo>
                  <a:pt x="41878" y="534995"/>
                </a:lnTo>
                <a:close/>
              </a:path>
              <a:path w="104775" h="598169">
                <a:moveTo>
                  <a:pt x="62817" y="0"/>
                </a:moveTo>
                <a:lnTo>
                  <a:pt x="41878" y="0"/>
                </a:lnTo>
                <a:lnTo>
                  <a:pt x="41878" y="545464"/>
                </a:lnTo>
                <a:lnTo>
                  <a:pt x="62817" y="545464"/>
                </a:lnTo>
                <a:lnTo>
                  <a:pt x="62817" y="0"/>
                </a:lnTo>
                <a:close/>
              </a:path>
              <a:path w="104775" h="598169">
                <a:moveTo>
                  <a:pt x="104695" y="534995"/>
                </a:moveTo>
                <a:lnTo>
                  <a:pt x="62817" y="534995"/>
                </a:lnTo>
                <a:lnTo>
                  <a:pt x="62817" y="545464"/>
                </a:lnTo>
                <a:lnTo>
                  <a:pt x="95971" y="545464"/>
                </a:lnTo>
                <a:lnTo>
                  <a:pt x="104695" y="53499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2" name="object 42"/>
          <p:cNvSpPr/>
          <p:nvPr/>
        </p:nvSpPr>
        <p:spPr>
          <a:xfrm>
            <a:off x="21226605" y="5617891"/>
            <a:ext cx="127071" cy="725462"/>
          </a:xfrm>
          <a:custGeom>
            <a:avLst/>
            <a:gdLst/>
            <a:ahLst/>
            <a:cxnLst/>
            <a:rect l="l" t="t" r="r" b="b"/>
            <a:pathLst>
              <a:path w="104775" h="598170">
                <a:moveTo>
                  <a:pt x="41878" y="534995"/>
                </a:moveTo>
                <a:lnTo>
                  <a:pt x="0" y="534995"/>
                </a:lnTo>
                <a:lnTo>
                  <a:pt x="52347" y="597812"/>
                </a:lnTo>
                <a:lnTo>
                  <a:pt x="95971" y="545464"/>
                </a:lnTo>
                <a:lnTo>
                  <a:pt x="41878" y="545464"/>
                </a:lnTo>
                <a:lnTo>
                  <a:pt x="41878" y="534995"/>
                </a:lnTo>
                <a:close/>
              </a:path>
              <a:path w="104775" h="598170">
                <a:moveTo>
                  <a:pt x="62817" y="0"/>
                </a:moveTo>
                <a:lnTo>
                  <a:pt x="41878" y="0"/>
                </a:lnTo>
                <a:lnTo>
                  <a:pt x="41878" y="545464"/>
                </a:lnTo>
                <a:lnTo>
                  <a:pt x="62817" y="545464"/>
                </a:lnTo>
                <a:lnTo>
                  <a:pt x="62817" y="0"/>
                </a:lnTo>
                <a:close/>
              </a:path>
              <a:path w="104775" h="598170">
                <a:moveTo>
                  <a:pt x="104695" y="534995"/>
                </a:moveTo>
                <a:lnTo>
                  <a:pt x="62817" y="534995"/>
                </a:lnTo>
                <a:lnTo>
                  <a:pt x="62817" y="545464"/>
                </a:lnTo>
                <a:lnTo>
                  <a:pt x="95971" y="545464"/>
                </a:lnTo>
                <a:lnTo>
                  <a:pt x="104695" y="53499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3" name="object 43"/>
          <p:cNvSpPr txBox="1"/>
          <p:nvPr/>
        </p:nvSpPr>
        <p:spPr>
          <a:xfrm>
            <a:off x="21565842" y="5577157"/>
            <a:ext cx="1519465" cy="735004"/>
          </a:xfrm>
          <a:prstGeom prst="rect">
            <a:avLst/>
          </a:prstGeom>
        </p:spPr>
        <p:txBody>
          <a:bodyPr vert="horz" wrap="square" lIns="0" tIns="11552" rIns="0" bIns="0" rtlCol="0">
            <a:spAutoFit/>
          </a:bodyPr>
          <a:lstStyle/>
          <a:p>
            <a:pPr marL="15403" marR="6161">
              <a:lnSpc>
                <a:spcPct val="101499"/>
              </a:lnSpc>
              <a:spcBef>
                <a:spcPts val="91"/>
              </a:spcBef>
            </a:pPr>
            <a:r>
              <a:rPr sz="2365" spc="236" dirty="0">
                <a:latin typeface="Calibri"/>
                <a:cs typeface="Calibri"/>
              </a:rPr>
              <a:t>ISA</a:t>
            </a:r>
            <a:r>
              <a:rPr sz="2365" spc="61" dirty="0">
                <a:latin typeface="Calibri"/>
                <a:cs typeface="Calibri"/>
              </a:rPr>
              <a:t> </a:t>
            </a:r>
            <a:r>
              <a:rPr sz="2365" spc="55" dirty="0">
                <a:latin typeface="Calibri"/>
                <a:cs typeface="Calibri"/>
              </a:rPr>
              <a:t>circuit, </a:t>
            </a:r>
            <a:r>
              <a:rPr sz="2365" spc="91" dirty="0">
                <a:latin typeface="Calibri"/>
                <a:cs typeface="Calibri"/>
              </a:rPr>
              <a:t>observable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1226605" y="8040579"/>
            <a:ext cx="127071" cy="725462"/>
          </a:xfrm>
          <a:custGeom>
            <a:avLst/>
            <a:gdLst/>
            <a:ahLst/>
            <a:cxnLst/>
            <a:rect l="l" t="t" r="r" b="b"/>
            <a:pathLst>
              <a:path w="104775" h="598170">
                <a:moveTo>
                  <a:pt x="41878" y="534995"/>
                </a:moveTo>
                <a:lnTo>
                  <a:pt x="0" y="534995"/>
                </a:lnTo>
                <a:lnTo>
                  <a:pt x="52347" y="597812"/>
                </a:lnTo>
                <a:lnTo>
                  <a:pt x="95971" y="545464"/>
                </a:lnTo>
                <a:lnTo>
                  <a:pt x="41878" y="545464"/>
                </a:lnTo>
                <a:lnTo>
                  <a:pt x="41878" y="534995"/>
                </a:lnTo>
                <a:close/>
              </a:path>
              <a:path w="104775" h="598170">
                <a:moveTo>
                  <a:pt x="62817" y="0"/>
                </a:moveTo>
                <a:lnTo>
                  <a:pt x="41878" y="0"/>
                </a:lnTo>
                <a:lnTo>
                  <a:pt x="41878" y="545464"/>
                </a:lnTo>
                <a:lnTo>
                  <a:pt x="62817" y="545464"/>
                </a:lnTo>
                <a:lnTo>
                  <a:pt x="62817" y="0"/>
                </a:lnTo>
                <a:close/>
              </a:path>
              <a:path w="104775" h="598170">
                <a:moveTo>
                  <a:pt x="104695" y="534995"/>
                </a:moveTo>
                <a:lnTo>
                  <a:pt x="62817" y="534995"/>
                </a:lnTo>
                <a:lnTo>
                  <a:pt x="62817" y="545464"/>
                </a:lnTo>
                <a:lnTo>
                  <a:pt x="95971" y="545464"/>
                </a:lnTo>
                <a:lnTo>
                  <a:pt x="104695" y="53499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5" name="object 45"/>
          <p:cNvSpPr txBox="1"/>
          <p:nvPr/>
        </p:nvSpPr>
        <p:spPr>
          <a:xfrm>
            <a:off x="21546541" y="8012415"/>
            <a:ext cx="1198321" cy="38105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2365" spc="146" dirty="0">
                <a:latin typeface="Calibri"/>
                <a:cs typeface="Calibri"/>
              </a:rPr>
              <a:t>Samples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1180893" y="10417554"/>
            <a:ext cx="127071" cy="725462"/>
          </a:xfrm>
          <a:custGeom>
            <a:avLst/>
            <a:gdLst/>
            <a:ahLst/>
            <a:cxnLst/>
            <a:rect l="l" t="t" r="r" b="b"/>
            <a:pathLst>
              <a:path w="104775" h="598170">
                <a:moveTo>
                  <a:pt x="41878" y="534995"/>
                </a:moveTo>
                <a:lnTo>
                  <a:pt x="0" y="534995"/>
                </a:lnTo>
                <a:lnTo>
                  <a:pt x="52347" y="597812"/>
                </a:lnTo>
                <a:lnTo>
                  <a:pt x="95971" y="545464"/>
                </a:lnTo>
                <a:lnTo>
                  <a:pt x="41878" y="545464"/>
                </a:lnTo>
                <a:lnTo>
                  <a:pt x="41878" y="534995"/>
                </a:lnTo>
                <a:close/>
              </a:path>
              <a:path w="104775" h="598170">
                <a:moveTo>
                  <a:pt x="62817" y="0"/>
                </a:moveTo>
                <a:lnTo>
                  <a:pt x="41878" y="0"/>
                </a:lnTo>
                <a:lnTo>
                  <a:pt x="41878" y="545464"/>
                </a:lnTo>
                <a:lnTo>
                  <a:pt x="62817" y="545464"/>
                </a:lnTo>
                <a:lnTo>
                  <a:pt x="62817" y="0"/>
                </a:lnTo>
                <a:close/>
              </a:path>
              <a:path w="104775" h="598170">
                <a:moveTo>
                  <a:pt x="104695" y="534995"/>
                </a:moveTo>
                <a:lnTo>
                  <a:pt x="62817" y="534995"/>
                </a:lnTo>
                <a:lnTo>
                  <a:pt x="62817" y="545464"/>
                </a:lnTo>
                <a:lnTo>
                  <a:pt x="95971" y="545464"/>
                </a:lnTo>
                <a:lnTo>
                  <a:pt x="104695" y="534995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grpSp>
        <p:nvGrpSpPr>
          <p:cNvPr id="47" name="object 47"/>
          <p:cNvGrpSpPr/>
          <p:nvPr/>
        </p:nvGrpSpPr>
        <p:grpSpPr>
          <a:xfrm>
            <a:off x="19062184" y="1808381"/>
            <a:ext cx="4373563" cy="1210642"/>
            <a:chOff x="15715462" y="1491077"/>
            <a:chExt cx="3606165" cy="998219"/>
          </a:xfrm>
        </p:grpSpPr>
        <p:sp>
          <p:nvSpPr>
            <p:cNvPr id="48" name="object 48"/>
            <p:cNvSpPr/>
            <p:nvPr/>
          </p:nvSpPr>
          <p:spPr>
            <a:xfrm>
              <a:off x="15720697" y="1496312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54"/>
                  </a:lnTo>
                  <a:lnTo>
                    <a:pt x="22474" y="905967"/>
                  </a:lnTo>
                  <a:lnTo>
                    <a:pt x="48212" y="939278"/>
                  </a:lnTo>
                  <a:lnTo>
                    <a:pt x="81523" y="965015"/>
                  </a:lnTo>
                  <a:lnTo>
                    <a:pt x="120836" y="981610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0"/>
                  </a:lnTo>
                  <a:lnTo>
                    <a:pt x="3514148" y="965015"/>
                  </a:lnTo>
                  <a:lnTo>
                    <a:pt x="3547458" y="939278"/>
                  </a:lnTo>
                  <a:lnTo>
                    <a:pt x="3573196" y="905967"/>
                  </a:lnTo>
                  <a:lnTo>
                    <a:pt x="3589790" y="866654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9" name="object 49"/>
            <p:cNvSpPr/>
            <p:nvPr/>
          </p:nvSpPr>
          <p:spPr>
            <a:xfrm>
              <a:off x="15720697" y="1496312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54"/>
                  </a:lnTo>
                  <a:lnTo>
                    <a:pt x="3573196" y="905967"/>
                  </a:lnTo>
                  <a:lnTo>
                    <a:pt x="3547458" y="939278"/>
                  </a:lnTo>
                  <a:lnTo>
                    <a:pt x="3514148" y="965015"/>
                  </a:lnTo>
                  <a:lnTo>
                    <a:pt x="3474835" y="981610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0"/>
                  </a:lnTo>
                  <a:lnTo>
                    <a:pt x="81523" y="965015"/>
                  </a:lnTo>
                  <a:lnTo>
                    <a:pt x="48212" y="939278"/>
                  </a:lnTo>
                  <a:lnTo>
                    <a:pt x="22474" y="905967"/>
                  </a:lnTo>
                  <a:lnTo>
                    <a:pt x="5880" y="866654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9804824" y="912977"/>
            <a:ext cx="2891065" cy="200175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766674">
              <a:spcBef>
                <a:spcPts val="133"/>
              </a:spcBef>
            </a:pPr>
            <a:r>
              <a:rPr sz="2365" spc="91" dirty="0">
                <a:latin typeface="Calibri"/>
                <a:cs typeface="Calibri"/>
              </a:rPr>
              <a:t>Domain</a:t>
            </a:r>
            <a:endParaRPr sz="2365">
              <a:latin typeface="Calibri"/>
              <a:cs typeface="Calibri"/>
            </a:endParaRPr>
          </a:p>
          <a:p>
            <a:pPr marL="1766674">
              <a:spcBef>
                <a:spcPts val="42"/>
              </a:spcBef>
            </a:pPr>
            <a:r>
              <a:rPr sz="2365" spc="85" dirty="0">
                <a:latin typeface="Calibri"/>
                <a:cs typeface="Calibri"/>
              </a:rPr>
              <a:t>inputs</a:t>
            </a:r>
            <a:endParaRPr sz="2365">
              <a:latin typeface="Calibri"/>
              <a:cs typeface="Calibri"/>
            </a:endParaRPr>
          </a:p>
          <a:p>
            <a:pPr marL="309591" marR="6161" indent="-294958">
              <a:lnSpc>
                <a:spcPts val="3893"/>
              </a:lnSpc>
              <a:spcBef>
                <a:spcPts val="2001"/>
              </a:spcBef>
            </a:pPr>
            <a:r>
              <a:rPr sz="3578" spc="164" dirty="0">
                <a:latin typeface="Calibri"/>
                <a:cs typeface="Calibri"/>
              </a:rPr>
              <a:t>Create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circuit, </a:t>
            </a:r>
            <a:r>
              <a:rPr sz="3578" spc="164" dirty="0">
                <a:latin typeface="Calibri"/>
                <a:cs typeface="Calibri"/>
              </a:rPr>
              <a:t>observable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5432" y="12917689"/>
            <a:ext cx="2273421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-97" dirty="0">
                <a:solidFill>
                  <a:srgbClr val="161616"/>
                </a:solidFill>
                <a:latin typeface="Calibri"/>
                <a:cs typeface="Calibri"/>
              </a:rPr>
              <a:t>©</a:t>
            </a:r>
            <a:r>
              <a:rPr sz="1577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77" spc="146" dirty="0">
                <a:solidFill>
                  <a:srgbClr val="161616"/>
                </a:solidFill>
                <a:latin typeface="Calibri"/>
                <a:cs typeface="Calibri"/>
              </a:rPr>
              <a:t>2026</a:t>
            </a:r>
            <a:r>
              <a:rPr sz="1577" spc="67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77" spc="121" dirty="0">
                <a:solidFill>
                  <a:srgbClr val="161616"/>
                </a:solidFill>
                <a:latin typeface="Calibri"/>
                <a:cs typeface="Calibri"/>
              </a:rPr>
              <a:t>IBM</a:t>
            </a:r>
            <a:r>
              <a:rPr sz="1577" spc="18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77" spc="42" dirty="0">
                <a:solidFill>
                  <a:srgbClr val="161616"/>
                </a:solidFill>
                <a:latin typeface="Calibri"/>
                <a:cs typeface="Calibri"/>
              </a:rPr>
              <a:t>Corporation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30316"/>
            <a:ext cx="451736" cy="263691"/>
          </a:xfrm>
          <a:prstGeom prst="rect">
            <a:avLst/>
          </a:prstGeom>
        </p:spPr>
        <p:txBody>
          <a:bodyPr vert="horz" wrap="square" lIns="0" tIns="20793" rIns="0" bIns="0" rtlCol="0" anchor="b" anchorCtr="0">
            <a:spAutoFit/>
          </a:bodyPr>
          <a:lstStyle/>
          <a:p>
            <a:pPr marL="90875">
              <a:spcBef>
                <a:spcPts val="164"/>
              </a:spcBef>
            </a:pPr>
            <a:fld id="{81D60167-4931-47E6-BA6A-407CBD079E47}" type="slidenum">
              <a:rPr spc="109" dirty="0">
                <a:solidFill>
                  <a:srgbClr val="161616"/>
                </a:solidFill>
              </a:rPr>
              <a:pPr marL="90875">
                <a:spcBef>
                  <a:spcPts val="164"/>
                </a:spcBef>
              </a:pPr>
              <a:t>33</a:t>
            </a:fld>
            <a:endParaRPr spc="109" dirty="0">
              <a:solidFill>
                <a:srgbClr val="161616"/>
              </a:solidFill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8569" y="11303549"/>
            <a:ext cx="4798675" cy="1293492"/>
          </a:xfrm>
          <a:prstGeom prst="rect">
            <a:avLst/>
          </a:prstGeom>
        </p:spPr>
        <p:txBody>
          <a:bodyPr vert="horz" wrap="square" lIns="0" tIns="17713" rIns="0" bIns="0" rtlCol="0">
            <a:spAutoFit/>
          </a:bodyPr>
          <a:lstStyle/>
          <a:p>
            <a:pPr marL="15403">
              <a:lnSpc>
                <a:spcPts val="3329"/>
              </a:lnSpc>
              <a:spcBef>
                <a:spcPts val="139"/>
              </a:spcBef>
            </a:pPr>
            <a:r>
              <a:rPr sz="2789" spc="243" dirty="0">
                <a:solidFill>
                  <a:srgbClr val="0E61FD"/>
                </a:solidFill>
                <a:latin typeface="Calibri"/>
                <a:cs typeface="Calibri"/>
              </a:rPr>
              <a:t>RIKEN</a:t>
            </a:r>
            <a:endParaRPr sz="2789">
              <a:latin typeface="Calibri"/>
              <a:cs typeface="Calibri"/>
            </a:endParaRPr>
          </a:p>
          <a:p>
            <a:pPr marL="15403">
              <a:lnSpc>
                <a:spcPts val="3329"/>
              </a:lnSpc>
            </a:pPr>
            <a:r>
              <a:rPr sz="2789" spc="170" dirty="0">
                <a:solidFill>
                  <a:srgbClr val="0E61FD"/>
                </a:solidFill>
                <a:latin typeface="Calibri"/>
                <a:cs typeface="Calibri"/>
              </a:rPr>
              <a:t>IBM</a:t>
            </a:r>
            <a:r>
              <a:rPr sz="2789" spc="-12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2789" spc="97" dirty="0">
                <a:solidFill>
                  <a:srgbClr val="0E61FD"/>
                </a:solidFill>
                <a:latin typeface="Calibri"/>
                <a:cs typeface="Calibri"/>
              </a:rPr>
              <a:t>Quantum</a:t>
            </a:r>
            <a:endParaRPr sz="2789">
              <a:latin typeface="Calibri"/>
              <a:cs typeface="Calibri"/>
            </a:endParaRPr>
          </a:p>
          <a:p>
            <a:pPr marL="15403">
              <a:spcBef>
                <a:spcPts val="36"/>
              </a:spcBef>
            </a:pPr>
            <a:r>
              <a:rPr sz="2789" spc="73" dirty="0">
                <a:solidFill>
                  <a:srgbClr val="0E61FD"/>
                </a:solidFill>
                <a:latin typeface="Calibri"/>
                <a:cs typeface="Calibri"/>
              </a:rPr>
              <a:t>University </a:t>
            </a:r>
            <a:r>
              <a:rPr sz="2789" dirty="0">
                <a:solidFill>
                  <a:srgbClr val="0E61FD"/>
                </a:solidFill>
                <a:latin typeface="Calibri"/>
                <a:cs typeface="Calibri"/>
              </a:rPr>
              <a:t>of</a:t>
            </a:r>
            <a:r>
              <a:rPr sz="2789" spc="61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2789" spc="97" dirty="0">
                <a:solidFill>
                  <a:srgbClr val="0E61FD"/>
                </a:solidFill>
                <a:latin typeface="Calibri"/>
                <a:cs typeface="Calibri"/>
              </a:rPr>
              <a:t>Colorado</a:t>
            </a:r>
            <a:r>
              <a:rPr sz="2789" spc="24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2789" spc="103" dirty="0">
                <a:solidFill>
                  <a:srgbClr val="0E61FD"/>
                </a:solidFill>
                <a:latin typeface="Calibri"/>
                <a:cs typeface="Calibri"/>
              </a:rPr>
              <a:t>Boulder</a:t>
            </a:r>
            <a:endParaRPr sz="278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53633" y="9142"/>
            <a:ext cx="8431374" cy="13704448"/>
            <a:chOff x="13152347" y="7537"/>
            <a:chExt cx="6951980" cy="11299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50528" y="7537"/>
              <a:ext cx="5653571" cy="112996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53335" y="961107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54"/>
                  </a:lnTo>
                  <a:lnTo>
                    <a:pt x="22474" y="905967"/>
                  </a:lnTo>
                  <a:lnTo>
                    <a:pt x="48212" y="939278"/>
                  </a:lnTo>
                  <a:lnTo>
                    <a:pt x="81523" y="965015"/>
                  </a:lnTo>
                  <a:lnTo>
                    <a:pt x="120836" y="981610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0"/>
                  </a:lnTo>
                  <a:lnTo>
                    <a:pt x="3514148" y="965015"/>
                  </a:lnTo>
                  <a:lnTo>
                    <a:pt x="3547458" y="939278"/>
                  </a:lnTo>
                  <a:lnTo>
                    <a:pt x="3573196" y="905967"/>
                  </a:lnTo>
                  <a:lnTo>
                    <a:pt x="3589790" y="866654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253335" y="961107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54"/>
                  </a:lnTo>
                  <a:lnTo>
                    <a:pt x="3573196" y="905967"/>
                  </a:lnTo>
                  <a:lnTo>
                    <a:pt x="3547458" y="939278"/>
                  </a:lnTo>
                  <a:lnTo>
                    <a:pt x="3514148" y="965015"/>
                  </a:lnTo>
                  <a:lnTo>
                    <a:pt x="3474835" y="981610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0"/>
                  </a:lnTo>
                  <a:lnTo>
                    <a:pt x="81523" y="965015"/>
                  </a:lnTo>
                  <a:lnTo>
                    <a:pt x="48212" y="939278"/>
                  </a:lnTo>
                  <a:lnTo>
                    <a:pt x="22474" y="905967"/>
                  </a:lnTo>
                  <a:lnTo>
                    <a:pt x="5880" y="866654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6" name="object 6"/>
            <p:cNvSpPr/>
            <p:nvPr/>
          </p:nvSpPr>
          <p:spPr>
            <a:xfrm>
              <a:off x="15208106" y="4406017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54"/>
                  </a:lnTo>
                  <a:lnTo>
                    <a:pt x="22474" y="905967"/>
                  </a:lnTo>
                  <a:lnTo>
                    <a:pt x="48212" y="939278"/>
                  </a:lnTo>
                  <a:lnTo>
                    <a:pt x="81523" y="965015"/>
                  </a:lnTo>
                  <a:lnTo>
                    <a:pt x="120836" y="981610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0"/>
                  </a:lnTo>
                  <a:lnTo>
                    <a:pt x="3514148" y="965015"/>
                  </a:lnTo>
                  <a:lnTo>
                    <a:pt x="3547458" y="939278"/>
                  </a:lnTo>
                  <a:lnTo>
                    <a:pt x="3573196" y="905967"/>
                  </a:lnTo>
                  <a:lnTo>
                    <a:pt x="3589790" y="866654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7" name="object 7"/>
            <p:cNvSpPr/>
            <p:nvPr/>
          </p:nvSpPr>
          <p:spPr>
            <a:xfrm>
              <a:off x="15208106" y="4406017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54"/>
                  </a:lnTo>
                  <a:lnTo>
                    <a:pt x="3573196" y="905967"/>
                  </a:lnTo>
                  <a:lnTo>
                    <a:pt x="3547458" y="939278"/>
                  </a:lnTo>
                  <a:lnTo>
                    <a:pt x="3514148" y="965015"/>
                  </a:lnTo>
                  <a:lnTo>
                    <a:pt x="3474835" y="981610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0"/>
                  </a:lnTo>
                  <a:lnTo>
                    <a:pt x="81523" y="965015"/>
                  </a:lnTo>
                  <a:lnTo>
                    <a:pt x="48212" y="939278"/>
                  </a:lnTo>
                  <a:lnTo>
                    <a:pt x="22474" y="905967"/>
                  </a:lnTo>
                  <a:lnTo>
                    <a:pt x="5880" y="866654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8" name="object 8"/>
            <p:cNvSpPr/>
            <p:nvPr/>
          </p:nvSpPr>
          <p:spPr>
            <a:xfrm>
              <a:off x="15208106" y="6426226"/>
              <a:ext cx="3596004" cy="980440"/>
            </a:xfrm>
            <a:custGeom>
              <a:avLst/>
              <a:gdLst/>
              <a:ahLst/>
              <a:cxnLst/>
              <a:rect l="l" t="t" r="r" b="b"/>
              <a:pathLst>
                <a:path w="3596005" h="980440">
                  <a:moveTo>
                    <a:pt x="3432345" y="0"/>
                  </a:moveTo>
                  <a:lnTo>
                    <a:pt x="163325" y="0"/>
                  </a:lnTo>
                  <a:lnTo>
                    <a:pt x="119891" y="5838"/>
                  </a:lnTo>
                  <a:lnTo>
                    <a:pt x="80871" y="22311"/>
                  </a:lnTo>
                  <a:lnTo>
                    <a:pt x="47819" y="47859"/>
                  </a:lnTo>
                  <a:lnTo>
                    <a:pt x="22288" y="80918"/>
                  </a:lnTo>
                  <a:lnTo>
                    <a:pt x="5830" y="119927"/>
                  </a:lnTo>
                  <a:lnTo>
                    <a:pt x="0" y="163325"/>
                  </a:lnTo>
                  <a:lnTo>
                    <a:pt x="0" y="816626"/>
                  </a:lnTo>
                  <a:lnTo>
                    <a:pt x="5830" y="860061"/>
                  </a:lnTo>
                  <a:lnTo>
                    <a:pt x="22288" y="899080"/>
                  </a:lnTo>
                  <a:lnTo>
                    <a:pt x="47819" y="932132"/>
                  </a:lnTo>
                  <a:lnTo>
                    <a:pt x="80871" y="957663"/>
                  </a:lnTo>
                  <a:lnTo>
                    <a:pt x="119891" y="974121"/>
                  </a:lnTo>
                  <a:lnTo>
                    <a:pt x="163325" y="979952"/>
                  </a:lnTo>
                  <a:lnTo>
                    <a:pt x="3432345" y="979952"/>
                  </a:lnTo>
                  <a:lnTo>
                    <a:pt x="3475780" y="974121"/>
                  </a:lnTo>
                  <a:lnTo>
                    <a:pt x="3514799" y="957663"/>
                  </a:lnTo>
                  <a:lnTo>
                    <a:pt x="3547851" y="932132"/>
                  </a:lnTo>
                  <a:lnTo>
                    <a:pt x="3573382" y="899080"/>
                  </a:lnTo>
                  <a:lnTo>
                    <a:pt x="3589840" y="860061"/>
                  </a:lnTo>
                  <a:lnTo>
                    <a:pt x="3595671" y="816626"/>
                  </a:lnTo>
                  <a:lnTo>
                    <a:pt x="3595671" y="163325"/>
                  </a:lnTo>
                  <a:lnTo>
                    <a:pt x="3589840" y="119927"/>
                  </a:lnTo>
                  <a:lnTo>
                    <a:pt x="3573382" y="80918"/>
                  </a:lnTo>
                  <a:lnTo>
                    <a:pt x="3547851" y="47859"/>
                  </a:lnTo>
                  <a:lnTo>
                    <a:pt x="3514799" y="22311"/>
                  </a:lnTo>
                  <a:lnTo>
                    <a:pt x="3475780" y="5838"/>
                  </a:lnTo>
                  <a:lnTo>
                    <a:pt x="343234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9" name="object 9"/>
            <p:cNvSpPr/>
            <p:nvPr/>
          </p:nvSpPr>
          <p:spPr>
            <a:xfrm>
              <a:off x="15208106" y="6426226"/>
              <a:ext cx="3596004" cy="980440"/>
            </a:xfrm>
            <a:custGeom>
              <a:avLst/>
              <a:gdLst/>
              <a:ahLst/>
              <a:cxnLst/>
              <a:rect l="l" t="t" r="r" b="b"/>
              <a:pathLst>
                <a:path w="3596005" h="980440">
                  <a:moveTo>
                    <a:pt x="0" y="163325"/>
                  </a:moveTo>
                  <a:lnTo>
                    <a:pt x="5830" y="119927"/>
                  </a:lnTo>
                  <a:lnTo>
                    <a:pt x="22288" y="80918"/>
                  </a:lnTo>
                  <a:lnTo>
                    <a:pt x="47819" y="47859"/>
                  </a:lnTo>
                  <a:lnTo>
                    <a:pt x="80871" y="22311"/>
                  </a:lnTo>
                  <a:lnTo>
                    <a:pt x="119891" y="5838"/>
                  </a:lnTo>
                  <a:lnTo>
                    <a:pt x="163325" y="0"/>
                  </a:lnTo>
                  <a:lnTo>
                    <a:pt x="3432345" y="0"/>
                  </a:lnTo>
                  <a:lnTo>
                    <a:pt x="3475780" y="5838"/>
                  </a:lnTo>
                  <a:lnTo>
                    <a:pt x="3514799" y="22311"/>
                  </a:lnTo>
                  <a:lnTo>
                    <a:pt x="3547851" y="47859"/>
                  </a:lnTo>
                  <a:lnTo>
                    <a:pt x="3573382" y="80918"/>
                  </a:lnTo>
                  <a:lnTo>
                    <a:pt x="3589840" y="119927"/>
                  </a:lnTo>
                  <a:lnTo>
                    <a:pt x="3595671" y="163325"/>
                  </a:lnTo>
                  <a:lnTo>
                    <a:pt x="3595671" y="816626"/>
                  </a:lnTo>
                  <a:lnTo>
                    <a:pt x="3589840" y="860061"/>
                  </a:lnTo>
                  <a:lnTo>
                    <a:pt x="3573382" y="899080"/>
                  </a:lnTo>
                  <a:lnTo>
                    <a:pt x="3547851" y="932132"/>
                  </a:lnTo>
                  <a:lnTo>
                    <a:pt x="3514799" y="957663"/>
                  </a:lnTo>
                  <a:lnTo>
                    <a:pt x="3475780" y="974121"/>
                  </a:lnTo>
                  <a:lnTo>
                    <a:pt x="3432345" y="979952"/>
                  </a:lnTo>
                  <a:lnTo>
                    <a:pt x="163325" y="979952"/>
                  </a:lnTo>
                  <a:lnTo>
                    <a:pt x="119891" y="974121"/>
                  </a:lnTo>
                  <a:lnTo>
                    <a:pt x="80871" y="957663"/>
                  </a:lnTo>
                  <a:lnTo>
                    <a:pt x="47819" y="932132"/>
                  </a:lnTo>
                  <a:lnTo>
                    <a:pt x="22288" y="899080"/>
                  </a:lnTo>
                  <a:lnTo>
                    <a:pt x="5830" y="860061"/>
                  </a:lnTo>
                  <a:lnTo>
                    <a:pt x="0" y="816626"/>
                  </a:lnTo>
                  <a:lnTo>
                    <a:pt x="0" y="163325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157745" y="2566721"/>
              <a:ext cx="6461760" cy="3686175"/>
            </a:xfrm>
            <a:custGeom>
              <a:avLst/>
              <a:gdLst/>
              <a:ahLst/>
              <a:cxnLst/>
              <a:rect l="l" t="t" r="r" b="b"/>
              <a:pathLst>
                <a:path w="6461759" h="3686175">
                  <a:moveTo>
                    <a:pt x="7538" y="0"/>
                  </a:moveTo>
                  <a:lnTo>
                    <a:pt x="6461403" y="0"/>
                  </a:lnTo>
                </a:path>
                <a:path w="6461759" h="3686175">
                  <a:moveTo>
                    <a:pt x="0" y="3686128"/>
                  </a:moveTo>
                  <a:lnTo>
                    <a:pt x="6452609" y="3686128"/>
                  </a:lnTo>
                </a:path>
              </a:pathLst>
            </a:custGeom>
            <a:ln w="1046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9250" y="1397513"/>
            <a:ext cx="12462230" cy="1109113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94" dirty="0">
                <a:latin typeface="Calibri"/>
                <a:cs typeface="Calibri"/>
              </a:rPr>
              <a:t>Scalable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readout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67" dirty="0">
                <a:latin typeface="Calibri"/>
                <a:cs typeface="Calibri"/>
              </a:rPr>
              <a:t>error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91" dirty="0">
                <a:latin typeface="Calibri"/>
                <a:cs typeface="Calibri"/>
              </a:rPr>
              <a:t>mitigation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via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247" dirty="0">
                <a:latin typeface="Calibri"/>
                <a:cs typeface="Calibri"/>
              </a:rPr>
              <a:t>sub-</a:t>
            </a:r>
            <a:r>
              <a:rPr sz="3578" spc="206" dirty="0">
                <a:latin typeface="Calibri"/>
                <a:cs typeface="Calibri"/>
              </a:rPr>
              <a:t>space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reduction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and </a:t>
            </a:r>
            <a:r>
              <a:rPr sz="3578" spc="67" dirty="0">
                <a:latin typeface="Calibri"/>
                <a:cs typeface="Calibri"/>
              </a:rPr>
              <a:t>iterative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152" dirty="0">
                <a:latin typeface="Calibri"/>
                <a:cs typeface="Calibri"/>
              </a:rPr>
              <a:t>matrix-</a:t>
            </a:r>
            <a:r>
              <a:rPr sz="3578" spc="85" dirty="0">
                <a:latin typeface="Calibri"/>
                <a:cs typeface="Calibri"/>
              </a:rPr>
              <a:t>free</a:t>
            </a:r>
            <a:r>
              <a:rPr sz="3578" spc="91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techniques.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50581" y="3661457"/>
            <a:ext cx="0" cy="6139470"/>
          </a:xfrm>
          <a:custGeom>
            <a:avLst/>
            <a:gdLst/>
            <a:ahLst/>
            <a:cxnLst/>
            <a:rect l="l" t="t" r="r" b="b"/>
            <a:pathLst>
              <a:path h="5062220">
                <a:moveTo>
                  <a:pt x="0" y="0"/>
                </a:moveTo>
                <a:lnTo>
                  <a:pt x="0" y="5062144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3" name="object 13"/>
          <p:cNvSpPr txBox="1"/>
          <p:nvPr/>
        </p:nvSpPr>
        <p:spPr>
          <a:xfrm>
            <a:off x="5912465" y="11442350"/>
            <a:ext cx="3715873" cy="1474578"/>
          </a:xfrm>
          <a:prstGeom prst="rect">
            <a:avLst/>
          </a:prstGeom>
        </p:spPr>
        <p:txBody>
          <a:bodyPr vert="horz" wrap="square" lIns="0" tIns="223337" rIns="0" bIns="0" rtlCol="0">
            <a:spAutoFit/>
          </a:bodyPr>
          <a:lstStyle/>
          <a:p>
            <a:pPr marL="15403">
              <a:spcBef>
                <a:spcPts val="1759"/>
              </a:spcBef>
            </a:pPr>
            <a:r>
              <a:rPr sz="2365" spc="115" dirty="0">
                <a:latin typeface="Calibri"/>
                <a:cs typeface="Calibri"/>
              </a:rPr>
              <a:t>Research</a:t>
            </a:r>
            <a:endParaRPr sz="2365">
              <a:latin typeface="Calibri"/>
              <a:cs typeface="Calibri"/>
            </a:endParaRPr>
          </a:p>
          <a:p>
            <a:pPr marL="32345">
              <a:spcBef>
                <a:spcPts val="1395"/>
              </a:spcBef>
            </a:pPr>
            <a:r>
              <a:rPr sz="2001" spc="146" dirty="0">
                <a:latin typeface="Calibri"/>
                <a:cs typeface="Calibri"/>
              </a:rPr>
              <a:t>PRX</a:t>
            </a:r>
            <a:r>
              <a:rPr sz="2001" spc="12" dirty="0">
                <a:latin typeface="Calibri"/>
                <a:cs typeface="Calibri"/>
              </a:rPr>
              <a:t> </a:t>
            </a:r>
            <a:r>
              <a:rPr sz="2001" spc="79" dirty="0">
                <a:latin typeface="Calibri"/>
                <a:cs typeface="Calibri"/>
              </a:rPr>
              <a:t>Quantum</a:t>
            </a:r>
            <a:r>
              <a:rPr sz="2001" spc="18" dirty="0">
                <a:latin typeface="Calibri"/>
                <a:cs typeface="Calibri"/>
              </a:rPr>
              <a:t> </a:t>
            </a:r>
            <a:r>
              <a:rPr sz="2001" spc="97" dirty="0">
                <a:latin typeface="Calibri"/>
                <a:cs typeface="Calibri"/>
              </a:rPr>
              <a:t>2,</a:t>
            </a:r>
            <a:r>
              <a:rPr sz="2001" spc="30" dirty="0">
                <a:latin typeface="Calibri"/>
                <a:cs typeface="Calibri"/>
              </a:rPr>
              <a:t> </a:t>
            </a:r>
            <a:r>
              <a:rPr sz="2001" spc="176" dirty="0">
                <a:latin typeface="Calibri"/>
                <a:cs typeface="Calibri"/>
              </a:rPr>
              <a:t>040326</a:t>
            </a:r>
            <a:r>
              <a:rPr sz="2001" spc="55" dirty="0">
                <a:latin typeface="Calibri"/>
                <a:cs typeface="Calibri"/>
              </a:rPr>
              <a:t> </a:t>
            </a:r>
            <a:r>
              <a:rPr sz="2001" spc="127" dirty="0">
                <a:latin typeface="Calibri"/>
                <a:cs typeface="Calibri"/>
              </a:rPr>
              <a:t>(2021)</a:t>
            </a:r>
            <a:endParaRPr sz="2001">
              <a:latin typeface="Calibri"/>
              <a:cs typeface="Calibri"/>
            </a:endParaRPr>
          </a:p>
          <a:p>
            <a:pPr marL="15403">
              <a:spcBef>
                <a:spcPts val="722"/>
              </a:spcBef>
            </a:pPr>
            <a:r>
              <a:rPr sz="2001" spc="182" dirty="0">
                <a:latin typeface="Calibri"/>
                <a:cs typeface="Calibri"/>
              </a:rPr>
              <a:t>225+</a:t>
            </a:r>
            <a:r>
              <a:rPr sz="2001" dirty="0">
                <a:latin typeface="Calibri"/>
                <a:cs typeface="Calibri"/>
              </a:rPr>
              <a:t> </a:t>
            </a:r>
            <a:r>
              <a:rPr sz="2001" spc="49" dirty="0">
                <a:latin typeface="Calibri"/>
                <a:cs typeface="Calibri"/>
              </a:rPr>
              <a:t>citations</a:t>
            </a:r>
            <a:endParaRPr sz="2001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776487" y="11703051"/>
            <a:ext cx="492113" cy="281867"/>
            <a:chOff x="8059061" y="9649599"/>
            <a:chExt cx="405765" cy="232410"/>
          </a:xfrm>
        </p:grpSpPr>
        <p:sp>
          <p:nvSpPr>
            <p:cNvPr id="15" name="object 15"/>
            <p:cNvSpPr/>
            <p:nvPr/>
          </p:nvSpPr>
          <p:spPr>
            <a:xfrm>
              <a:off x="8069531" y="9660068"/>
              <a:ext cx="384810" cy="211454"/>
            </a:xfrm>
            <a:custGeom>
              <a:avLst/>
              <a:gdLst/>
              <a:ahLst/>
              <a:cxnLst/>
              <a:rect l="l" t="t" r="r" b="b"/>
              <a:pathLst>
                <a:path w="384809" h="211454">
                  <a:moveTo>
                    <a:pt x="278909" y="0"/>
                  </a:moveTo>
                  <a:lnTo>
                    <a:pt x="278909" y="52766"/>
                  </a:lnTo>
                  <a:lnTo>
                    <a:pt x="0" y="52766"/>
                  </a:lnTo>
                  <a:lnTo>
                    <a:pt x="0" y="158299"/>
                  </a:lnTo>
                  <a:lnTo>
                    <a:pt x="278909" y="158299"/>
                  </a:lnTo>
                  <a:lnTo>
                    <a:pt x="278909" y="211066"/>
                  </a:lnTo>
                  <a:lnTo>
                    <a:pt x="384442" y="105533"/>
                  </a:lnTo>
                  <a:lnTo>
                    <a:pt x="27890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16" name="object 16"/>
            <p:cNvSpPr/>
            <p:nvPr/>
          </p:nvSpPr>
          <p:spPr>
            <a:xfrm>
              <a:off x="8069531" y="9660068"/>
              <a:ext cx="384810" cy="211454"/>
            </a:xfrm>
            <a:custGeom>
              <a:avLst/>
              <a:gdLst/>
              <a:ahLst/>
              <a:cxnLst/>
              <a:rect l="l" t="t" r="r" b="b"/>
              <a:pathLst>
                <a:path w="384809" h="211454">
                  <a:moveTo>
                    <a:pt x="0" y="52766"/>
                  </a:moveTo>
                  <a:lnTo>
                    <a:pt x="278909" y="52766"/>
                  </a:lnTo>
                  <a:lnTo>
                    <a:pt x="278909" y="0"/>
                  </a:lnTo>
                  <a:lnTo>
                    <a:pt x="384442" y="105533"/>
                  </a:lnTo>
                  <a:lnTo>
                    <a:pt x="278909" y="211066"/>
                  </a:lnTo>
                  <a:lnTo>
                    <a:pt x="278909" y="158299"/>
                  </a:lnTo>
                  <a:lnTo>
                    <a:pt x="0" y="158299"/>
                  </a:lnTo>
                  <a:lnTo>
                    <a:pt x="0" y="52766"/>
                  </a:lnTo>
                  <a:close/>
                </a:path>
              </a:pathLst>
            </a:custGeom>
            <a:ln w="20939">
              <a:solidFill>
                <a:srgbClr val="01246C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791869" y="11416704"/>
            <a:ext cx="5049737" cy="1043862"/>
          </a:xfrm>
          <a:prstGeom prst="rect">
            <a:avLst/>
          </a:prstGeom>
        </p:spPr>
        <p:txBody>
          <a:bodyPr vert="horz" wrap="square" lIns="0" tIns="203314" rIns="0" bIns="0" rtlCol="0">
            <a:spAutoFit/>
          </a:bodyPr>
          <a:lstStyle/>
          <a:p>
            <a:pPr marL="73932">
              <a:spcBef>
                <a:spcPts val="1601"/>
              </a:spcBef>
            </a:pPr>
            <a:r>
              <a:rPr sz="2365" spc="85" dirty="0">
                <a:latin typeface="Calibri"/>
                <a:cs typeface="Calibri"/>
              </a:rPr>
              <a:t>Development</a:t>
            </a:r>
            <a:endParaRPr sz="2365">
              <a:latin typeface="Calibri"/>
              <a:cs typeface="Calibri"/>
            </a:endParaRPr>
          </a:p>
          <a:p>
            <a:pPr marL="15403">
              <a:spcBef>
                <a:spcPts val="1267"/>
              </a:spcBef>
            </a:pPr>
            <a:r>
              <a:rPr sz="2001" dirty="0">
                <a:latin typeface="Calibri"/>
                <a:cs typeface="Calibri"/>
                <a:hlinkClick r:id="rId3"/>
              </a:rPr>
              <a:t>https://github.com/Qiskit-</a:t>
            </a:r>
            <a:r>
              <a:rPr sz="2001" spc="55" dirty="0">
                <a:latin typeface="Calibri"/>
                <a:cs typeface="Calibri"/>
                <a:hlinkClick r:id="rId3"/>
              </a:rPr>
              <a:t>Extensions/mthree</a:t>
            </a:r>
            <a:endParaRPr sz="2001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958" y="5521898"/>
            <a:ext cx="4580727" cy="915318"/>
          </a:xfrm>
          <a:prstGeom prst="rect">
            <a:avLst/>
          </a:prstGeom>
          <a:solidFill>
            <a:srgbClr val="F4F4F4"/>
          </a:solidFill>
          <a:ln w="15704">
            <a:solidFill>
              <a:srgbClr val="893EFB"/>
            </a:solidFill>
          </a:ln>
        </p:spPr>
        <p:txBody>
          <a:bodyPr vert="horz" wrap="square" lIns="0" tIns="361191" rIns="0" bIns="0" rtlCol="0">
            <a:spAutoFit/>
          </a:bodyPr>
          <a:lstStyle/>
          <a:p>
            <a:pPr marL="1293045">
              <a:spcBef>
                <a:spcPts val="2844"/>
              </a:spcBef>
            </a:pPr>
            <a:r>
              <a:rPr sz="3578" spc="-12" dirty="0">
                <a:solidFill>
                  <a:srgbClr val="893EFB"/>
                </a:solidFill>
                <a:latin typeface="Calibri"/>
                <a:cs typeface="Calibri"/>
              </a:rPr>
              <a:t>Mitigation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4321" y="3691676"/>
            <a:ext cx="4583809" cy="1531017"/>
            <a:chOff x="669424" y="3043924"/>
            <a:chExt cx="3779520" cy="1262380"/>
          </a:xfrm>
        </p:grpSpPr>
        <p:sp>
          <p:nvSpPr>
            <p:cNvPr id="20" name="object 20"/>
            <p:cNvSpPr/>
            <p:nvPr/>
          </p:nvSpPr>
          <p:spPr>
            <a:xfrm>
              <a:off x="674659" y="3049159"/>
              <a:ext cx="3769360" cy="1251585"/>
            </a:xfrm>
            <a:custGeom>
              <a:avLst/>
              <a:gdLst/>
              <a:ahLst/>
              <a:cxnLst/>
              <a:rect l="l" t="t" r="r" b="b"/>
              <a:pathLst>
                <a:path w="3769360" h="1251585">
                  <a:moveTo>
                    <a:pt x="3560493" y="0"/>
                  </a:moveTo>
                  <a:lnTo>
                    <a:pt x="208553" y="0"/>
                  </a:lnTo>
                  <a:lnTo>
                    <a:pt x="160736" y="5508"/>
                  </a:lnTo>
                  <a:lnTo>
                    <a:pt x="116839" y="21200"/>
                  </a:lnTo>
                  <a:lnTo>
                    <a:pt x="78116" y="45821"/>
                  </a:lnTo>
                  <a:lnTo>
                    <a:pt x="45818" y="78120"/>
                  </a:lnTo>
                  <a:lnTo>
                    <a:pt x="21198" y="116844"/>
                  </a:lnTo>
                  <a:lnTo>
                    <a:pt x="5508" y="160739"/>
                  </a:lnTo>
                  <a:lnTo>
                    <a:pt x="0" y="208553"/>
                  </a:lnTo>
                  <a:lnTo>
                    <a:pt x="0" y="1042769"/>
                  </a:lnTo>
                  <a:lnTo>
                    <a:pt x="5508" y="1090584"/>
                  </a:lnTo>
                  <a:lnTo>
                    <a:pt x="21198" y="1134479"/>
                  </a:lnTo>
                  <a:lnTo>
                    <a:pt x="45818" y="1173203"/>
                  </a:lnTo>
                  <a:lnTo>
                    <a:pt x="78116" y="1205501"/>
                  </a:lnTo>
                  <a:lnTo>
                    <a:pt x="116839" y="1230123"/>
                  </a:lnTo>
                  <a:lnTo>
                    <a:pt x="160736" y="1245814"/>
                  </a:lnTo>
                  <a:lnTo>
                    <a:pt x="208553" y="1251323"/>
                  </a:lnTo>
                  <a:lnTo>
                    <a:pt x="3560493" y="1251323"/>
                  </a:lnTo>
                  <a:lnTo>
                    <a:pt x="3608308" y="1245814"/>
                  </a:lnTo>
                  <a:lnTo>
                    <a:pt x="3652203" y="1230123"/>
                  </a:lnTo>
                  <a:lnTo>
                    <a:pt x="3690926" y="1205501"/>
                  </a:lnTo>
                  <a:lnTo>
                    <a:pt x="3723225" y="1173203"/>
                  </a:lnTo>
                  <a:lnTo>
                    <a:pt x="3747847" y="1134479"/>
                  </a:lnTo>
                  <a:lnTo>
                    <a:pt x="3763538" y="1090584"/>
                  </a:lnTo>
                  <a:lnTo>
                    <a:pt x="3769047" y="1042769"/>
                  </a:lnTo>
                  <a:lnTo>
                    <a:pt x="3769047" y="208553"/>
                  </a:lnTo>
                  <a:lnTo>
                    <a:pt x="3763538" y="160739"/>
                  </a:lnTo>
                  <a:lnTo>
                    <a:pt x="3747847" y="116844"/>
                  </a:lnTo>
                  <a:lnTo>
                    <a:pt x="3723225" y="78120"/>
                  </a:lnTo>
                  <a:lnTo>
                    <a:pt x="3690926" y="45821"/>
                  </a:lnTo>
                  <a:lnTo>
                    <a:pt x="3652203" y="21200"/>
                  </a:lnTo>
                  <a:lnTo>
                    <a:pt x="3608308" y="5508"/>
                  </a:lnTo>
                  <a:lnTo>
                    <a:pt x="3560493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1" name="object 21"/>
            <p:cNvSpPr/>
            <p:nvPr/>
          </p:nvSpPr>
          <p:spPr>
            <a:xfrm>
              <a:off x="674659" y="3049159"/>
              <a:ext cx="3769360" cy="1251585"/>
            </a:xfrm>
            <a:custGeom>
              <a:avLst/>
              <a:gdLst/>
              <a:ahLst/>
              <a:cxnLst/>
              <a:rect l="l" t="t" r="r" b="b"/>
              <a:pathLst>
                <a:path w="3769360" h="1251585">
                  <a:moveTo>
                    <a:pt x="0" y="208553"/>
                  </a:moveTo>
                  <a:lnTo>
                    <a:pt x="5508" y="160739"/>
                  </a:lnTo>
                  <a:lnTo>
                    <a:pt x="21198" y="116844"/>
                  </a:lnTo>
                  <a:lnTo>
                    <a:pt x="45818" y="78120"/>
                  </a:lnTo>
                  <a:lnTo>
                    <a:pt x="78116" y="45821"/>
                  </a:lnTo>
                  <a:lnTo>
                    <a:pt x="116839" y="21200"/>
                  </a:lnTo>
                  <a:lnTo>
                    <a:pt x="160736" y="5508"/>
                  </a:lnTo>
                  <a:lnTo>
                    <a:pt x="208553" y="0"/>
                  </a:lnTo>
                  <a:lnTo>
                    <a:pt x="3560493" y="0"/>
                  </a:lnTo>
                  <a:lnTo>
                    <a:pt x="3608308" y="5508"/>
                  </a:lnTo>
                  <a:lnTo>
                    <a:pt x="3652203" y="21200"/>
                  </a:lnTo>
                  <a:lnTo>
                    <a:pt x="3690926" y="45821"/>
                  </a:lnTo>
                  <a:lnTo>
                    <a:pt x="3723225" y="78120"/>
                  </a:lnTo>
                  <a:lnTo>
                    <a:pt x="3747847" y="116844"/>
                  </a:lnTo>
                  <a:lnTo>
                    <a:pt x="3763538" y="160739"/>
                  </a:lnTo>
                  <a:lnTo>
                    <a:pt x="3769047" y="208553"/>
                  </a:lnTo>
                  <a:lnTo>
                    <a:pt x="3769047" y="1042769"/>
                  </a:lnTo>
                  <a:lnTo>
                    <a:pt x="3763538" y="1090584"/>
                  </a:lnTo>
                  <a:lnTo>
                    <a:pt x="3747847" y="1134479"/>
                  </a:lnTo>
                  <a:lnTo>
                    <a:pt x="3723225" y="1173203"/>
                  </a:lnTo>
                  <a:lnTo>
                    <a:pt x="3690926" y="1205501"/>
                  </a:lnTo>
                  <a:lnTo>
                    <a:pt x="3652203" y="1230123"/>
                  </a:lnTo>
                  <a:lnTo>
                    <a:pt x="3608308" y="1245814"/>
                  </a:lnTo>
                  <a:lnTo>
                    <a:pt x="3560493" y="1251323"/>
                  </a:lnTo>
                  <a:lnTo>
                    <a:pt x="208553" y="1251323"/>
                  </a:lnTo>
                  <a:lnTo>
                    <a:pt x="160736" y="1245814"/>
                  </a:lnTo>
                  <a:lnTo>
                    <a:pt x="116839" y="1230123"/>
                  </a:lnTo>
                  <a:lnTo>
                    <a:pt x="78116" y="1205501"/>
                  </a:lnTo>
                  <a:lnTo>
                    <a:pt x="45818" y="1173203"/>
                  </a:lnTo>
                  <a:lnTo>
                    <a:pt x="21198" y="1134479"/>
                  </a:lnTo>
                  <a:lnTo>
                    <a:pt x="5508" y="1090584"/>
                  </a:lnTo>
                  <a:lnTo>
                    <a:pt x="0" y="1042769"/>
                  </a:lnTo>
                  <a:lnTo>
                    <a:pt x="0" y="208553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18023" y="4054090"/>
            <a:ext cx="6769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55" dirty="0">
                <a:latin typeface="Calibri"/>
                <a:cs typeface="Calibri"/>
              </a:rPr>
              <a:t>M3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8335" y="7332208"/>
            <a:ext cx="4656971" cy="181667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10700"/>
              </a:lnSpc>
              <a:spcBef>
                <a:spcPts val="115"/>
              </a:spcBef>
            </a:pPr>
            <a:r>
              <a:rPr sz="3578" spc="55" dirty="0">
                <a:latin typeface="Calibri"/>
                <a:cs typeface="Calibri"/>
              </a:rPr>
              <a:t>Mitigate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readout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errors </a:t>
            </a:r>
            <a:r>
              <a:rPr sz="3578" dirty="0">
                <a:latin typeface="Calibri"/>
                <a:cs typeface="Calibri"/>
              </a:rPr>
              <a:t>for</a:t>
            </a:r>
            <a:r>
              <a:rPr sz="3578" spc="133" dirty="0">
                <a:latin typeface="Calibri"/>
                <a:cs typeface="Calibri"/>
              </a:rPr>
              <a:t> </a:t>
            </a:r>
            <a:r>
              <a:rPr sz="3578" spc="176" dirty="0">
                <a:latin typeface="Calibri"/>
                <a:cs typeface="Calibri"/>
              </a:rPr>
              <a:t>sampling</a:t>
            </a:r>
            <a:r>
              <a:rPr sz="3578" spc="97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and </a:t>
            </a:r>
            <a:r>
              <a:rPr sz="3578" spc="127" dirty="0">
                <a:latin typeface="Calibri"/>
                <a:cs typeface="Calibri"/>
              </a:rPr>
              <a:t>expectation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52" dirty="0">
                <a:latin typeface="Calibri"/>
                <a:cs typeface="Calibri"/>
              </a:rPr>
              <a:t>values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042676" y="2348939"/>
            <a:ext cx="883338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30" dirty="0">
                <a:latin typeface="Calibri"/>
                <a:cs typeface="Calibri"/>
              </a:rPr>
              <a:t>Map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042675" y="6835861"/>
            <a:ext cx="1711227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12" dirty="0">
                <a:latin typeface="Calibri"/>
                <a:cs typeface="Calibri"/>
              </a:rPr>
              <a:t>Optimize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960180" y="9914732"/>
            <a:ext cx="7826052" cy="0"/>
          </a:xfrm>
          <a:custGeom>
            <a:avLst/>
            <a:gdLst/>
            <a:ahLst/>
            <a:cxnLst/>
            <a:rect l="l" t="t" r="r" b="b"/>
            <a:pathLst>
              <a:path w="6452869">
                <a:moveTo>
                  <a:pt x="0" y="0"/>
                </a:moveTo>
                <a:lnTo>
                  <a:pt x="6452609" y="0"/>
                </a:lnTo>
              </a:path>
            </a:pathLst>
          </a:custGeom>
          <a:ln w="1046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27" name="object 27"/>
          <p:cNvSpPr txBox="1"/>
          <p:nvPr/>
        </p:nvSpPr>
        <p:spPr>
          <a:xfrm>
            <a:off x="16042676" y="9008282"/>
            <a:ext cx="1491740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-12" dirty="0">
                <a:latin typeface="Calibri"/>
                <a:cs typeface="Calibri"/>
              </a:rPr>
              <a:t>Execute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42675" y="11301453"/>
            <a:ext cx="2402032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dirty="0">
                <a:latin typeface="Calibri"/>
                <a:cs typeface="Calibri"/>
              </a:rPr>
              <a:t>Post-</a:t>
            </a:r>
            <a:r>
              <a:rPr sz="3578" spc="-12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234833" y="1182798"/>
            <a:ext cx="4257273" cy="1698465"/>
          </a:xfrm>
          <a:prstGeom prst="rect">
            <a:avLst/>
          </a:prstGeom>
        </p:spPr>
        <p:txBody>
          <a:bodyPr vert="horz" wrap="square" lIns="0" tIns="77013" rIns="0" bIns="0" rtlCol="0">
            <a:spAutoFit/>
          </a:bodyPr>
          <a:lstStyle/>
          <a:p>
            <a:pPr marL="309591" marR="1374678" indent="-294958">
              <a:lnSpc>
                <a:spcPts val="3893"/>
              </a:lnSpc>
              <a:spcBef>
                <a:spcPts val="606"/>
              </a:spcBef>
            </a:pPr>
            <a:r>
              <a:rPr sz="3578" spc="164" dirty="0">
                <a:latin typeface="Calibri"/>
                <a:cs typeface="Calibri"/>
              </a:rPr>
              <a:t>Create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circuit, </a:t>
            </a:r>
            <a:r>
              <a:rPr sz="3578" spc="164" dirty="0">
                <a:latin typeface="Calibri"/>
                <a:cs typeface="Calibri"/>
              </a:rPr>
              <a:t>observable</a:t>
            </a:r>
            <a:endParaRPr sz="3578">
              <a:latin typeface="Calibri"/>
              <a:cs typeface="Calibri"/>
            </a:endParaRPr>
          </a:p>
          <a:p>
            <a:pPr marL="1739719">
              <a:spcBef>
                <a:spcPts val="1957"/>
              </a:spcBef>
            </a:pPr>
            <a:r>
              <a:rPr sz="2365" spc="73" dirty="0">
                <a:latin typeface="Calibri"/>
                <a:cs typeface="Calibri"/>
              </a:rPr>
              <a:t>Circuit,</a:t>
            </a:r>
            <a:r>
              <a:rPr sz="2365" spc="79" dirty="0">
                <a:latin typeface="Calibri"/>
                <a:cs typeface="Calibri"/>
              </a:rPr>
              <a:t> </a:t>
            </a:r>
            <a:r>
              <a:rPr sz="2365" spc="85" dirty="0">
                <a:latin typeface="Calibri"/>
                <a:cs typeface="Calibri"/>
              </a:rPr>
              <a:t>observable</a:t>
            </a:r>
            <a:endParaRPr sz="2365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586647" y="2445415"/>
            <a:ext cx="195613" cy="4909573"/>
            <a:chOff x="16972439" y="2016335"/>
            <a:chExt cx="161290" cy="4048125"/>
          </a:xfrm>
        </p:grpSpPr>
        <p:sp>
          <p:nvSpPr>
            <p:cNvPr id="31" name="object 31"/>
            <p:cNvSpPr/>
            <p:nvPr/>
          </p:nvSpPr>
          <p:spPr>
            <a:xfrm>
              <a:off x="17028975" y="2016335"/>
              <a:ext cx="104775" cy="419734"/>
            </a:xfrm>
            <a:custGeom>
              <a:avLst/>
              <a:gdLst/>
              <a:ahLst/>
              <a:cxnLst/>
              <a:rect l="l" t="t" r="r" b="b"/>
              <a:pathLst>
                <a:path w="104775" h="419735">
                  <a:moveTo>
                    <a:pt x="41873" y="356970"/>
                  </a:moveTo>
                  <a:lnTo>
                    <a:pt x="0" y="357431"/>
                  </a:lnTo>
                  <a:lnTo>
                    <a:pt x="52976" y="419620"/>
                  </a:lnTo>
                  <a:lnTo>
                    <a:pt x="95634" y="367377"/>
                  </a:lnTo>
                  <a:lnTo>
                    <a:pt x="41983" y="367377"/>
                  </a:lnTo>
                  <a:lnTo>
                    <a:pt x="41873" y="356970"/>
                  </a:lnTo>
                  <a:close/>
                </a:path>
                <a:path w="104775" h="419735">
                  <a:moveTo>
                    <a:pt x="62812" y="356740"/>
                  </a:moveTo>
                  <a:lnTo>
                    <a:pt x="41873" y="356970"/>
                  </a:lnTo>
                  <a:lnTo>
                    <a:pt x="41983" y="367377"/>
                  </a:lnTo>
                  <a:lnTo>
                    <a:pt x="62922" y="367168"/>
                  </a:lnTo>
                  <a:lnTo>
                    <a:pt x="62812" y="356740"/>
                  </a:lnTo>
                  <a:close/>
                </a:path>
                <a:path w="104775" h="419735">
                  <a:moveTo>
                    <a:pt x="104695" y="356279"/>
                  </a:moveTo>
                  <a:lnTo>
                    <a:pt x="62812" y="356740"/>
                  </a:lnTo>
                  <a:lnTo>
                    <a:pt x="62922" y="367168"/>
                  </a:lnTo>
                  <a:lnTo>
                    <a:pt x="41983" y="367377"/>
                  </a:lnTo>
                  <a:lnTo>
                    <a:pt x="95634" y="367377"/>
                  </a:lnTo>
                  <a:lnTo>
                    <a:pt x="104695" y="356279"/>
                  </a:lnTo>
                  <a:close/>
                </a:path>
                <a:path w="104775" h="419735">
                  <a:moveTo>
                    <a:pt x="59048" y="0"/>
                  </a:moveTo>
                  <a:lnTo>
                    <a:pt x="38109" y="209"/>
                  </a:lnTo>
                  <a:lnTo>
                    <a:pt x="41865" y="356279"/>
                  </a:lnTo>
                  <a:lnTo>
                    <a:pt x="41873" y="356970"/>
                  </a:lnTo>
                  <a:lnTo>
                    <a:pt x="62812" y="356740"/>
                  </a:lnTo>
                  <a:lnTo>
                    <a:pt x="59050" y="209"/>
                  </a:lnTo>
                  <a:lnTo>
                    <a:pt x="59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2" name="object 32"/>
            <p:cNvSpPr/>
            <p:nvPr/>
          </p:nvSpPr>
          <p:spPr>
            <a:xfrm>
              <a:off x="16972439" y="5536731"/>
              <a:ext cx="104775" cy="527685"/>
            </a:xfrm>
            <a:custGeom>
              <a:avLst/>
              <a:gdLst/>
              <a:ahLst/>
              <a:cxnLst/>
              <a:rect l="l" t="t" r="r" b="b"/>
              <a:pathLst>
                <a:path w="104775" h="527685">
                  <a:moveTo>
                    <a:pt x="41878" y="464849"/>
                  </a:moveTo>
                  <a:lnTo>
                    <a:pt x="0" y="464849"/>
                  </a:lnTo>
                  <a:lnTo>
                    <a:pt x="52347" y="527666"/>
                  </a:lnTo>
                  <a:lnTo>
                    <a:pt x="95971" y="475318"/>
                  </a:lnTo>
                  <a:lnTo>
                    <a:pt x="41878" y="475318"/>
                  </a:lnTo>
                  <a:lnTo>
                    <a:pt x="41878" y="464849"/>
                  </a:lnTo>
                  <a:close/>
                </a:path>
                <a:path w="104775" h="527685">
                  <a:moveTo>
                    <a:pt x="62817" y="0"/>
                  </a:moveTo>
                  <a:lnTo>
                    <a:pt x="41878" y="0"/>
                  </a:lnTo>
                  <a:lnTo>
                    <a:pt x="41878" y="475318"/>
                  </a:lnTo>
                  <a:lnTo>
                    <a:pt x="62817" y="475318"/>
                  </a:lnTo>
                  <a:lnTo>
                    <a:pt x="62817" y="0"/>
                  </a:lnTo>
                  <a:close/>
                </a:path>
                <a:path w="104775" h="527685">
                  <a:moveTo>
                    <a:pt x="104695" y="464849"/>
                  </a:moveTo>
                  <a:lnTo>
                    <a:pt x="62817" y="464849"/>
                  </a:lnTo>
                  <a:lnTo>
                    <a:pt x="62817" y="475318"/>
                  </a:lnTo>
                  <a:lnTo>
                    <a:pt x="95971" y="475318"/>
                  </a:lnTo>
                  <a:lnTo>
                    <a:pt x="104695" y="464849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9037512" y="5619312"/>
            <a:ext cx="4951160" cy="177350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85" dirty="0">
                <a:latin typeface="Calibri"/>
                <a:cs typeface="Calibri"/>
              </a:rPr>
              <a:t>M3: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calibration</a:t>
            </a:r>
            <a:endParaRPr sz="3578">
              <a:latin typeface="Calibri"/>
              <a:cs typeface="Calibri"/>
            </a:endParaRPr>
          </a:p>
          <a:p>
            <a:pPr marL="2041609" marR="6161">
              <a:lnSpc>
                <a:spcPct val="101600"/>
              </a:lnSpc>
              <a:spcBef>
                <a:spcPts val="3711"/>
              </a:spcBef>
            </a:pPr>
            <a:r>
              <a:rPr sz="2365" spc="91" dirty="0">
                <a:solidFill>
                  <a:srgbClr val="A46DFF"/>
                </a:solidFill>
                <a:latin typeface="Calibri"/>
                <a:cs typeface="Calibri"/>
              </a:rPr>
              <a:t>Calibrate</a:t>
            </a:r>
            <a:r>
              <a:rPr sz="2365" spc="49" dirty="0">
                <a:solidFill>
                  <a:srgbClr val="A46DFF"/>
                </a:solidFill>
                <a:latin typeface="Calibri"/>
                <a:cs typeface="Calibri"/>
              </a:rPr>
              <a:t> </a:t>
            </a:r>
            <a:r>
              <a:rPr sz="2365" spc="55" dirty="0">
                <a:solidFill>
                  <a:srgbClr val="A46DFF"/>
                </a:solidFill>
                <a:latin typeface="Calibri"/>
                <a:cs typeface="Calibri"/>
              </a:rPr>
              <a:t>readout </a:t>
            </a:r>
            <a:r>
              <a:rPr sz="2365" spc="73" dirty="0">
                <a:solidFill>
                  <a:srgbClr val="A46DFF"/>
                </a:solidFill>
                <a:latin typeface="Calibri"/>
                <a:cs typeface="Calibri"/>
              </a:rPr>
              <a:t>errors</a:t>
            </a:r>
            <a:r>
              <a:rPr sz="2365" spc="121" dirty="0">
                <a:solidFill>
                  <a:srgbClr val="A46DFF"/>
                </a:solidFill>
                <a:latin typeface="Calibri"/>
                <a:cs typeface="Calibri"/>
              </a:rPr>
              <a:t> </a:t>
            </a:r>
            <a:r>
              <a:rPr sz="2365" spc="61" dirty="0">
                <a:solidFill>
                  <a:srgbClr val="A46DFF"/>
                </a:solidFill>
                <a:latin typeface="Calibri"/>
                <a:cs typeface="Calibri"/>
              </a:rPr>
              <a:t>over</a:t>
            </a:r>
            <a:r>
              <a:rPr sz="2365" spc="133" dirty="0">
                <a:solidFill>
                  <a:srgbClr val="A46DFF"/>
                </a:solidFill>
                <a:latin typeface="Calibri"/>
                <a:cs typeface="Calibri"/>
              </a:rPr>
              <a:t> </a:t>
            </a:r>
            <a:r>
              <a:rPr sz="2365" dirty="0">
                <a:solidFill>
                  <a:srgbClr val="A46DFF"/>
                </a:solidFill>
                <a:latin typeface="Calibri"/>
                <a:cs typeface="Calibri"/>
              </a:rPr>
              <a:t>full</a:t>
            </a:r>
            <a:r>
              <a:rPr sz="2365" spc="127" dirty="0">
                <a:solidFill>
                  <a:srgbClr val="A46DFF"/>
                </a:solidFill>
                <a:latin typeface="Calibri"/>
                <a:cs typeface="Calibri"/>
              </a:rPr>
              <a:t> </a:t>
            </a:r>
            <a:r>
              <a:rPr sz="2365" spc="79" dirty="0">
                <a:solidFill>
                  <a:srgbClr val="A46DFF"/>
                </a:solidFill>
                <a:latin typeface="Calibri"/>
                <a:cs typeface="Calibri"/>
              </a:rPr>
              <a:t>device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753214" y="8063839"/>
            <a:ext cx="3662734" cy="1458994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206" dirty="0">
                <a:latin typeface="Calibri"/>
                <a:cs typeface="Calibri"/>
              </a:rPr>
              <a:t>Sampler</a:t>
            </a:r>
            <a:r>
              <a:rPr sz="3578" spc="30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primitive</a:t>
            </a:r>
            <a:endParaRPr sz="3578">
              <a:latin typeface="Calibri"/>
              <a:cs typeface="Calibri"/>
            </a:endParaRPr>
          </a:p>
          <a:p>
            <a:pPr marL="2325787">
              <a:spcBef>
                <a:spcPts val="4093"/>
              </a:spcBef>
            </a:pPr>
            <a:r>
              <a:rPr sz="2365" spc="91" dirty="0">
                <a:latin typeface="Calibri"/>
                <a:cs typeface="Calibri"/>
              </a:rPr>
              <a:t>Counts</a:t>
            </a:r>
            <a:endParaRPr sz="2365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063911" y="11416492"/>
            <a:ext cx="2459022" cy="38105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2365" spc="121" dirty="0">
                <a:latin typeface="Calibri"/>
                <a:cs typeface="Calibri"/>
              </a:rPr>
              <a:t>Quasi-</a:t>
            </a:r>
            <a:r>
              <a:rPr sz="2365" spc="61" dirty="0">
                <a:latin typeface="Calibri"/>
                <a:cs typeface="Calibri"/>
              </a:rPr>
              <a:t>distribution</a:t>
            </a:r>
            <a:endParaRPr sz="2365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440315" y="3252654"/>
            <a:ext cx="4374334" cy="1211413"/>
            <a:chOff x="15202709" y="2681933"/>
            <a:chExt cx="3606800" cy="998855"/>
          </a:xfrm>
        </p:grpSpPr>
        <p:sp>
          <p:nvSpPr>
            <p:cNvPr id="37" name="object 37"/>
            <p:cNvSpPr/>
            <p:nvPr/>
          </p:nvSpPr>
          <p:spPr>
            <a:xfrm>
              <a:off x="15208106" y="2687331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54"/>
                  </a:lnTo>
                  <a:lnTo>
                    <a:pt x="22474" y="905967"/>
                  </a:lnTo>
                  <a:lnTo>
                    <a:pt x="48212" y="939278"/>
                  </a:lnTo>
                  <a:lnTo>
                    <a:pt x="81523" y="965015"/>
                  </a:lnTo>
                  <a:lnTo>
                    <a:pt x="120836" y="981610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0"/>
                  </a:lnTo>
                  <a:lnTo>
                    <a:pt x="3514148" y="965015"/>
                  </a:lnTo>
                  <a:lnTo>
                    <a:pt x="3547458" y="939278"/>
                  </a:lnTo>
                  <a:lnTo>
                    <a:pt x="3573196" y="905967"/>
                  </a:lnTo>
                  <a:lnTo>
                    <a:pt x="3589790" y="866654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38" name="object 38"/>
            <p:cNvSpPr/>
            <p:nvPr/>
          </p:nvSpPr>
          <p:spPr>
            <a:xfrm>
              <a:off x="15208106" y="2687331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60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54"/>
                  </a:lnTo>
                  <a:lnTo>
                    <a:pt x="3573196" y="905967"/>
                  </a:lnTo>
                  <a:lnTo>
                    <a:pt x="3547458" y="939278"/>
                  </a:lnTo>
                  <a:lnTo>
                    <a:pt x="3514148" y="965015"/>
                  </a:lnTo>
                  <a:lnTo>
                    <a:pt x="3474835" y="981610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0"/>
                  </a:lnTo>
                  <a:lnTo>
                    <a:pt x="81523" y="965015"/>
                  </a:lnTo>
                  <a:lnTo>
                    <a:pt x="48212" y="939278"/>
                  </a:lnTo>
                  <a:lnTo>
                    <a:pt x="22474" y="905967"/>
                  </a:lnTo>
                  <a:lnTo>
                    <a:pt x="5880" y="866654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8922091" y="3533364"/>
            <a:ext cx="4617694" cy="140769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88" dirty="0">
                <a:latin typeface="Calibri"/>
                <a:cs typeface="Calibri"/>
              </a:rPr>
              <a:t>Transpile</a:t>
            </a:r>
            <a:r>
              <a:rPr sz="3578" spc="36" dirty="0">
                <a:latin typeface="Calibri"/>
                <a:cs typeface="Calibri"/>
              </a:rPr>
              <a:t> </a:t>
            </a:r>
            <a:r>
              <a:rPr sz="3578" spc="127" dirty="0">
                <a:latin typeface="Calibri"/>
                <a:cs typeface="Calibri"/>
              </a:rPr>
              <a:t>circuit</a:t>
            </a:r>
            <a:endParaRPr sz="3578">
              <a:latin typeface="Calibri"/>
              <a:cs typeface="Calibri"/>
            </a:endParaRPr>
          </a:p>
          <a:p>
            <a:pPr marL="2052391">
              <a:spcBef>
                <a:spcPts val="3699"/>
              </a:spcBef>
            </a:pPr>
            <a:r>
              <a:rPr sz="2365" spc="79" dirty="0">
                <a:latin typeface="Calibri"/>
                <a:cs typeface="Calibri"/>
              </a:rPr>
              <a:t>Mapped</a:t>
            </a:r>
            <a:r>
              <a:rPr sz="2365" spc="-18" dirty="0">
                <a:latin typeface="Calibri"/>
                <a:cs typeface="Calibri"/>
              </a:rPr>
              <a:t> </a:t>
            </a:r>
            <a:r>
              <a:rPr sz="2365" spc="236" dirty="0">
                <a:latin typeface="Calibri"/>
                <a:cs typeface="Calibri"/>
              </a:rPr>
              <a:t>ISA</a:t>
            </a:r>
            <a:r>
              <a:rPr sz="2365" spc="73" dirty="0">
                <a:latin typeface="Calibri"/>
                <a:cs typeface="Calibri"/>
              </a:rPr>
              <a:t> </a:t>
            </a:r>
            <a:r>
              <a:rPr sz="2365" spc="67" dirty="0">
                <a:latin typeface="Calibri"/>
                <a:cs typeface="Calibri"/>
              </a:rPr>
              <a:t>circuit</a:t>
            </a:r>
            <a:endParaRPr sz="2365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8449655" y="488981"/>
            <a:ext cx="4373563" cy="11360945"/>
            <a:chOff x="15210409" y="403183"/>
            <a:chExt cx="3606165" cy="9367520"/>
          </a:xfrm>
        </p:grpSpPr>
        <p:sp>
          <p:nvSpPr>
            <p:cNvPr id="41" name="object 41"/>
            <p:cNvSpPr/>
            <p:nvPr/>
          </p:nvSpPr>
          <p:spPr>
            <a:xfrm>
              <a:off x="17006360" y="403183"/>
              <a:ext cx="104775" cy="419734"/>
            </a:xfrm>
            <a:custGeom>
              <a:avLst/>
              <a:gdLst/>
              <a:ahLst/>
              <a:cxnLst/>
              <a:rect l="l" t="t" r="r" b="b"/>
              <a:pathLst>
                <a:path w="104775" h="419734">
                  <a:moveTo>
                    <a:pt x="41872" y="356907"/>
                  </a:moveTo>
                  <a:lnTo>
                    <a:pt x="0" y="357326"/>
                  </a:lnTo>
                  <a:lnTo>
                    <a:pt x="52976" y="419620"/>
                  </a:lnTo>
                  <a:lnTo>
                    <a:pt x="95634" y="367377"/>
                  </a:lnTo>
                  <a:lnTo>
                    <a:pt x="41983" y="367377"/>
                  </a:lnTo>
                  <a:lnTo>
                    <a:pt x="41872" y="356907"/>
                  </a:lnTo>
                  <a:close/>
                </a:path>
                <a:path w="104775" h="419734">
                  <a:moveTo>
                    <a:pt x="62811" y="356698"/>
                  </a:moveTo>
                  <a:lnTo>
                    <a:pt x="41872" y="356907"/>
                  </a:lnTo>
                  <a:lnTo>
                    <a:pt x="41983" y="367377"/>
                  </a:lnTo>
                  <a:lnTo>
                    <a:pt x="62922" y="367168"/>
                  </a:lnTo>
                  <a:lnTo>
                    <a:pt x="62811" y="356698"/>
                  </a:lnTo>
                  <a:close/>
                </a:path>
                <a:path w="104775" h="419734">
                  <a:moveTo>
                    <a:pt x="104695" y="356279"/>
                  </a:moveTo>
                  <a:lnTo>
                    <a:pt x="62811" y="356698"/>
                  </a:lnTo>
                  <a:lnTo>
                    <a:pt x="62922" y="367168"/>
                  </a:lnTo>
                  <a:lnTo>
                    <a:pt x="41983" y="367377"/>
                  </a:lnTo>
                  <a:lnTo>
                    <a:pt x="95634" y="367377"/>
                  </a:lnTo>
                  <a:lnTo>
                    <a:pt x="104695" y="356279"/>
                  </a:lnTo>
                  <a:close/>
                </a:path>
                <a:path w="104775" h="419734">
                  <a:moveTo>
                    <a:pt x="59048" y="0"/>
                  </a:moveTo>
                  <a:lnTo>
                    <a:pt x="38109" y="209"/>
                  </a:lnTo>
                  <a:lnTo>
                    <a:pt x="41865" y="356279"/>
                  </a:lnTo>
                  <a:lnTo>
                    <a:pt x="41872" y="356907"/>
                  </a:lnTo>
                  <a:lnTo>
                    <a:pt x="62811" y="356698"/>
                  </a:lnTo>
                  <a:lnTo>
                    <a:pt x="59050" y="209"/>
                  </a:lnTo>
                  <a:lnTo>
                    <a:pt x="5904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2" name="object 42"/>
            <p:cNvSpPr/>
            <p:nvPr/>
          </p:nvSpPr>
          <p:spPr>
            <a:xfrm>
              <a:off x="16979976" y="3818054"/>
              <a:ext cx="139065" cy="5953125"/>
            </a:xfrm>
            <a:custGeom>
              <a:avLst/>
              <a:gdLst/>
              <a:ahLst/>
              <a:cxnLst/>
              <a:rect l="l" t="t" r="r" b="b"/>
              <a:pathLst>
                <a:path w="139065" h="5953125">
                  <a:moveTo>
                    <a:pt x="104686" y="464845"/>
                  </a:moveTo>
                  <a:lnTo>
                    <a:pt x="62814" y="464845"/>
                  </a:lnTo>
                  <a:lnTo>
                    <a:pt x="62814" y="0"/>
                  </a:lnTo>
                  <a:lnTo>
                    <a:pt x="41871" y="0"/>
                  </a:lnTo>
                  <a:lnTo>
                    <a:pt x="41871" y="464845"/>
                  </a:lnTo>
                  <a:lnTo>
                    <a:pt x="0" y="464845"/>
                  </a:lnTo>
                  <a:lnTo>
                    <a:pt x="52349" y="527659"/>
                  </a:lnTo>
                  <a:lnTo>
                    <a:pt x="95961" y="475310"/>
                  </a:lnTo>
                  <a:lnTo>
                    <a:pt x="104686" y="464845"/>
                  </a:lnTo>
                  <a:close/>
                </a:path>
                <a:path w="139065" h="5953125">
                  <a:moveTo>
                    <a:pt x="134848" y="4052455"/>
                  </a:moveTo>
                  <a:lnTo>
                    <a:pt x="92964" y="4052455"/>
                  </a:lnTo>
                  <a:lnTo>
                    <a:pt x="92964" y="3686124"/>
                  </a:lnTo>
                  <a:lnTo>
                    <a:pt x="72021" y="3686124"/>
                  </a:lnTo>
                  <a:lnTo>
                    <a:pt x="72021" y="4052455"/>
                  </a:lnTo>
                  <a:lnTo>
                    <a:pt x="30149" y="4052455"/>
                  </a:lnTo>
                  <a:lnTo>
                    <a:pt x="82499" y="4115270"/>
                  </a:lnTo>
                  <a:lnTo>
                    <a:pt x="126123" y="4062920"/>
                  </a:lnTo>
                  <a:lnTo>
                    <a:pt x="134848" y="4052455"/>
                  </a:lnTo>
                  <a:close/>
                </a:path>
                <a:path w="139065" h="5953125">
                  <a:moveTo>
                    <a:pt x="138607" y="5889129"/>
                  </a:moveTo>
                  <a:lnTo>
                    <a:pt x="96723" y="5889599"/>
                  </a:lnTo>
                  <a:lnTo>
                    <a:pt x="92964" y="5533174"/>
                  </a:lnTo>
                  <a:lnTo>
                    <a:pt x="92964" y="5532856"/>
                  </a:lnTo>
                  <a:lnTo>
                    <a:pt x="72021" y="5533174"/>
                  </a:lnTo>
                  <a:lnTo>
                    <a:pt x="75780" y="5889129"/>
                  </a:lnTo>
                  <a:lnTo>
                    <a:pt x="75793" y="5889828"/>
                  </a:lnTo>
                  <a:lnTo>
                    <a:pt x="33921" y="5890285"/>
                  </a:lnTo>
                  <a:lnTo>
                    <a:pt x="86893" y="5952579"/>
                  </a:lnTo>
                  <a:lnTo>
                    <a:pt x="129476" y="5900331"/>
                  </a:lnTo>
                  <a:lnTo>
                    <a:pt x="138607" y="5889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3" name="object 43"/>
            <p:cNvSpPr/>
            <p:nvPr/>
          </p:nvSpPr>
          <p:spPr>
            <a:xfrm>
              <a:off x="15215644" y="8295673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59">
                  <a:moveTo>
                    <a:pt x="3431089" y="0"/>
                  </a:moveTo>
                  <a:lnTo>
                    <a:pt x="164581" y="0"/>
                  </a:lnTo>
                  <a:lnTo>
                    <a:pt x="120836" y="5880"/>
                  </a:lnTo>
                  <a:lnTo>
                    <a:pt x="81523" y="22474"/>
                  </a:lnTo>
                  <a:lnTo>
                    <a:pt x="48212" y="48212"/>
                  </a:lnTo>
                  <a:lnTo>
                    <a:pt x="22474" y="81523"/>
                  </a:lnTo>
                  <a:lnTo>
                    <a:pt x="5880" y="120836"/>
                  </a:lnTo>
                  <a:lnTo>
                    <a:pt x="0" y="164581"/>
                  </a:lnTo>
                  <a:lnTo>
                    <a:pt x="0" y="822908"/>
                  </a:lnTo>
                  <a:lnTo>
                    <a:pt x="5880" y="866690"/>
                  </a:lnTo>
                  <a:lnTo>
                    <a:pt x="22474" y="906013"/>
                  </a:lnTo>
                  <a:lnTo>
                    <a:pt x="48212" y="939317"/>
                  </a:lnTo>
                  <a:lnTo>
                    <a:pt x="81523" y="965039"/>
                  </a:lnTo>
                  <a:lnTo>
                    <a:pt x="120836" y="981617"/>
                  </a:lnTo>
                  <a:lnTo>
                    <a:pt x="164581" y="987490"/>
                  </a:lnTo>
                  <a:lnTo>
                    <a:pt x="3431089" y="987490"/>
                  </a:lnTo>
                  <a:lnTo>
                    <a:pt x="3474835" y="981617"/>
                  </a:lnTo>
                  <a:lnTo>
                    <a:pt x="3514148" y="965039"/>
                  </a:lnTo>
                  <a:lnTo>
                    <a:pt x="3547458" y="939317"/>
                  </a:lnTo>
                  <a:lnTo>
                    <a:pt x="3573196" y="906013"/>
                  </a:lnTo>
                  <a:lnTo>
                    <a:pt x="3589790" y="866690"/>
                  </a:lnTo>
                  <a:lnTo>
                    <a:pt x="3595671" y="822908"/>
                  </a:lnTo>
                  <a:lnTo>
                    <a:pt x="3595671" y="164581"/>
                  </a:lnTo>
                  <a:lnTo>
                    <a:pt x="3589790" y="120836"/>
                  </a:lnTo>
                  <a:lnTo>
                    <a:pt x="3573196" y="81523"/>
                  </a:lnTo>
                  <a:lnTo>
                    <a:pt x="3547458" y="48212"/>
                  </a:lnTo>
                  <a:lnTo>
                    <a:pt x="3514148" y="22474"/>
                  </a:lnTo>
                  <a:lnTo>
                    <a:pt x="3474835" y="5880"/>
                  </a:lnTo>
                  <a:lnTo>
                    <a:pt x="3431089" y="0"/>
                  </a:lnTo>
                  <a:close/>
                </a:path>
              </a:pathLst>
            </a:custGeom>
            <a:solidFill>
              <a:srgbClr val="D3BAFF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44" name="object 44"/>
            <p:cNvSpPr/>
            <p:nvPr/>
          </p:nvSpPr>
          <p:spPr>
            <a:xfrm>
              <a:off x="15215644" y="8295673"/>
              <a:ext cx="3596004" cy="988060"/>
            </a:xfrm>
            <a:custGeom>
              <a:avLst/>
              <a:gdLst/>
              <a:ahLst/>
              <a:cxnLst/>
              <a:rect l="l" t="t" r="r" b="b"/>
              <a:pathLst>
                <a:path w="3596005" h="988059">
                  <a:moveTo>
                    <a:pt x="0" y="164581"/>
                  </a:moveTo>
                  <a:lnTo>
                    <a:pt x="5880" y="120836"/>
                  </a:lnTo>
                  <a:lnTo>
                    <a:pt x="22474" y="81523"/>
                  </a:lnTo>
                  <a:lnTo>
                    <a:pt x="48212" y="48212"/>
                  </a:lnTo>
                  <a:lnTo>
                    <a:pt x="81523" y="22474"/>
                  </a:lnTo>
                  <a:lnTo>
                    <a:pt x="120836" y="5880"/>
                  </a:lnTo>
                  <a:lnTo>
                    <a:pt x="164581" y="0"/>
                  </a:lnTo>
                  <a:lnTo>
                    <a:pt x="3431089" y="0"/>
                  </a:lnTo>
                  <a:lnTo>
                    <a:pt x="3474835" y="5880"/>
                  </a:lnTo>
                  <a:lnTo>
                    <a:pt x="3514148" y="22474"/>
                  </a:lnTo>
                  <a:lnTo>
                    <a:pt x="3547458" y="48212"/>
                  </a:lnTo>
                  <a:lnTo>
                    <a:pt x="3573196" y="81523"/>
                  </a:lnTo>
                  <a:lnTo>
                    <a:pt x="3589790" y="120836"/>
                  </a:lnTo>
                  <a:lnTo>
                    <a:pt x="3595671" y="164581"/>
                  </a:lnTo>
                  <a:lnTo>
                    <a:pt x="3595671" y="822908"/>
                  </a:lnTo>
                  <a:lnTo>
                    <a:pt x="3589790" y="866690"/>
                  </a:lnTo>
                  <a:lnTo>
                    <a:pt x="3573196" y="906013"/>
                  </a:lnTo>
                  <a:lnTo>
                    <a:pt x="3547458" y="939317"/>
                  </a:lnTo>
                  <a:lnTo>
                    <a:pt x="3514148" y="965039"/>
                  </a:lnTo>
                  <a:lnTo>
                    <a:pt x="3474835" y="981617"/>
                  </a:lnTo>
                  <a:lnTo>
                    <a:pt x="3431089" y="987490"/>
                  </a:lnTo>
                  <a:lnTo>
                    <a:pt x="164581" y="987490"/>
                  </a:lnTo>
                  <a:lnTo>
                    <a:pt x="120836" y="981617"/>
                  </a:lnTo>
                  <a:lnTo>
                    <a:pt x="81523" y="965039"/>
                  </a:lnTo>
                  <a:lnTo>
                    <a:pt x="48212" y="939317"/>
                  </a:lnTo>
                  <a:lnTo>
                    <a:pt x="22474" y="906013"/>
                  </a:lnTo>
                  <a:lnTo>
                    <a:pt x="5880" y="866690"/>
                  </a:lnTo>
                  <a:lnTo>
                    <a:pt x="0" y="822908"/>
                  </a:lnTo>
                  <a:lnTo>
                    <a:pt x="0" y="164581"/>
                  </a:lnTo>
                  <a:close/>
                </a:path>
              </a:pathLst>
            </a:custGeom>
            <a:ln w="10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8789785" y="10337711"/>
            <a:ext cx="3616526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91" dirty="0">
                <a:latin typeface="Calibri"/>
                <a:cs typeface="Calibri"/>
              </a:rPr>
              <a:t>M3: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212" dirty="0">
                <a:latin typeface="Calibri"/>
                <a:cs typeface="Calibri"/>
              </a:rPr>
              <a:t>post-</a:t>
            </a:r>
            <a:r>
              <a:rPr sz="3578" spc="206" dirty="0">
                <a:latin typeface="Calibri"/>
                <a:cs typeface="Calibri"/>
              </a:rPr>
              <a:t>process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6" name="object 46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691292"/>
          </a:xfrm>
          <a:prstGeom prst="rect">
            <a:avLst/>
          </a:prstGeom>
        </p:spPr>
        <p:txBody>
          <a:bodyPr vert="horz" wrap="square" lIns="0" tIns="1925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52"/>
              </a:spcBef>
            </a:pPr>
            <a:r>
              <a:rPr sz="4366" spc="146" dirty="0">
                <a:solidFill>
                  <a:srgbClr val="161616"/>
                </a:solidFill>
              </a:rPr>
              <a:t>Qiskit</a:t>
            </a:r>
            <a:r>
              <a:rPr sz="4366" spc="85" dirty="0">
                <a:solidFill>
                  <a:srgbClr val="161616"/>
                </a:solidFill>
              </a:rPr>
              <a:t> </a:t>
            </a:r>
            <a:r>
              <a:rPr sz="4366" spc="158" dirty="0">
                <a:solidFill>
                  <a:srgbClr val="161616"/>
                </a:solidFill>
              </a:rPr>
              <a:t>Addon:</a:t>
            </a:r>
            <a:r>
              <a:rPr sz="4366" spc="115" dirty="0">
                <a:solidFill>
                  <a:srgbClr val="161616"/>
                </a:solidFill>
              </a:rPr>
              <a:t> </a:t>
            </a:r>
            <a:r>
              <a:rPr sz="4366" spc="109" dirty="0">
                <a:solidFill>
                  <a:srgbClr val="161616"/>
                </a:solidFill>
              </a:rPr>
              <a:t>Matrix-</a:t>
            </a:r>
            <a:r>
              <a:rPr sz="4366" spc="121" dirty="0">
                <a:solidFill>
                  <a:srgbClr val="161616"/>
                </a:solidFill>
              </a:rPr>
              <a:t>free</a:t>
            </a:r>
            <a:r>
              <a:rPr sz="4366" spc="49" dirty="0">
                <a:solidFill>
                  <a:srgbClr val="161616"/>
                </a:solidFill>
              </a:rPr>
              <a:t> </a:t>
            </a:r>
            <a:r>
              <a:rPr sz="4366" spc="158" dirty="0">
                <a:solidFill>
                  <a:srgbClr val="161616"/>
                </a:solidFill>
              </a:rPr>
              <a:t>Measurement</a:t>
            </a:r>
            <a:r>
              <a:rPr sz="4366" spc="85" dirty="0">
                <a:solidFill>
                  <a:srgbClr val="161616"/>
                </a:solidFill>
              </a:rPr>
              <a:t> </a:t>
            </a:r>
            <a:r>
              <a:rPr sz="4366" spc="73" dirty="0">
                <a:solidFill>
                  <a:srgbClr val="161616"/>
                </a:solidFill>
              </a:rPr>
              <a:t>Mitigation</a:t>
            </a:r>
            <a:r>
              <a:rPr sz="4366" spc="79" dirty="0">
                <a:solidFill>
                  <a:srgbClr val="161616"/>
                </a:solidFill>
              </a:rPr>
              <a:t> </a:t>
            </a:r>
            <a:r>
              <a:rPr sz="4366" spc="97" dirty="0">
                <a:solidFill>
                  <a:srgbClr val="161616"/>
                </a:solidFill>
              </a:rPr>
              <a:t>(M3)</a:t>
            </a:r>
            <a:endParaRPr sz="4366"/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9962" y="2725646"/>
            <a:ext cx="7888104" cy="410593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5877" y="7041316"/>
            <a:ext cx="6665052" cy="4194561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599251" y="12111581"/>
            <a:ext cx="2236454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</a:pPr>
            <a:r>
              <a:rPr sz="2789" spc="164" dirty="0">
                <a:solidFill>
                  <a:srgbClr val="0E61FD"/>
                </a:solidFill>
                <a:latin typeface="Calibri"/>
                <a:cs typeface="Calibri"/>
              </a:rPr>
              <a:t>IBM</a:t>
            </a:r>
            <a:r>
              <a:rPr sz="2789" spc="-6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2789" spc="97" dirty="0">
                <a:solidFill>
                  <a:srgbClr val="0E61FD"/>
                </a:solidFill>
                <a:latin typeface="Calibri"/>
                <a:cs typeface="Calibri"/>
              </a:rPr>
              <a:t>Quantum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558211" y="12916743"/>
            <a:ext cx="268775" cy="263691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15403">
              <a:spcBef>
                <a:spcPts val="164"/>
              </a:spcBef>
            </a:pPr>
            <a:r>
              <a:rPr sz="1577" spc="91" dirty="0">
                <a:latin typeface="Calibri"/>
                <a:cs typeface="Calibri"/>
              </a:rPr>
              <a:t>44</a:t>
            </a:r>
            <a:endParaRPr sz="157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6554569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21" dirty="0">
                <a:latin typeface="Calibri"/>
                <a:cs typeface="Calibri"/>
              </a:rPr>
              <a:t>Qiskit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176" dirty="0">
                <a:latin typeface="Calibri"/>
                <a:cs typeface="Calibri"/>
              </a:rPr>
              <a:t>Addons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97" dirty="0">
                <a:latin typeface="Calibri"/>
                <a:cs typeface="Calibri"/>
              </a:rPr>
              <a:t>workflow: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200" dirty="0">
                <a:latin typeface="Calibri"/>
                <a:cs typeface="Calibri"/>
              </a:rPr>
              <a:t>Sample </a:t>
            </a:r>
            <a:r>
              <a:rPr sz="3578" spc="194" dirty="0">
                <a:latin typeface="Calibri"/>
                <a:cs typeface="Calibri"/>
              </a:rPr>
              <a:t>based</a:t>
            </a:r>
            <a:r>
              <a:rPr sz="3578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diagonalization </a:t>
            </a:r>
            <a:r>
              <a:rPr sz="3578" dirty="0">
                <a:latin typeface="Calibri"/>
                <a:cs typeface="Calibri"/>
              </a:rPr>
              <a:t>of</a:t>
            </a:r>
            <a:r>
              <a:rPr sz="3578" spc="115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a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chemistry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Hamiltonian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7356274" cy="5521539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881026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>
              <a:latin typeface="Calibri"/>
              <a:cs typeface="Calibri"/>
            </a:endParaRPr>
          </a:p>
          <a:p>
            <a:pPr marL="15403" marR="856382">
              <a:lnSpc>
                <a:spcPts val="4330"/>
              </a:lnSpc>
              <a:spcBef>
                <a:spcPts val="138"/>
              </a:spcBef>
            </a:pPr>
            <a:r>
              <a:rPr sz="3578" u="sng" spc="10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/docs/en/tutorials/sample-</a:t>
            </a:r>
            <a:r>
              <a:rPr sz="3578" u="sng" spc="212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based-</a:t>
            </a:r>
            <a:r>
              <a:rPr sz="3578" u="sng" spc="16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quantum-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diagonalization</a:t>
            </a:r>
            <a:endParaRPr sz="3578">
              <a:latin typeface="Calibri"/>
              <a:cs typeface="Calibri"/>
            </a:endParaRPr>
          </a:p>
          <a:p>
            <a:pPr>
              <a:spcBef>
                <a:spcPts val="1164"/>
              </a:spcBef>
            </a:pPr>
            <a:endParaRPr sz="3578">
              <a:latin typeface="Calibri"/>
              <a:cs typeface="Calibri"/>
            </a:endParaRPr>
          </a:p>
          <a:p>
            <a:pPr marL="23104" marR="587608">
              <a:lnSpc>
                <a:spcPct val="100400"/>
              </a:lnSpc>
            </a:pPr>
            <a:r>
              <a:rPr sz="2789" spc="97" dirty="0">
                <a:latin typeface="Calibri"/>
                <a:cs typeface="Calibri"/>
              </a:rPr>
              <a:t>Lecture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notes</a:t>
            </a:r>
            <a:r>
              <a:rPr sz="2789" spc="67" dirty="0">
                <a:latin typeface="Calibri"/>
                <a:cs typeface="Calibri"/>
              </a:rPr>
              <a:t> from</a:t>
            </a:r>
            <a:r>
              <a:rPr sz="2789" spc="91" dirty="0">
                <a:latin typeface="Calibri"/>
                <a:cs typeface="Calibri"/>
              </a:rPr>
              <a:t> </a:t>
            </a:r>
            <a:r>
              <a:rPr sz="2789" spc="127" dirty="0">
                <a:latin typeface="Calibri"/>
                <a:cs typeface="Calibri"/>
              </a:rPr>
              <a:t>QGSS: </a:t>
            </a:r>
            <a:r>
              <a:rPr sz="2789" u="sng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https://github.com/qiskit-</a:t>
            </a:r>
            <a:r>
              <a:rPr sz="2789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community/qgss-</a:t>
            </a:r>
            <a:r>
              <a:rPr sz="2789" u="sng" spc="25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2025-</a:t>
            </a:r>
            <a:r>
              <a:rPr sz="2789" u="sng" spc="9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</a:rPr>
              <a:t>l</a:t>
            </a:r>
            <a:r>
              <a:rPr sz="2789" u="sng" spc="9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ecture-</a:t>
            </a:r>
            <a:r>
              <a:rPr sz="2789" u="sng" spc="13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notes/blob/main/Day%205%20-</a:t>
            </a:r>
            <a:endParaRPr sz="2789">
              <a:latin typeface="Calibri"/>
              <a:cs typeface="Calibri"/>
            </a:endParaRPr>
          </a:p>
          <a:p>
            <a:pPr marL="23104" marR="6161">
              <a:lnSpc>
                <a:spcPts val="3384"/>
              </a:lnSpc>
              <a:spcBef>
                <a:spcPts val="42"/>
              </a:spcBef>
            </a:pPr>
            <a:r>
              <a:rPr sz="2789" u="sng" spc="16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%20Practical%20Quantum%20Algorithms%2</a:t>
            </a:r>
            <a:r>
              <a:rPr sz="2789" spc="164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2789" u="sng" spc="158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0by%20Joana%20Fraxanet%20Morales.pdf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21850" y="2669511"/>
            <a:ext cx="15290914" cy="8013194"/>
            <a:chOff x="6859659" y="2201110"/>
            <a:chExt cx="12607925" cy="66071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 descr="A person in a purple suit  AI-generated content may be incorrect.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2280" y="2246352"/>
              <a:ext cx="12528313" cy="6475223"/>
            </a:xfrm>
            <a:prstGeom prst="rect">
              <a:avLst/>
            </a:prstGeom>
          </p:spPr>
        </p:pic>
        <p:pic>
          <p:nvPicPr>
            <p:cNvPr id="11" name="object 11" descr="A screenshot of a computer  AI-generated content may be incorrect.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4742" y="2246352"/>
              <a:ext cx="12528313" cy="638476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35</a:t>
            </a:fld>
            <a:endParaRPr spc="109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7"/>
            <a:ext cx="5523366" cy="222134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46" dirty="0">
                <a:latin typeface="Calibri"/>
                <a:cs typeface="Calibri"/>
              </a:rPr>
              <a:t>Algorithms</a:t>
            </a:r>
            <a:r>
              <a:rPr sz="3578" spc="73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Pt.2 </a:t>
            </a:r>
            <a:r>
              <a:rPr sz="3578" spc="236" dirty="0">
                <a:latin typeface="Calibri"/>
                <a:cs typeface="Calibri"/>
              </a:rPr>
              <a:t>Sample-</a:t>
            </a:r>
            <a:r>
              <a:rPr sz="3578" spc="194" dirty="0">
                <a:latin typeface="Calibri"/>
                <a:cs typeface="Calibri"/>
              </a:rPr>
              <a:t>based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Methods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-30" dirty="0">
                <a:latin typeface="Calibri"/>
                <a:cs typeface="Calibri"/>
              </a:rPr>
              <a:t>for </a:t>
            </a: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Simulation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70" dirty="0">
                <a:latin typeface="Calibri"/>
                <a:cs typeface="Calibri"/>
              </a:rPr>
              <a:t>Javier </a:t>
            </a:r>
            <a:r>
              <a:rPr sz="3578" spc="164" dirty="0">
                <a:latin typeface="Calibri"/>
                <a:cs typeface="Calibri"/>
              </a:rPr>
              <a:t>Robledo</a:t>
            </a:r>
            <a:r>
              <a:rPr sz="3578" spc="200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Moreno</a:t>
            </a:r>
            <a:r>
              <a:rPr sz="3578" spc="121" dirty="0">
                <a:latin typeface="Calibri"/>
                <a:cs typeface="Calibri"/>
              </a:rPr>
              <a:t> </a:t>
            </a:r>
            <a:r>
              <a:rPr sz="3578" spc="-631" dirty="0">
                <a:latin typeface="Calibri"/>
                <a:cs typeface="Calibri"/>
              </a:rPr>
              <a:t>|</a:t>
            </a:r>
            <a:r>
              <a:rPr sz="3578" spc="138" dirty="0">
                <a:latin typeface="Calibri"/>
                <a:cs typeface="Calibri"/>
              </a:rPr>
              <a:t> </a:t>
            </a:r>
            <a:r>
              <a:rPr sz="3578" spc="285" dirty="0">
                <a:latin typeface="Calibri"/>
                <a:cs typeface="Calibri"/>
              </a:rPr>
              <a:t>QGSS26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3" y="6819483"/>
            <a:ext cx="6263460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8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https://youtube.com/watch?v=</a:t>
            </a:r>
            <a:r>
              <a:rPr sz="3578" spc="85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13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WuaoaknYDrk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48721" y="2486683"/>
            <a:ext cx="15578942" cy="8767920"/>
            <a:chOff x="6799361" y="2050362"/>
            <a:chExt cx="12845415" cy="72294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 descr="A person in a purple suit  AI-generated content may be incorrect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46352"/>
              <a:ext cx="12528313" cy="64752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99361" y="2050362"/>
              <a:ext cx="12844913" cy="7229033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36</a:t>
            </a:fld>
            <a:endParaRPr spc="109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3" y="2897217"/>
            <a:ext cx="6477556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578" spc="158" dirty="0">
                <a:latin typeface="Calibri"/>
                <a:cs typeface="Calibri"/>
              </a:rPr>
              <a:t>Advanced</a:t>
            </a:r>
            <a:r>
              <a:rPr sz="3578" spc="115" dirty="0">
                <a:latin typeface="Calibri"/>
                <a:cs typeface="Calibri"/>
              </a:rPr>
              <a:t> </a:t>
            </a:r>
            <a:r>
              <a:rPr sz="3578" spc="182" dirty="0">
                <a:latin typeface="Calibri"/>
                <a:cs typeface="Calibri"/>
              </a:rPr>
              <a:t>Techniques</a:t>
            </a:r>
            <a:r>
              <a:rPr sz="3578" spc="115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for</a:t>
            </a:r>
            <a:r>
              <a:rPr sz="3578" spc="109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QAOA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81407" cy="222595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</a:t>
            </a:r>
            <a:endParaRPr sz="3578">
              <a:latin typeface="Calibri"/>
              <a:cs typeface="Calibri"/>
            </a:endParaRPr>
          </a:p>
          <a:p>
            <a:pPr marL="15403" marR="534469">
              <a:lnSpc>
                <a:spcPts val="4330"/>
              </a:lnSpc>
              <a:spcBef>
                <a:spcPts val="109"/>
              </a:spcBef>
            </a:pPr>
            <a:r>
              <a:rPr sz="3578" u="sng" spc="10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/docs/en/tutorials/advanced-</a:t>
            </a:r>
            <a:r>
              <a:rPr sz="3578" u="sng" spc="16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techniques-</a:t>
            </a:r>
            <a:r>
              <a:rPr sz="3578" u="sng" spc="115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for-</a:t>
            </a:r>
            <a:r>
              <a:rPr sz="3578" u="sng" spc="10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qaoa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21850" y="2669511"/>
            <a:ext cx="15290914" cy="8013194"/>
            <a:chOff x="6859659" y="2201110"/>
            <a:chExt cx="12607925" cy="6607175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 descr="A person in a purple suit  AI-generated content may be incorrect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246352"/>
              <a:ext cx="12528313" cy="6475223"/>
            </a:xfrm>
            <a:prstGeom prst="rect">
              <a:avLst/>
            </a:prstGeom>
          </p:spPr>
        </p:pic>
        <p:pic>
          <p:nvPicPr>
            <p:cNvPr id="11" name="object 11" descr="A screenshot of a computer  AI-generated content may be incorrect.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4742" y="2246352"/>
              <a:ext cx="12528313" cy="6384766"/>
            </a:xfrm>
            <a:prstGeom prst="rect">
              <a:avLst/>
            </a:prstGeom>
          </p:spPr>
        </p:pic>
        <p:pic>
          <p:nvPicPr>
            <p:cNvPr id="12" name="object 12" descr="A screenshot of a computer  AI-generated content may be incorrect.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2280" y="2216200"/>
              <a:ext cx="12513237" cy="639230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37</a:t>
            </a:fld>
            <a:endParaRPr spc="109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6234966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27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21" dirty="0">
                <a:latin typeface="Calibri"/>
                <a:cs typeface="Calibri"/>
              </a:rPr>
              <a:t>Approximate </a:t>
            </a:r>
            <a:r>
              <a:rPr sz="3578" spc="103" dirty="0">
                <a:latin typeface="Calibri"/>
                <a:cs typeface="Calibri"/>
              </a:rPr>
              <a:t>optimization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15" dirty="0">
                <a:latin typeface="Calibri"/>
                <a:cs typeface="Calibri"/>
              </a:rPr>
              <a:t>Algorithm</a:t>
            </a:r>
            <a:r>
              <a:rPr sz="3578" spc="109" dirty="0">
                <a:latin typeface="Calibri"/>
                <a:cs typeface="Calibri"/>
              </a:rPr>
              <a:t> </a:t>
            </a:r>
            <a:r>
              <a:rPr sz="3578" spc="79" dirty="0">
                <a:latin typeface="Calibri"/>
                <a:cs typeface="Calibri"/>
              </a:rPr>
              <a:t>(QAOA) </a:t>
            </a:r>
            <a:r>
              <a:rPr sz="3578" spc="103" dirty="0">
                <a:latin typeface="Calibri"/>
                <a:cs typeface="Calibri"/>
              </a:rPr>
              <a:t>walkthrough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3"/>
            <a:ext cx="6444441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7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https://www.youtube.com/watc</a:t>
            </a:r>
            <a:r>
              <a:rPr sz="3578" spc="79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176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h?v=D5cAo5O6xZM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57299" y="2468397"/>
            <a:ext cx="15454952" cy="8657792"/>
            <a:chOff x="6723981" y="2035285"/>
            <a:chExt cx="12743180" cy="7138670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60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9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1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3981" y="2035285"/>
              <a:ext cx="12686613" cy="713857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38</a:t>
            </a:fld>
            <a:endParaRPr spc="109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105" y="698662"/>
            <a:ext cx="27397344" cy="569263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46"/>
              </a:spcBef>
            </a:pPr>
            <a:r>
              <a:rPr spc="261" dirty="0"/>
              <a:t>IBM</a:t>
            </a:r>
            <a:r>
              <a:rPr spc="12" dirty="0"/>
              <a:t> </a:t>
            </a:r>
            <a:r>
              <a:rPr spc="152" dirty="0"/>
              <a:t>Quantum</a:t>
            </a:r>
            <a:r>
              <a:rPr spc="79" dirty="0"/>
              <a:t> </a:t>
            </a:r>
            <a:r>
              <a:rPr spc="133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432" y="2897218"/>
            <a:ext cx="5512584" cy="1665227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 algn="just">
              <a:lnSpc>
                <a:spcPct val="100699"/>
              </a:lnSpc>
              <a:spcBef>
                <a:spcPts val="115"/>
              </a:spcBef>
            </a:pPr>
            <a:r>
              <a:rPr sz="3578" spc="158" dirty="0">
                <a:latin typeface="Calibri"/>
                <a:cs typeface="Calibri"/>
              </a:rPr>
              <a:t>Warm-</a:t>
            </a:r>
            <a:r>
              <a:rPr sz="3578" spc="103" dirty="0">
                <a:latin typeface="Calibri"/>
                <a:cs typeface="Calibri"/>
              </a:rPr>
              <a:t>start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03" dirty="0">
                <a:latin typeface="Calibri"/>
                <a:cs typeface="Calibri"/>
              </a:rPr>
              <a:t>QAOA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61" dirty="0">
                <a:latin typeface="Calibri"/>
                <a:cs typeface="Calibri"/>
              </a:rPr>
              <a:t>with</a:t>
            </a:r>
            <a:r>
              <a:rPr sz="3578" spc="49" dirty="0">
                <a:latin typeface="Calibri"/>
                <a:cs typeface="Calibri"/>
              </a:rPr>
              <a:t> </a:t>
            </a:r>
            <a:r>
              <a:rPr sz="3578" spc="67" dirty="0">
                <a:latin typeface="Calibri"/>
                <a:cs typeface="Calibri"/>
              </a:rPr>
              <a:t>the </a:t>
            </a:r>
            <a:r>
              <a:rPr sz="3578" spc="103" dirty="0">
                <a:latin typeface="Calibri"/>
                <a:cs typeface="Calibri"/>
              </a:rPr>
              <a:t>Optimization</a:t>
            </a:r>
            <a:r>
              <a:rPr sz="3578" spc="42" dirty="0">
                <a:latin typeface="Calibri"/>
                <a:cs typeface="Calibri"/>
              </a:rPr>
              <a:t> </a:t>
            </a:r>
            <a:r>
              <a:rPr sz="3578" spc="85" dirty="0">
                <a:latin typeface="Calibri"/>
                <a:cs typeface="Calibri"/>
              </a:rPr>
              <a:t>Mapper</a:t>
            </a:r>
            <a:r>
              <a:rPr sz="3578" spc="61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Qiskit </a:t>
            </a:r>
            <a:r>
              <a:rPr sz="3578" spc="121" dirty="0">
                <a:latin typeface="Calibri"/>
                <a:cs typeface="Calibri"/>
              </a:rPr>
              <a:t>addon</a:t>
            </a:r>
            <a:endParaRPr sz="357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32" y="6819482"/>
            <a:ext cx="6566121" cy="2221341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0699"/>
              </a:lnSpc>
              <a:spcBef>
                <a:spcPts val="115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7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https://quantum.cloud.ibm.com/</a:t>
            </a:r>
            <a:r>
              <a:rPr sz="3578" spc="73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10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docs/en/tutorials/warm-</a:t>
            </a:r>
            <a:r>
              <a:rPr sz="3578" u="sng" spc="127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start-</a:t>
            </a:r>
            <a:r>
              <a:rPr sz="3578" u="sng" spc="10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qaoa</a:t>
            </a:r>
            <a:endParaRPr sz="357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80211" y="2514109"/>
            <a:ext cx="16986737" cy="8265026"/>
            <a:chOff x="6083243" y="2072976"/>
            <a:chExt cx="14006194" cy="6814820"/>
          </a:xfrm>
        </p:grpSpPr>
        <p:pic>
          <p:nvPicPr>
            <p:cNvPr id="6" name="object 6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660" y="2201110"/>
              <a:ext cx="12607477" cy="6607166"/>
            </a:xfrm>
            <a:prstGeom prst="rect">
              <a:avLst/>
            </a:prstGeom>
          </p:spPr>
        </p:pic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43" y="2216200"/>
              <a:ext cx="12535852" cy="65355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0869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281" y="2419728"/>
              <a:ext cx="12528313" cy="6331999"/>
            </a:xfrm>
            <a:prstGeom prst="rect">
              <a:avLst/>
            </a:prstGeom>
          </p:spPr>
        </p:pic>
        <p:pic>
          <p:nvPicPr>
            <p:cNvPr id="10" name="object 10" descr="A person in a purple suit  AI-generated content may be incorrect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1" y="2246352"/>
              <a:ext cx="12528313" cy="64752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83243" y="2072976"/>
              <a:ext cx="14005780" cy="6814437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39</a:t>
            </a:fld>
            <a:endParaRPr spc="109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432" y="560874"/>
            <a:ext cx="6587685" cy="9846482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23104">
              <a:spcBef>
                <a:spcPts val="146"/>
              </a:spcBef>
            </a:pPr>
            <a:r>
              <a:rPr sz="3578" spc="261" dirty="0">
                <a:latin typeface="Calibri"/>
                <a:cs typeface="Calibri"/>
              </a:rPr>
              <a:t>IBM</a:t>
            </a:r>
            <a:r>
              <a:rPr sz="3578" spc="12" dirty="0">
                <a:latin typeface="Calibri"/>
                <a:cs typeface="Calibri"/>
              </a:rPr>
              <a:t> </a:t>
            </a:r>
            <a:r>
              <a:rPr sz="3578" spc="152" dirty="0">
                <a:latin typeface="Calibri"/>
                <a:cs typeface="Calibri"/>
              </a:rPr>
              <a:t>Quantum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Platform</a:t>
            </a:r>
            <a:endParaRPr sz="3578" dirty="0">
              <a:latin typeface="Calibri"/>
              <a:cs typeface="Calibri"/>
            </a:endParaRPr>
          </a:p>
          <a:p>
            <a:pPr>
              <a:spcBef>
                <a:spcPts val="3147"/>
              </a:spcBef>
            </a:pPr>
            <a:endParaRPr sz="3578" dirty="0">
              <a:latin typeface="Calibri"/>
              <a:cs typeface="Calibri"/>
            </a:endParaRPr>
          </a:p>
          <a:p>
            <a:pPr marL="22334"/>
            <a:r>
              <a:rPr sz="3578" spc="97" dirty="0">
                <a:latin typeface="Calibri"/>
                <a:cs typeface="Calibri"/>
              </a:rPr>
              <a:t>Video:</a:t>
            </a:r>
            <a:endParaRPr sz="3578" dirty="0">
              <a:latin typeface="Calibri"/>
              <a:cs typeface="Calibri"/>
            </a:endParaRPr>
          </a:p>
          <a:p>
            <a:pPr marL="22334" marR="6161">
              <a:lnSpc>
                <a:spcPct val="100699"/>
              </a:lnSpc>
              <a:spcBef>
                <a:spcPts val="4324"/>
              </a:spcBef>
            </a:pPr>
            <a:r>
              <a:rPr sz="3578" spc="133" dirty="0">
                <a:latin typeface="Calibri"/>
                <a:cs typeface="Calibri"/>
              </a:rPr>
              <a:t>Quantum</a:t>
            </a:r>
            <a:r>
              <a:rPr sz="3578" spc="67" dirty="0">
                <a:latin typeface="Calibri"/>
                <a:cs typeface="Calibri"/>
              </a:rPr>
              <a:t> </a:t>
            </a:r>
            <a:r>
              <a:rPr sz="3578" spc="138" dirty="0">
                <a:latin typeface="Calibri"/>
                <a:cs typeface="Calibri"/>
              </a:rPr>
              <a:t>Algorithms</a:t>
            </a:r>
            <a:r>
              <a:rPr sz="3578" spc="6" dirty="0">
                <a:latin typeface="Calibri"/>
                <a:cs typeface="Calibri"/>
              </a:rPr>
              <a:t> </a:t>
            </a:r>
            <a:r>
              <a:rPr sz="3578" spc="152" dirty="0">
                <a:latin typeface="Calibri"/>
                <a:cs typeface="Calibri"/>
              </a:rPr>
              <a:t>Pt.3 </a:t>
            </a:r>
            <a:r>
              <a:rPr sz="3578" spc="146" dirty="0">
                <a:latin typeface="Calibri"/>
                <a:cs typeface="Calibri"/>
              </a:rPr>
              <a:t>Tracking</a:t>
            </a:r>
            <a:r>
              <a:rPr sz="3578" spc="55" dirty="0">
                <a:latin typeface="Calibri"/>
                <a:cs typeface="Calibri"/>
              </a:rPr>
              <a:t> </a:t>
            </a:r>
            <a:r>
              <a:rPr sz="3578" spc="133" dirty="0">
                <a:latin typeface="Calibri"/>
                <a:cs typeface="Calibri"/>
              </a:rPr>
              <a:t>Advantage</a:t>
            </a:r>
            <a:r>
              <a:rPr sz="3578" spc="91" dirty="0">
                <a:latin typeface="Calibri"/>
                <a:cs typeface="Calibri"/>
              </a:rPr>
              <a:t> </a:t>
            </a:r>
            <a:r>
              <a:rPr sz="3578" spc="-631" dirty="0">
                <a:latin typeface="Calibri"/>
                <a:cs typeface="Calibri"/>
              </a:rPr>
              <a:t>|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dirty="0">
                <a:latin typeface="Calibri"/>
                <a:cs typeface="Calibri"/>
              </a:rPr>
              <a:t>Minh</a:t>
            </a:r>
            <a:r>
              <a:rPr sz="3578" spc="79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Tran</a:t>
            </a:r>
            <a:r>
              <a:rPr sz="3578" spc="85" dirty="0">
                <a:latin typeface="Calibri"/>
                <a:cs typeface="Calibri"/>
              </a:rPr>
              <a:t> </a:t>
            </a:r>
            <a:r>
              <a:rPr sz="3578" spc="-691" dirty="0">
                <a:latin typeface="Calibri"/>
                <a:cs typeface="Calibri"/>
              </a:rPr>
              <a:t>|</a:t>
            </a:r>
            <a:r>
              <a:rPr sz="3578" spc="267" dirty="0">
                <a:latin typeface="Calibri"/>
                <a:cs typeface="Calibri"/>
              </a:rPr>
              <a:t> QGSS26</a:t>
            </a:r>
            <a:endParaRPr sz="3578" dirty="0">
              <a:latin typeface="Calibri"/>
              <a:cs typeface="Calibri"/>
            </a:endParaRPr>
          </a:p>
          <a:p>
            <a:pPr marL="15403" marR="148635">
              <a:lnSpc>
                <a:spcPct val="100699"/>
              </a:lnSpc>
              <a:spcBef>
                <a:spcPts val="3620"/>
              </a:spcBef>
            </a:pPr>
            <a:r>
              <a:rPr sz="3578" spc="115" dirty="0">
                <a:latin typeface="Calibri"/>
                <a:cs typeface="Calibri"/>
              </a:rPr>
              <a:t>Link: </a:t>
            </a:r>
            <a:r>
              <a:rPr sz="3578" u="sng" spc="79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https://www.youtube.com/watc</a:t>
            </a:r>
            <a:r>
              <a:rPr sz="3578" spc="79" dirty="0">
                <a:solidFill>
                  <a:srgbClr val="0E61FD"/>
                </a:solidFill>
                <a:latin typeface="Calibri"/>
                <a:cs typeface="Calibri"/>
              </a:rPr>
              <a:t> </a:t>
            </a:r>
            <a:r>
              <a:rPr sz="3578" u="sng" spc="152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2"/>
              </a:rPr>
              <a:t>h?v=aBlZlTWWjuE</a:t>
            </a:r>
            <a:endParaRPr sz="3578" dirty="0">
              <a:latin typeface="Calibri"/>
              <a:cs typeface="Calibri"/>
            </a:endParaRPr>
          </a:p>
          <a:p>
            <a:pPr>
              <a:spcBef>
                <a:spcPts val="897"/>
              </a:spcBef>
            </a:pPr>
            <a:endParaRPr sz="3578" dirty="0">
              <a:latin typeface="Calibri"/>
              <a:cs typeface="Calibri"/>
            </a:endParaRPr>
          </a:p>
          <a:p>
            <a:pPr marL="20793" marR="1139019">
              <a:lnSpc>
                <a:spcPct val="100699"/>
              </a:lnSpc>
            </a:pPr>
            <a:r>
              <a:rPr sz="3578" spc="261" dirty="0">
                <a:latin typeface="Calibri"/>
                <a:cs typeface="Calibri"/>
              </a:rPr>
              <a:t>QGSS</a:t>
            </a:r>
            <a:r>
              <a:rPr sz="3578" spc="18" dirty="0">
                <a:latin typeface="Calibri"/>
                <a:cs typeface="Calibri"/>
              </a:rPr>
              <a:t> </a:t>
            </a:r>
            <a:r>
              <a:rPr sz="3578" spc="109" dirty="0">
                <a:latin typeface="Calibri"/>
                <a:cs typeface="Calibri"/>
              </a:rPr>
              <a:t>Notebook: </a:t>
            </a:r>
            <a:r>
              <a:rPr sz="3578" u="sng" spc="61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https://github.com/qiskit-</a:t>
            </a:r>
            <a:r>
              <a:rPr sz="3578" u="sng" spc="138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community/qgss-</a:t>
            </a:r>
            <a:r>
              <a:rPr sz="3578" u="sng" spc="133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2026/blob/main/lab-</a:t>
            </a:r>
            <a:r>
              <a:rPr sz="3578" u="sng" spc="194" dirty="0">
                <a:solidFill>
                  <a:srgbClr val="0E61FD"/>
                </a:solidFill>
                <a:uFill>
                  <a:solidFill>
                    <a:srgbClr val="0E61FD"/>
                  </a:solidFill>
                </a:uFill>
                <a:latin typeface="Calibri"/>
                <a:cs typeface="Calibri"/>
                <a:hlinkClick r:id="rId3"/>
              </a:rPr>
              <a:t>4/QGSS2026_Lab4a.ipynb</a:t>
            </a:r>
            <a:endParaRPr sz="3578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11588" y="2340407"/>
            <a:ext cx="15578942" cy="8758679"/>
            <a:chOff x="6686290" y="1929752"/>
            <a:chExt cx="12845415" cy="7221855"/>
          </a:xfrm>
        </p:grpSpPr>
        <p:pic>
          <p:nvPicPr>
            <p:cNvPr id="4" name="object 4" descr="A screenshot of a computer  AI-generated content may be incorrect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9659" y="2201110"/>
              <a:ext cx="12607477" cy="6607166"/>
            </a:xfrm>
            <a:prstGeom prst="rect">
              <a:avLst/>
            </a:prstGeom>
          </p:spPr>
        </p:pic>
        <p:pic>
          <p:nvPicPr>
            <p:cNvPr id="5" name="object 5" descr="A screenshot of a computer  AI-generated content may be incorrect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4742" y="2216200"/>
              <a:ext cx="12535852" cy="65355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70868" y="2212326"/>
              <a:ext cx="12543790" cy="6543675"/>
            </a:xfrm>
            <a:custGeom>
              <a:avLst/>
              <a:gdLst/>
              <a:ahLst/>
              <a:cxnLst/>
              <a:rect l="l" t="t" r="r" b="b"/>
              <a:pathLst>
                <a:path w="12543790" h="6543675">
                  <a:moveTo>
                    <a:pt x="0" y="6543380"/>
                  </a:moveTo>
                  <a:lnTo>
                    <a:pt x="12543704" y="6543380"/>
                  </a:lnTo>
                  <a:lnTo>
                    <a:pt x="12543704" y="0"/>
                  </a:lnTo>
                  <a:lnTo>
                    <a:pt x="0" y="0"/>
                  </a:lnTo>
                  <a:lnTo>
                    <a:pt x="0" y="6543380"/>
                  </a:lnTo>
                  <a:close/>
                </a:path>
              </a:pathLst>
            </a:custGeom>
            <a:ln w="7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pic>
          <p:nvPicPr>
            <p:cNvPr id="7" name="object 7" descr="A screenshot of a computer  AI-generated content may be incorrect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2280" y="2419728"/>
              <a:ext cx="12528313" cy="6331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2280" y="2238814"/>
              <a:ext cx="12528313" cy="6482761"/>
            </a:xfrm>
            <a:prstGeom prst="rect">
              <a:avLst/>
            </a:prstGeom>
          </p:spPr>
        </p:pic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2981" y="1937290"/>
              <a:ext cx="12778222" cy="7123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86290" y="1929752"/>
              <a:ext cx="12844913" cy="722149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5433" y="12917689"/>
            <a:ext cx="2274960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dirty="0">
                <a:latin typeface="Calibri"/>
                <a:cs typeface="Calibri"/>
              </a:rPr>
              <a:t>© </a:t>
            </a:r>
            <a:r>
              <a:rPr sz="1577" spc="146" dirty="0">
                <a:latin typeface="Calibri"/>
                <a:cs typeface="Calibri"/>
              </a:rPr>
              <a:t>202</a:t>
            </a:r>
            <a:r>
              <a:rPr lang="en-US" sz="1577" spc="146" dirty="0">
                <a:latin typeface="Calibri"/>
                <a:cs typeface="Calibri"/>
              </a:rPr>
              <a:t>6</a:t>
            </a:r>
            <a:r>
              <a:rPr sz="1577" spc="18" dirty="0">
                <a:latin typeface="Calibri"/>
                <a:cs typeface="Calibri"/>
              </a:rPr>
              <a:t> </a:t>
            </a: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55" dirty="0">
                <a:latin typeface="Calibri"/>
                <a:cs typeface="Calibri"/>
              </a:rPr>
              <a:t> </a:t>
            </a:r>
            <a:r>
              <a:rPr sz="1577" spc="42" dirty="0"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90875">
              <a:spcBef>
                <a:spcPts val="170"/>
              </a:spcBef>
            </a:pPr>
            <a:fld id="{81D60167-4931-47E6-BA6A-407CBD079E47}" type="slidenum">
              <a:rPr spc="109" dirty="0"/>
              <a:pPr marL="90875">
                <a:spcBef>
                  <a:spcPts val="170"/>
                </a:spcBef>
              </a:pPr>
              <a:t>40</a:t>
            </a:fld>
            <a:endParaRPr spc="109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F95C52-0105-EF11-D227-53FB34520EBF}"/>
              </a:ext>
            </a:extLst>
          </p:cNvPr>
          <p:cNvSpPr txBox="1"/>
          <p:nvPr/>
        </p:nvSpPr>
        <p:spPr>
          <a:xfrm>
            <a:off x="8192471" y="373474"/>
            <a:ext cx="14879285" cy="1669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Quantum Advantage Tracker: 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11"/>
              </a:rPr>
              <a:t>https://quantum-advantage-tracker.github.io/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3587" y="571389"/>
            <a:ext cx="0" cy="11427946"/>
          </a:xfrm>
          <a:custGeom>
            <a:avLst/>
            <a:gdLst/>
            <a:ahLst/>
            <a:cxnLst/>
            <a:rect l="l" t="t" r="r" b="b"/>
            <a:pathLst>
              <a:path h="9422765">
                <a:moveTo>
                  <a:pt x="0" y="0"/>
                </a:moveTo>
                <a:lnTo>
                  <a:pt x="0" y="9422723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" name="object 3"/>
          <p:cNvSpPr txBox="1"/>
          <p:nvPr/>
        </p:nvSpPr>
        <p:spPr>
          <a:xfrm>
            <a:off x="12752747" y="522605"/>
            <a:ext cx="4374334" cy="935476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9700"/>
              </a:lnSpc>
              <a:spcBef>
                <a:spcPts val="115"/>
              </a:spcBef>
            </a:pPr>
            <a:r>
              <a:rPr sz="2789" spc="91" dirty="0">
                <a:latin typeface="Calibri"/>
                <a:cs typeface="Calibri"/>
              </a:rPr>
              <a:t>Nature</a:t>
            </a:r>
            <a:r>
              <a:rPr sz="2789" spc="18" dirty="0">
                <a:latin typeface="Calibri"/>
                <a:cs typeface="Calibri"/>
              </a:rPr>
              <a:t> </a:t>
            </a:r>
            <a:r>
              <a:rPr sz="2789" spc="121" dirty="0">
                <a:latin typeface="Calibri"/>
                <a:cs typeface="Calibri"/>
              </a:rPr>
              <a:t>Paper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Simulation </a:t>
            </a:r>
            <a:r>
              <a:rPr sz="2789" spc="218" dirty="0">
                <a:latin typeface="Calibri"/>
                <a:cs typeface="Calibri"/>
              </a:rPr>
              <a:t>(127</a:t>
            </a:r>
            <a:r>
              <a:rPr sz="2789" spc="36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qubits</a:t>
            </a:r>
            <a:r>
              <a:rPr sz="2789" spc="97" dirty="0">
                <a:latin typeface="Calibri"/>
                <a:cs typeface="Calibri"/>
              </a:rPr>
              <a:t> </a:t>
            </a:r>
            <a:r>
              <a:rPr sz="2789" spc="170" dirty="0">
                <a:latin typeface="Calibri"/>
                <a:cs typeface="Calibri"/>
              </a:rPr>
              <a:t>x</a:t>
            </a:r>
            <a:r>
              <a:rPr sz="2789" spc="55" dirty="0">
                <a:latin typeface="Calibri"/>
                <a:cs typeface="Calibri"/>
              </a:rPr>
              <a:t> </a:t>
            </a:r>
            <a:r>
              <a:rPr sz="2789" spc="247" dirty="0">
                <a:latin typeface="Calibri"/>
                <a:cs typeface="Calibri"/>
              </a:rPr>
              <a:t>60</a:t>
            </a:r>
            <a:r>
              <a:rPr sz="2789" spc="91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ent.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gates)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52747" y="6892556"/>
            <a:ext cx="4841032" cy="1806075"/>
          </a:xfrm>
          <a:prstGeom prst="rect">
            <a:avLst/>
          </a:prstGeom>
        </p:spPr>
        <p:txBody>
          <a:bodyPr vert="horz" wrap="square" lIns="0" tIns="12322" rIns="0" bIns="0" rtlCol="0">
            <a:spAutoFit/>
          </a:bodyPr>
          <a:lstStyle/>
          <a:p>
            <a:pPr marL="15403" marR="6161">
              <a:lnSpc>
                <a:spcPct val="111000"/>
              </a:lnSpc>
              <a:spcBef>
                <a:spcPts val="97"/>
              </a:spcBef>
            </a:pP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This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module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9" dirty="0">
                <a:solidFill>
                  <a:srgbClr val="1D1C1D"/>
                </a:solidFill>
                <a:latin typeface="Calibri"/>
                <a:cs typeface="Calibri"/>
              </a:rPr>
              <a:t>walks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learners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42" dirty="0">
                <a:solidFill>
                  <a:srgbClr val="1D1C1D"/>
                </a:solidFill>
                <a:latin typeface="Calibri"/>
                <a:cs typeface="Calibri"/>
              </a:rPr>
              <a:t>through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reproducing</a:t>
            </a:r>
            <a:r>
              <a:rPr sz="2122" spc="-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Nature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paper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with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a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focus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on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implementation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of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problem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without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any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error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mitigation</a:t>
            </a:r>
            <a:r>
              <a:rPr sz="2122" spc="13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applied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at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first.</a:t>
            </a:r>
            <a:endParaRPr sz="2122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52748" y="9042311"/>
            <a:ext cx="4693937" cy="1074489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10300"/>
              </a:lnSpc>
              <a:spcBef>
                <a:spcPts val="115"/>
              </a:spcBef>
            </a:pP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Learners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will</a:t>
            </a:r>
            <a:r>
              <a:rPr sz="2122" spc="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compare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results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to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that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of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Nature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paper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that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applied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error 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mitigation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techniques.</a:t>
            </a:r>
            <a:endParaRPr sz="2122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52748" y="10469638"/>
            <a:ext cx="4934217" cy="1442048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15403" marR="6161">
              <a:lnSpc>
                <a:spcPct val="111300"/>
              </a:lnSpc>
              <a:spcBef>
                <a:spcPts val="85"/>
              </a:spcBef>
            </a:pP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Finally,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students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can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explore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an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option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to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try</a:t>
            </a:r>
            <a:r>
              <a:rPr sz="2122" spc="18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64" dirty="0">
                <a:solidFill>
                  <a:srgbClr val="1D1C1D"/>
                </a:solidFill>
                <a:latin typeface="Calibri"/>
                <a:cs typeface="Calibri"/>
              </a:rPr>
              <a:t>PEA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(Probabilistic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Error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Amplification)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to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run</a:t>
            </a:r>
            <a:r>
              <a:rPr sz="2122" spc="11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their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circuits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9" dirty="0">
                <a:solidFill>
                  <a:srgbClr val="1D1C1D"/>
                </a:solidFill>
                <a:latin typeface="Calibri"/>
                <a:cs typeface="Calibri"/>
              </a:rPr>
              <a:t>and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apply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error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mitigation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in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post-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processing.</a:t>
            </a:r>
            <a:endParaRPr sz="2122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91443" y="571389"/>
            <a:ext cx="0" cy="11427946"/>
          </a:xfrm>
          <a:custGeom>
            <a:avLst/>
            <a:gdLst/>
            <a:ahLst/>
            <a:cxnLst/>
            <a:rect l="l" t="t" r="r" b="b"/>
            <a:pathLst>
              <a:path h="9422765">
                <a:moveTo>
                  <a:pt x="0" y="0"/>
                </a:moveTo>
                <a:lnTo>
                  <a:pt x="0" y="9422723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8" name="object 8"/>
          <p:cNvSpPr txBox="1"/>
          <p:nvPr/>
        </p:nvSpPr>
        <p:spPr>
          <a:xfrm>
            <a:off x="18852128" y="500892"/>
            <a:ext cx="4657740" cy="935476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9700"/>
              </a:lnSpc>
              <a:spcBef>
                <a:spcPts val="115"/>
              </a:spcBef>
            </a:pPr>
            <a:r>
              <a:rPr sz="2789" spc="152" dirty="0">
                <a:latin typeface="Calibri"/>
                <a:cs typeface="Calibri"/>
              </a:rPr>
              <a:t>Long-</a:t>
            </a:r>
            <a:r>
              <a:rPr sz="2789" spc="91" dirty="0">
                <a:latin typeface="Calibri"/>
                <a:cs typeface="Calibri"/>
              </a:rPr>
              <a:t>entanglement</a:t>
            </a:r>
            <a:r>
              <a:rPr sz="2789" spc="206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with</a:t>
            </a:r>
            <a:r>
              <a:rPr sz="2789" spc="127" dirty="0">
                <a:latin typeface="Calibri"/>
                <a:cs typeface="Calibri"/>
              </a:rPr>
              <a:t> </a:t>
            </a:r>
            <a:r>
              <a:rPr sz="2789" spc="182" dirty="0">
                <a:latin typeface="Calibri"/>
                <a:cs typeface="Calibri"/>
              </a:rPr>
              <a:t>GHZ </a:t>
            </a:r>
            <a:r>
              <a:rPr sz="2789" spc="109" dirty="0">
                <a:latin typeface="Calibri"/>
                <a:cs typeface="Calibri"/>
              </a:rPr>
              <a:t>State</a:t>
            </a:r>
            <a:r>
              <a:rPr sz="2789" spc="6" dirty="0">
                <a:latin typeface="Calibri"/>
                <a:cs typeface="Calibri"/>
              </a:rPr>
              <a:t> </a:t>
            </a:r>
            <a:r>
              <a:rPr sz="2789" spc="218" dirty="0">
                <a:latin typeface="Calibri"/>
                <a:cs typeface="Calibri"/>
              </a:rPr>
              <a:t>(127</a:t>
            </a:r>
            <a:r>
              <a:rPr sz="2789" dirty="0">
                <a:latin typeface="Calibri"/>
                <a:cs typeface="Calibri"/>
              </a:rPr>
              <a:t> </a:t>
            </a:r>
            <a:r>
              <a:rPr sz="2789" spc="91" dirty="0">
                <a:latin typeface="Calibri"/>
                <a:cs typeface="Calibri"/>
              </a:rPr>
              <a:t>qubits)</a:t>
            </a:r>
            <a:endParaRPr sz="2789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52127" y="6892557"/>
            <a:ext cx="4915733" cy="1806075"/>
          </a:xfrm>
          <a:prstGeom prst="rect">
            <a:avLst/>
          </a:prstGeom>
        </p:spPr>
        <p:txBody>
          <a:bodyPr vert="horz" wrap="square" lIns="0" tIns="12322" rIns="0" bIns="0" rtlCol="0">
            <a:spAutoFit/>
          </a:bodyPr>
          <a:lstStyle/>
          <a:p>
            <a:pPr marL="15403" marR="6161">
              <a:lnSpc>
                <a:spcPct val="111000"/>
              </a:lnSpc>
              <a:spcBef>
                <a:spcPts val="97"/>
              </a:spcBef>
            </a:pP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This</a:t>
            </a:r>
            <a:r>
              <a:rPr sz="2122" spc="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module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7" dirty="0">
                <a:solidFill>
                  <a:srgbClr val="1D1C1D"/>
                </a:solidFill>
                <a:latin typeface="Calibri"/>
                <a:cs typeface="Calibri"/>
              </a:rPr>
              <a:t>can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be</a:t>
            </a:r>
            <a:r>
              <a:rPr sz="2122" spc="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utilized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58" dirty="0">
                <a:solidFill>
                  <a:srgbClr val="1D1C1D"/>
                </a:solidFill>
                <a:latin typeface="Calibri"/>
                <a:cs typeface="Calibri"/>
              </a:rPr>
              <a:t>as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a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group 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project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or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an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in-</a:t>
            </a:r>
            <a:r>
              <a:rPr sz="2122" spc="133" dirty="0">
                <a:solidFill>
                  <a:srgbClr val="1D1C1D"/>
                </a:solidFill>
                <a:latin typeface="Calibri"/>
                <a:cs typeface="Calibri"/>
              </a:rPr>
              <a:t>class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challenge.</a:t>
            </a:r>
            <a:r>
              <a:rPr sz="2122" spc="-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goal 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is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to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build</a:t>
            </a:r>
            <a:r>
              <a:rPr sz="2122" spc="4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a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88" dirty="0">
                <a:solidFill>
                  <a:srgbClr val="1D1C1D"/>
                </a:solidFill>
                <a:latin typeface="Calibri"/>
                <a:cs typeface="Calibri"/>
              </a:rPr>
              <a:t>GHZ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circuit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with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206" dirty="0">
                <a:solidFill>
                  <a:srgbClr val="1D1C1D"/>
                </a:solidFill>
                <a:latin typeface="Calibri"/>
                <a:cs typeface="Calibri"/>
              </a:rPr>
              <a:t>20</a:t>
            </a:r>
            <a:r>
              <a:rPr sz="2122" spc="-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qubits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or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more</a:t>
            </a:r>
            <a:r>
              <a:rPr sz="2122" spc="10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that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meets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a</a:t>
            </a:r>
            <a:r>
              <a:rPr sz="2122" spc="13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certain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fidelity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criteria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(i.e.,</a:t>
            </a:r>
            <a:r>
              <a:rPr sz="2122" spc="164" dirty="0">
                <a:solidFill>
                  <a:srgbClr val="1D1C1D"/>
                </a:solidFill>
                <a:latin typeface="Calibri"/>
                <a:cs typeface="Calibri"/>
              </a:rPr>
              <a:t> GHZ</a:t>
            </a:r>
            <a:r>
              <a:rPr sz="2122" spc="13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state</a:t>
            </a:r>
            <a:r>
              <a:rPr sz="2122" spc="2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fidelity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230" dirty="0">
                <a:solidFill>
                  <a:srgbClr val="1D1C1D"/>
                </a:solidFill>
                <a:latin typeface="Calibri"/>
                <a:cs typeface="Calibri"/>
              </a:rPr>
              <a:t>&gt;</a:t>
            </a:r>
            <a:r>
              <a:rPr sz="2122" spc="13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0.5)</a:t>
            </a:r>
            <a:endParaRPr sz="2122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52127" y="9042311"/>
            <a:ext cx="4637718" cy="1792890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10300"/>
              </a:lnSpc>
              <a:spcBef>
                <a:spcPts val="115"/>
              </a:spcBef>
            </a:pP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Several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ideas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are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presented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52" dirty="0">
                <a:solidFill>
                  <a:srgbClr val="1D1C1D"/>
                </a:solidFill>
                <a:latin typeface="Calibri"/>
                <a:cs typeface="Calibri"/>
              </a:rPr>
              <a:t>as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an 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example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7" dirty="0">
                <a:solidFill>
                  <a:srgbClr val="1D1C1D"/>
                </a:solidFill>
                <a:latin typeface="Calibri"/>
                <a:cs typeface="Calibri"/>
              </a:rPr>
              <a:t>such</a:t>
            </a:r>
            <a:r>
              <a:rPr sz="2122" spc="-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52" dirty="0">
                <a:solidFill>
                  <a:srgbClr val="1D1C1D"/>
                </a:solidFill>
                <a:latin typeface="Calibri"/>
                <a:cs typeface="Calibri"/>
              </a:rPr>
              <a:t>as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finding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best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qubit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chain</a:t>
            </a:r>
            <a:r>
              <a:rPr sz="2122" spc="4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15" dirty="0">
                <a:solidFill>
                  <a:srgbClr val="1D1C1D"/>
                </a:solidFill>
                <a:latin typeface="Calibri"/>
                <a:cs typeface="Calibri"/>
              </a:rPr>
              <a:t>based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on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212" dirty="0">
                <a:solidFill>
                  <a:srgbClr val="1D1C1D"/>
                </a:solidFill>
                <a:latin typeface="Calibri"/>
                <a:cs typeface="Calibri"/>
              </a:rPr>
              <a:t>2</a:t>
            </a:r>
            <a:r>
              <a:rPr sz="2122" spc="-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gate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errors,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finding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a 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balanced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tree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of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qubits,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applying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error 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mitigation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options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in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9" dirty="0">
                <a:solidFill>
                  <a:srgbClr val="1D1C1D"/>
                </a:solidFill>
                <a:latin typeface="Calibri"/>
                <a:cs typeface="Calibri"/>
              </a:rPr>
              <a:t>Sampler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V2.</a:t>
            </a:r>
            <a:endParaRPr sz="2122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52128" y="11192160"/>
            <a:ext cx="4790973" cy="1074489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10300"/>
              </a:lnSpc>
              <a:spcBef>
                <a:spcPts val="115"/>
              </a:spcBef>
            </a:pPr>
            <a:r>
              <a:rPr sz="2122" spc="127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module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encourages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students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to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produce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their</a:t>
            </a:r>
            <a:r>
              <a:rPr sz="2122" spc="14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own</a:t>
            </a:r>
            <a:r>
              <a:rPr sz="2122" spc="12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ideas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while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exploring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suggested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options</a:t>
            </a:r>
            <a:r>
              <a:rPr sz="2122" spc="2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first.</a:t>
            </a:r>
            <a:endParaRPr sz="2122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50581" y="571389"/>
            <a:ext cx="0" cy="11427946"/>
          </a:xfrm>
          <a:custGeom>
            <a:avLst/>
            <a:gdLst/>
            <a:ahLst/>
            <a:cxnLst/>
            <a:rect l="l" t="t" r="r" b="b"/>
            <a:pathLst>
              <a:path h="9422765">
                <a:moveTo>
                  <a:pt x="0" y="0"/>
                </a:moveTo>
                <a:lnTo>
                  <a:pt x="0" y="9422723"/>
                </a:lnTo>
              </a:path>
            </a:pathLst>
          </a:custGeom>
          <a:ln w="10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3" name="object 13"/>
          <p:cNvSpPr txBox="1"/>
          <p:nvPr/>
        </p:nvSpPr>
        <p:spPr>
          <a:xfrm>
            <a:off x="6757359" y="522605"/>
            <a:ext cx="4202595" cy="935476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 marR="6161">
              <a:lnSpc>
                <a:spcPct val="109700"/>
              </a:lnSpc>
              <a:spcBef>
                <a:spcPts val="115"/>
              </a:spcBef>
            </a:pPr>
            <a:r>
              <a:rPr sz="2789" spc="200" dirty="0">
                <a:latin typeface="Calibri"/>
                <a:cs typeface="Calibri"/>
              </a:rPr>
              <a:t>1D</a:t>
            </a:r>
            <a:r>
              <a:rPr sz="2789" spc="42" dirty="0">
                <a:latin typeface="Calibri"/>
                <a:cs typeface="Calibri"/>
              </a:rPr>
              <a:t> </a:t>
            </a:r>
            <a:r>
              <a:rPr sz="2789" spc="109" dirty="0">
                <a:latin typeface="Calibri"/>
                <a:cs typeface="Calibri"/>
              </a:rPr>
              <a:t>Transverse</a:t>
            </a:r>
            <a:r>
              <a:rPr sz="2789" spc="30" dirty="0">
                <a:latin typeface="Calibri"/>
                <a:cs typeface="Calibri"/>
              </a:rPr>
              <a:t> </a:t>
            </a:r>
            <a:r>
              <a:rPr sz="2789" spc="182" dirty="0">
                <a:latin typeface="Calibri"/>
                <a:cs typeface="Calibri"/>
              </a:rPr>
              <a:t>Ising</a:t>
            </a:r>
            <a:r>
              <a:rPr sz="2789" spc="49" dirty="0">
                <a:latin typeface="Calibri"/>
                <a:cs typeface="Calibri"/>
              </a:rPr>
              <a:t> </a:t>
            </a:r>
            <a:r>
              <a:rPr sz="2789" spc="-12" dirty="0">
                <a:latin typeface="Calibri"/>
                <a:cs typeface="Calibri"/>
              </a:rPr>
              <a:t>Model </a:t>
            </a:r>
            <a:r>
              <a:rPr sz="2789" spc="188" dirty="0">
                <a:latin typeface="Calibri"/>
                <a:cs typeface="Calibri"/>
              </a:rPr>
              <a:t>(70</a:t>
            </a:r>
            <a:r>
              <a:rPr sz="2789" spc="85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qubits</a:t>
            </a:r>
            <a:r>
              <a:rPr sz="2789" spc="97" dirty="0">
                <a:latin typeface="Calibri"/>
                <a:cs typeface="Calibri"/>
              </a:rPr>
              <a:t> </a:t>
            </a:r>
            <a:r>
              <a:rPr sz="2789" spc="170" dirty="0">
                <a:latin typeface="Calibri"/>
                <a:cs typeface="Calibri"/>
              </a:rPr>
              <a:t>x</a:t>
            </a:r>
            <a:r>
              <a:rPr sz="2789" spc="49" dirty="0">
                <a:latin typeface="Calibri"/>
                <a:cs typeface="Calibri"/>
              </a:rPr>
              <a:t> </a:t>
            </a:r>
            <a:r>
              <a:rPr sz="2789" spc="247" dirty="0">
                <a:latin typeface="Calibri"/>
                <a:cs typeface="Calibri"/>
              </a:rPr>
              <a:t>80</a:t>
            </a:r>
            <a:r>
              <a:rPr sz="2789" spc="97" dirty="0">
                <a:latin typeface="Calibri"/>
                <a:cs typeface="Calibri"/>
              </a:rPr>
              <a:t> </a:t>
            </a:r>
            <a:r>
              <a:rPr sz="2789" dirty="0">
                <a:latin typeface="Calibri"/>
                <a:cs typeface="Calibri"/>
              </a:rPr>
              <a:t>ent.</a:t>
            </a:r>
            <a:r>
              <a:rPr sz="2789" spc="61" dirty="0">
                <a:latin typeface="Calibri"/>
                <a:cs typeface="Calibri"/>
              </a:rPr>
              <a:t> </a:t>
            </a:r>
            <a:r>
              <a:rPr sz="2789" spc="103" dirty="0">
                <a:latin typeface="Calibri"/>
                <a:cs typeface="Calibri"/>
              </a:rPr>
              <a:t>gates)</a:t>
            </a:r>
            <a:endParaRPr sz="2789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746309" y="2212035"/>
            <a:ext cx="2368917" cy="540631"/>
            <a:chOff x="10507790" y="1823905"/>
            <a:chExt cx="1953260" cy="445770"/>
          </a:xfrm>
        </p:grpSpPr>
        <p:sp>
          <p:nvSpPr>
            <p:cNvPr id="15" name="object 15"/>
            <p:cNvSpPr/>
            <p:nvPr/>
          </p:nvSpPr>
          <p:spPr>
            <a:xfrm>
              <a:off x="10515642" y="1831757"/>
              <a:ext cx="1937385" cy="429895"/>
            </a:xfrm>
            <a:custGeom>
              <a:avLst/>
              <a:gdLst/>
              <a:ahLst/>
              <a:cxnLst/>
              <a:rect l="l" t="t" r="r" b="b"/>
              <a:pathLst>
                <a:path w="1937384" h="429894">
                  <a:moveTo>
                    <a:pt x="1796369" y="0"/>
                  </a:moveTo>
                  <a:lnTo>
                    <a:pt x="140920" y="0"/>
                  </a:lnTo>
                  <a:lnTo>
                    <a:pt x="96393" y="7187"/>
                  </a:lnTo>
                  <a:lnTo>
                    <a:pt x="57711" y="27200"/>
                  </a:lnTo>
                  <a:lnTo>
                    <a:pt x="27200" y="57711"/>
                  </a:lnTo>
                  <a:lnTo>
                    <a:pt x="7187" y="96393"/>
                  </a:lnTo>
                  <a:lnTo>
                    <a:pt x="0" y="140920"/>
                  </a:lnTo>
                  <a:lnTo>
                    <a:pt x="0" y="288750"/>
                  </a:lnTo>
                  <a:lnTo>
                    <a:pt x="7187" y="333317"/>
                  </a:lnTo>
                  <a:lnTo>
                    <a:pt x="27200" y="372004"/>
                  </a:lnTo>
                  <a:lnTo>
                    <a:pt x="57711" y="402500"/>
                  </a:lnTo>
                  <a:lnTo>
                    <a:pt x="96393" y="422493"/>
                  </a:lnTo>
                  <a:lnTo>
                    <a:pt x="140920" y="429671"/>
                  </a:lnTo>
                  <a:lnTo>
                    <a:pt x="1796369" y="429671"/>
                  </a:lnTo>
                  <a:lnTo>
                    <a:pt x="1840896" y="422493"/>
                  </a:lnTo>
                  <a:lnTo>
                    <a:pt x="1879578" y="402500"/>
                  </a:lnTo>
                  <a:lnTo>
                    <a:pt x="1910089" y="372004"/>
                  </a:lnTo>
                  <a:lnTo>
                    <a:pt x="1930102" y="333317"/>
                  </a:lnTo>
                  <a:lnTo>
                    <a:pt x="1937290" y="288750"/>
                  </a:lnTo>
                  <a:lnTo>
                    <a:pt x="1937290" y="140920"/>
                  </a:lnTo>
                  <a:lnTo>
                    <a:pt x="1930102" y="96393"/>
                  </a:lnTo>
                  <a:lnTo>
                    <a:pt x="1910089" y="57711"/>
                  </a:lnTo>
                  <a:lnTo>
                    <a:pt x="1879578" y="27200"/>
                  </a:lnTo>
                  <a:lnTo>
                    <a:pt x="1840896" y="7187"/>
                  </a:lnTo>
                  <a:lnTo>
                    <a:pt x="1796369" y="0"/>
                  </a:lnTo>
                  <a:close/>
                </a:path>
              </a:pathLst>
            </a:custGeom>
            <a:solidFill>
              <a:srgbClr val="0E61FD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15642" y="1831757"/>
              <a:ext cx="1937385" cy="429895"/>
            </a:xfrm>
            <a:custGeom>
              <a:avLst/>
              <a:gdLst/>
              <a:ahLst/>
              <a:cxnLst/>
              <a:rect l="l" t="t" r="r" b="b"/>
              <a:pathLst>
                <a:path w="1937384" h="429894">
                  <a:moveTo>
                    <a:pt x="0" y="140920"/>
                  </a:moveTo>
                  <a:lnTo>
                    <a:pt x="7187" y="96393"/>
                  </a:lnTo>
                  <a:lnTo>
                    <a:pt x="27200" y="57711"/>
                  </a:lnTo>
                  <a:lnTo>
                    <a:pt x="57711" y="27200"/>
                  </a:lnTo>
                  <a:lnTo>
                    <a:pt x="96393" y="7187"/>
                  </a:lnTo>
                  <a:lnTo>
                    <a:pt x="140920" y="0"/>
                  </a:lnTo>
                  <a:lnTo>
                    <a:pt x="1796369" y="0"/>
                  </a:lnTo>
                  <a:lnTo>
                    <a:pt x="1840896" y="7187"/>
                  </a:lnTo>
                  <a:lnTo>
                    <a:pt x="1879578" y="27200"/>
                  </a:lnTo>
                  <a:lnTo>
                    <a:pt x="1910089" y="57711"/>
                  </a:lnTo>
                  <a:lnTo>
                    <a:pt x="1930102" y="96393"/>
                  </a:lnTo>
                  <a:lnTo>
                    <a:pt x="1937290" y="140920"/>
                  </a:lnTo>
                  <a:lnTo>
                    <a:pt x="1937290" y="288750"/>
                  </a:lnTo>
                  <a:lnTo>
                    <a:pt x="1930102" y="333317"/>
                  </a:lnTo>
                  <a:lnTo>
                    <a:pt x="1910089" y="372004"/>
                  </a:lnTo>
                  <a:lnTo>
                    <a:pt x="1879578" y="402500"/>
                  </a:lnTo>
                  <a:lnTo>
                    <a:pt x="1840896" y="422493"/>
                  </a:lnTo>
                  <a:lnTo>
                    <a:pt x="1796369" y="429671"/>
                  </a:lnTo>
                  <a:lnTo>
                    <a:pt x="140920" y="429671"/>
                  </a:lnTo>
                  <a:lnTo>
                    <a:pt x="96393" y="422493"/>
                  </a:lnTo>
                  <a:lnTo>
                    <a:pt x="57711" y="402500"/>
                  </a:lnTo>
                  <a:lnTo>
                    <a:pt x="27200" y="372004"/>
                  </a:lnTo>
                  <a:lnTo>
                    <a:pt x="7187" y="333317"/>
                  </a:lnTo>
                  <a:lnTo>
                    <a:pt x="0" y="288750"/>
                  </a:lnTo>
                  <a:lnTo>
                    <a:pt x="0" y="140920"/>
                  </a:lnTo>
                  <a:close/>
                </a:path>
              </a:pathLst>
            </a:custGeom>
            <a:ln w="15704">
              <a:solidFill>
                <a:srgbClr val="E4F6FF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436128" y="2289324"/>
            <a:ext cx="1006558" cy="346783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2122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2122" spc="26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22" spc="278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2122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03305" y="2202894"/>
            <a:ext cx="2368917" cy="559113"/>
            <a:chOff x="5525109" y="1816367"/>
            <a:chExt cx="1953260" cy="461009"/>
          </a:xfrm>
        </p:grpSpPr>
        <p:sp>
          <p:nvSpPr>
            <p:cNvPr id="19" name="object 19"/>
            <p:cNvSpPr/>
            <p:nvPr/>
          </p:nvSpPr>
          <p:spPr>
            <a:xfrm>
              <a:off x="5532961" y="1824219"/>
              <a:ext cx="1937385" cy="445134"/>
            </a:xfrm>
            <a:custGeom>
              <a:avLst/>
              <a:gdLst/>
              <a:ahLst/>
              <a:cxnLst/>
              <a:rect l="l" t="t" r="r" b="b"/>
              <a:pathLst>
                <a:path w="1937384" h="445135">
                  <a:moveTo>
                    <a:pt x="1791449" y="0"/>
                  </a:moveTo>
                  <a:lnTo>
                    <a:pt x="145841" y="0"/>
                  </a:lnTo>
                  <a:lnTo>
                    <a:pt x="99757" y="7438"/>
                  </a:lnTo>
                  <a:lnTo>
                    <a:pt x="59724" y="28148"/>
                  </a:lnTo>
                  <a:lnTo>
                    <a:pt x="28148" y="59724"/>
                  </a:lnTo>
                  <a:lnTo>
                    <a:pt x="7438" y="99757"/>
                  </a:lnTo>
                  <a:lnTo>
                    <a:pt x="0" y="145841"/>
                  </a:lnTo>
                  <a:lnTo>
                    <a:pt x="0" y="298906"/>
                  </a:lnTo>
                  <a:lnTo>
                    <a:pt x="7438" y="344990"/>
                  </a:lnTo>
                  <a:lnTo>
                    <a:pt x="28148" y="385023"/>
                  </a:lnTo>
                  <a:lnTo>
                    <a:pt x="59724" y="416598"/>
                  </a:lnTo>
                  <a:lnTo>
                    <a:pt x="99757" y="437309"/>
                  </a:lnTo>
                  <a:lnTo>
                    <a:pt x="145841" y="444747"/>
                  </a:lnTo>
                  <a:lnTo>
                    <a:pt x="1791449" y="444747"/>
                  </a:lnTo>
                  <a:lnTo>
                    <a:pt x="1837532" y="437309"/>
                  </a:lnTo>
                  <a:lnTo>
                    <a:pt x="1877566" y="416598"/>
                  </a:lnTo>
                  <a:lnTo>
                    <a:pt x="1909141" y="385023"/>
                  </a:lnTo>
                  <a:lnTo>
                    <a:pt x="1929852" y="344990"/>
                  </a:lnTo>
                  <a:lnTo>
                    <a:pt x="1937290" y="298906"/>
                  </a:lnTo>
                  <a:lnTo>
                    <a:pt x="1937290" y="145841"/>
                  </a:lnTo>
                  <a:lnTo>
                    <a:pt x="1929852" y="99757"/>
                  </a:lnTo>
                  <a:lnTo>
                    <a:pt x="1909141" y="59724"/>
                  </a:lnTo>
                  <a:lnTo>
                    <a:pt x="1877566" y="28148"/>
                  </a:lnTo>
                  <a:lnTo>
                    <a:pt x="1837532" y="7438"/>
                  </a:lnTo>
                  <a:lnTo>
                    <a:pt x="1791449" y="0"/>
                  </a:lnTo>
                  <a:close/>
                </a:path>
              </a:pathLst>
            </a:custGeom>
            <a:solidFill>
              <a:srgbClr val="0E61FD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2961" y="1824219"/>
              <a:ext cx="1937385" cy="445134"/>
            </a:xfrm>
            <a:custGeom>
              <a:avLst/>
              <a:gdLst/>
              <a:ahLst/>
              <a:cxnLst/>
              <a:rect l="l" t="t" r="r" b="b"/>
              <a:pathLst>
                <a:path w="1937384" h="445135">
                  <a:moveTo>
                    <a:pt x="0" y="145841"/>
                  </a:moveTo>
                  <a:lnTo>
                    <a:pt x="7438" y="99757"/>
                  </a:lnTo>
                  <a:lnTo>
                    <a:pt x="28148" y="59724"/>
                  </a:lnTo>
                  <a:lnTo>
                    <a:pt x="59724" y="28148"/>
                  </a:lnTo>
                  <a:lnTo>
                    <a:pt x="99757" y="7438"/>
                  </a:lnTo>
                  <a:lnTo>
                    <a:pt x="145841" y="0"/>
                  </a:lnTo>
                  <a:lnTo>
                    <a:pt x="1791449" y="0"/>
                  </a:lnTo>
                  <a:lnTo>
                    <a:pt x="1837532" y="7438"/>
                  </a:lnTo>
                  <a:lnTo>
                    <a:pt x="1877566" y="28148"/>
                  </a:lnTo>
                  <a:lnTo>
                    <a:pt x="1909141" y="59724"/>
                  </a:lnTo>
                  <a:lnTo>
                    <a:pt x="1929852" y="99757"/>
                  </a:lnTo>
                  <a:lnTo>
                    <a:pt x="1937290" y="145841"/>
                  </a:lnTo>
                  <a:lnTo>
                    <a:pt x="1937290" y="298906"/>
                  </a:lnTo>
                  <a:lnTo>
                    <a:pt x="1929852" y="344990"/>
                  </a:lnTo>
                  <a:lnTo>
                    <a:pt x="1909141" y="385023"/>
                  </a:lnTo>
                  <a:lnTo>
                    <a:pt x="1877566" y="416598"/>
                  </a:lnTo>
                  <a:lnTo>
                    <a:pt x="1837532" y="437309"/>
                  </a:lnTo>
                  <a:lnTo>
                    <a:pt x="1791449" y="444747"/>
                  </a:lnTo>
                  <a:lnTo>
                    <a:pt x="145841" y="444747"/>
                  </a:lnTo>
                  <a:lnTo>
                    <a:pt x="99757" y="437309"/>
                  </a:lnTo>
                  <a:lnTo>
                    <a:pt x="59724" y="416598"/>
                  </a:lnTo>
                  <a:lnTo>
                    <a:pt x="28148" y="385023"/>
                  </a:lnTo>
                  <a:lnTo>
                    <a:pt x="7438" y="344990"/>
                  </a:lnTo>
                  <a:lnTo>
                    <a:pt x="0" y="298906"/>
                  </a:lnTo>
                  <a:lnTo>
                    <a:pt x="0" y="145841"/>
                  </a:lnTo>
                  <a:close/>
                </a:path>
              </a:pathLst>
            </a:custGeom>
            <a:ln w="15704">
              <a:solidFill>
                <a:srgbClr val="E4F6FF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443913" y="2289324"/>
            <a:ext cx="897971" cy="346783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2122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2122" spc="26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22" spc="243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2122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789315" y="2193751"/>
            <a:ext cx="2359674" cy="485951"/>
            <a:chOff x="15490471" y="1808828"/>
            <a:chExt cx="1945639" cy="400685"/>
          </a:xfrm>
        </p:grpSpPr>
        <p:sp>
          <p:nvSpPr>
            <p:cNvPr id="23" name="object 23"/>
            <p:cNvSpPr/>
            <p:nvPr/>
          </p:nvSpPr>
          <p:spPr>
            <a:xfrm>
              <a:off x="15498323" y="1816681"/>
              <a:ext cx="1929764" cy="384810"/>
            </a:xfrm>
            <a:custGeom>
              <a:avLst/>
              <a:gdLst/>
              <a:ahLst/>
              <a:cxnLst/>
              <a:rect l="l" t="t" r="r" b="b"/>
              <a:pathLst>
                <a:path w="1929765" h="384810">
                  <a:moveTo>
                    <a:pt x="1803698" y="0"/>
                  </a:moveTo>
                  <a:lnTo>
                    <a:pt x="126053" y="0"/>
                  </a:lnTo>
                  <a:lnTo>
                    <a:pt x="76985" y="9905"/>
                  </a:lnTo>
                  <a:lnTo>
                    <a:pt x="36918" y="36918"/>
                  </a:lnTo>
                  <a:lnTo>
                    <a:pt x="9905" y="76985"/>
                  </a:lnTo>
                  <a:lnTo>
                    <a:pt x="0" y="126053"/>
                  </a:lnTo>
                  <a:lnTo>
                    <a:pt x="0" y="258389"/>
                  </a:lnTo>
                  <a:lnTo>
                    <a:pt x="9905" y="307457"/>
                  </a:lnTo>
                  <a:lnTo>
                    <a:pt x="36918" y="347524"/>
                  </a:lnTo>
                  <a:lnTo>
                    <a:pt x="76985" y="374537"/>
                  </a:lnTo>
                  <a:lnTo>
                    <a:pt x="126053" y="384442"/>
                  </a:lnTo>
                  <a:lnTo>
                    <a:pt x="1803698" y="384442"/>
                  </a:lnTo>
                  <a:lnTo>
                    <a:pt x="1852766" y="374537"/>
                  </a:lnTo>
                  <a:lnTo>
                    <a:pt x="1892834" y="347524"/>
                  </a:lnTo>
                  <a:lnTo>
                    <a:pt x="1919847" y="307457"/>
                  </a:lnTo>
                  <a:lnTo>
                    <a:pt x="1929752" y="258389"/>
                  </a:lnTo>
                  <a:lnTo>
                    <a:pt x="1929752" y="126053"/>
                  </a:lnTo>
                  <a:lnTo>
                    <a:pt x="1919847" y="76985"/>
                  </a:lnTo>
                  <a:lnTo>
                    <a:pt x="1892834" y="36918"/>
                  </a:lnTo>
                  <a:lnTo>
                    <a:pt x="1852766" y="9905"/>
                  </a:lnTo>
                  <a:lnTo>
                    <a:pt x="1803698" y="0"/>
                  </a:lnTo>
                  <a:close/>
                </a:path>
              </a:pathLst>
            </a:custGeom>
            <a:solidFill>
              <a:srgbClr val="0E61FD"/>
            </a:solidFill>
          </p:spPr>
          <p:txBody>
            <a:bodyPr wrap="square" lIns="0" tIns="0" rIns="0" bIns="0" rtlCol="0"/>
            <a:lstStyle/>
            <a:p>
              <a:endParaRPr sz="4366"/>
            </a:p>
          </p:txBody>
        </p:sp>
        <p:sp>
          <p:nvSpPr>
            <p:cNvPr id="24" name="object 24"/>
            <p:cNvSpPr/>
            <p:nvPr/>
          </p:nvSpPr>
          <p:spPr>
            <a:xfrm>
              <a:off x="15498323" y="1816681"/>
              <a:ext cx="1929764" cy="384810"/>
            </a:xfrm>
            <a:custGeom>
              <a:avLst/>
              <a:gdLst/>
              <a:ahLst/>
              <a:cxnLst/>
              <a:rect l="l" t="t" r="r" b="b"/>
              <a:pathLst>
                <a:path w="1929765" h="384810">
                  <a:moveTo>
                    <a:pt x="0" y="126053"/>
                  </a:moveTo>
                  <a:lnTo>
                    <a:pt x="9905" y="76985"/>
                  </a:lnTo>
                  <a:lnTo>
                    <a:pt x="36918" y="36918"/>
                  </a:lnTo>
                  <a:lnTo>
                    <a:pt x="76985" y="9905"/>
                  </a:lnTo>
                  <a:lnTo>
                    <a:pt x="126053" y="0"/>
                  </a:lnTo>
                  <a:lnTo>
                    <a:pt x="1803698" y="0"/>
                  </a:lnTo>
                  <a:lnTo>
                    <a:pt x="1852766" y="9905"/>
                  </a:lnTo>
                  <a:lnTo>
                    <a:pt x="1892834" y="36918"/>
                  </a:lnTo>
                  <a:lnTo>
                    <a:pt x="1919847" y="76985"/>
                  </a:lnTo>
                  <a:lnTo>
                    <a:pt x="1929752" y="126053"/>
                  </a:lnTo>
                  <a:lnTo>
                    <a:pt x="1929752" y="258389"/>
                  </a:lnTo>
                  <a:lnTo>
                    <a:pt x="1919847" y="307457"/>
                  </a:lnTo>
                  <a:lnTo>
                    <a:pt x="1892834" y="347524"/>
                  </a:lnTo>
                  <a:lnTo>
                    <a:pt x="1852766" y="374537"/>
                  </a:lnTo>
                  <a:lnTo>
                    <a:pt x="1803698" y="384442"/>
                  </a:lnTo>
                  <a:lnTo>
                    <a:pt x="126053" y="384442"/>
                  </a:lnTo>
                  <a:lnTo>
                    <a:pt x="76985" y="374537"/>
                  </a:lnTo>
                  <a:lnTo>
                    <a:pt x="36918" y="347524"/>
                  </a:lnTo>
                  <a:lnTo>
                    <a:pt x="9905" y="307457"/>
                  </a:lnTo>
                  <a:lnTo>
                    <a:pt x="0" y="258389"/>
                  </a:lnTo>
                  <a:lnTo>
                    <a:pt x="0" y="126053"/>
                  </a:lnTo>
                  <a:close/>
                </a:path>
              </a:pathLst>
            </a:custGeom>
            <a:ln w="15704">
              <a:solidFill>
                <a:srgbClr val="E4F6FF"/>
              </a:solidFill>
            </a:ln>
          </p:spPr>
          <p:txBody>
            <a:bodyPr wrap="square" lIns="0" tIns="0" rIns="0" bIns="0" rtlCol="0"/>
            <a:lstStyle/>
            <a:p>
              <a:endParaRPr sz="4366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9422121" y="2242154"/>
            <a:ext cx="1107446" cy="346783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2122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2122" spc="261" dirty="0">
                <a:solidFill>
                  <a:srgbClr val="FFFFFF"/>
                </a:solidFill>
                <a:latin typeface="Calibri"/>
                <a:cs typeface="Calibri"/>
              </a:rPr>
              <a:t> III</a:t>
            </a:r>
            <a:endParaRPr sz="2122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6151" y="3180494"/>
            <a:ext cx="3246316" cy="266337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56063" y="3233297"/>
            <a:ext cx="3238365" cy="267927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00823" y="3233297"/>
            <a:ext cx="3135612" cy="2713409"/>
          </a:xfrm>
          <a:prstGeom prst="rect">
            <a:avLst/>
          </a:prstGeom>
        </p:spPr>
      </p:pic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564890" y="359746"/>
            <a:ext cx="4716271" cy="635315"/>
          </a:xfrm>
          <a:prstGeom prst="rect">
            <a:avLst/>
          </a:prstGeom>
        </p:spPr>
        <p:txBody>
          <a:bodyPr vert="horz" wrap="square" lIns="0" tIns="1925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52"/>
              </a:spcBef>
            </a:pPr>
            <a:r>
              <a:rPr sz="4002" spc="55" dirty="0"/>
              <a:t>Utility</a:t>
            </a:r>
            <a:r>
              <a:rPr sz="4002" spc="67" dirty="0"/>
              <a:t> </a:t>
            </a:r>
            <a:r>
              <a:rPr sz="4002" spc="236" dirty="0"/>
              <a:t>Scale</a:t>
            </a:r>
            <a:r>
              <a:rPr sz="4002" spc="12" dirty="0"/>
              <a:t> </a:t>
            </a:r>
            <a:r>
              <a:rPr sz="4002" spc="115" dirty="0"/>
              <a:t>Modules</a:t>
            </a:r>
            <a:endParaRPr sz="4002"/>
          </a:p>
        </p:txBody>
      </p:sp>
      <p:sp>
        <p:nvSpPr>
          <p:cNvPr id="30" name="object 30"/>
          <p:cNvSpPr txBox="1"/>
          <p:nvPr/>
        </p:nvSpPr>
        <p:spPr>
          <a:xfrm>
            <a:off x="6572864" y="6892557"/>
            <a:ext cx="4978885" cy="5070021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15403" marR="808634">
              <a:lnSpc>
                <a:spcPct val="111700"/>
              </a:lnSpc>
              <a:spcBef>
                <a:spcPts val="79"/>
              </a:spcBef>
            </a:pP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This</a:t>
            </a:r>
            <a:r>
              <a:rPr sz="2122" spc="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module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explores</a:t>
            </a:r>
            <a:r>
              <a:rPr sz="2122" spc="18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Quantum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simulation</a:t>
            </a:r>
            <a:r>
              <a:rPr sz="2122" spc="5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of</a:t>
            </a:r>
            <a:r>
              <a:rPr sz="2122" spc="10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a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64" dirty="0">
                <a:solidFill>
                  <a:srgbClr val="1D1C1D"/>
                </a:solidFill>
                <a:latin typeface="Calibri"/>
                <a:cs typeface="Calibri"/>
              </a:rPr>
              <a:t>1D</a:t>
            </a:r>
            <a:r>
              <a:rPr sz="2122" spc="4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transverse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Ising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model</a:t>
            </a:r>
            <a:r>
              <a:rPr sz="2122" spc="18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on</a:t>
            </a:r>
            <a:r>
              <a:rPr sz="2122" spc="18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linear</a:t>
            </a:r>
            <a:r>
              <a:rPr sz="2122" spc="194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lattices.</a:t>
            </a:r>
            <a:endParaRPr sz="2122">
              <a:latin typeface="Calibri"/>
              <a:cs typeface="Calibri"/>
            </a:endParaRPr>
          </a:p>
          <a:p>
            <a:pPr>
              <a:spcBef>
                <a:spcPts val="218"/>
              </a:spcBef>
            </a:pPr>
            <a:endParaRPr sz="2122">
              <a:latin typeface="Calibri"/>
              <a:cs typeface="Calibri"/>
            </a:endParaRPr>
          </a:p>
          <a:p>
            <a:pPr marL="15403" marR="6161">
              <a:lnSpc>
                <a:spcPct val="110300"/>
              </a:lnSpc>
            </a:pP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Performs</a:t>
            </a:r>
            <a:r>
              <a:rPr sz="2122" spc="17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time-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evolution</a:t>
            </a:r>
            <a:r>
              <a:rPr sz="2122" spc="20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simulation</a:t>
            </a:r>
            <a:r>
              <a:rPr sz="2122" spc="20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using 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Statevector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and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09" dirty="0">
                <a:solidFill>
                  <a:srgbClr val="1D1C1D"/>
                </a:solidFill>
                <a:latin typeface="Calibri"/>
                <a:cs typeface="Calibri"/>
              </a:rPr>
              <a:t>MPS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simulators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first </a:t>
            </a:r>
            <a:r>
              <a:rPr sz="2122" spc="-24" dirty="0">
                <a:solidFill>
                  <a:srgbClr val="1D1C1D"/>
                </a:solidFill>
                <a:latin typeface="Calibri"/>
                <a:cs typeface="Calibri"/>
              </a:rPr>
              <a:t>with </a:t>
            </a:r>
            <a:r>
              <a:rPr sz="2122" spc="146" dirty="0">
                <a:solidFill>
                  <a:srgbClr val="1D1C1D"/>
                </a:solidFill>
                <a:latin typeface="Calibri"/>
                <a:cs typeface="Calibri"/>
              </a:rPr>
              <a:t>N=20,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then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scales</a:t>
            </a:r>
            <a:r>
              <a:rPr sz="2122" spc="4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to</a:t>
            </a:r>
            <a:r>
              <a:rPr sz="2122" spc="30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200" dirty="0">
                <a:solidFill>
                  <a:srgbClr val="1D1C1D"/>
                </a:solidFill>
                <a:latin typeface="Calibri"/>
                <a:cs typeface="Calibri"/>
              </a:rPr>
              <a:t>N=70</a:t>
            </a:r>
            <a:r>
              <a:rPr sz="2122" spc="-12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on</a:t>
            </a:r>
            <a:r>
              <a:rPr sz="2122" spc="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21" dirty="0">
                <a:solidFill>
                  <a:srgbClr val="1D1C1D"/>
                </a:solidFill>
                <a:latin typeface="Calibri"/>
                <a:cs typeface="Calibri"/>
              </a:rPr>
              <a:t>a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real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hardware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to</a:t>
            </a:r>
            <a:r>
              <a:rPr sz="2122" spc="13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91" dirty="0">
                <a:solidFill>
                  <a:srgbClr val="1D1C1D"/>
                </a:solidFill>
                <a:latin typeface="Calibri"/>
                <a:cs typeface="Calibri"/>
              </a:rPr>
              <a:t>compare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with</a:t>
            </a:r>
            <a:r>
              <a:rPr sz="2122" spc="10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176" dirty="0">
                <a:solidFill>
                  <a:srgbClr val="1D1C1D"/>
                </a:solidFill>
                <a:latin typeface="Calibri"/>
                <a:cs typeface="Calibri"/>
              </a:rPr>
              <a:t>N=20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simulator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61" dirty="0">
                <a:solidFill>
                  <a:srgbClr val="1D1C1D"/>
                </a:solidFill>
                <a:latin typeface="Calibri"/>
                <a:cs typeface="Calibri"/>
              </a:rPr>
              <a:t>results.</a:t>
            </a:r>
            <a:endParaRPr sz="2122">
              <a:latin typeface="Calibri"/>
              <a:cs typeface="Calibri"/>
            </a:endParaRPr>
          </a:p>
          <a:p>
            <a:pPr>
              <a:spcBef>
                <a:spcPts val="182"/>
              </a:spcBef>
            </a:pPr>
            <a:endParaRPr sz="2122">
              <a:latin typeface="Calibri"/>
              <a:cs typeface="Calibri"/>
            </a:endParaRPr>
          </a:p>
          <a:p>
            <a:pPr marL="15403" marR="358880">
              <a:lnSpc>
                <a:spcPct val="111700"/>
              </a:lnSpc>
            </a:pPr>
            <a:r>
              <a:rPr sz="2122" spc="127" dirty="0">
                <a:solidFill>
                  <a:srgbClr val="1D1C1D"/>
                </a:solidFill>
                <a:latin typeface="Calibri"/>
                <a:cs typeface="Calibri"/>
              </a:rPr>
              <a:t>Focuses</a:t>
            </a:r>
            <a:r>
              <a:rPr sz="2122" spc="3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on</a:t>
            </a:r>
            <a:r>
              <a:rPr sz="2122" spc="-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teaching</a:t>
            </a:r>
            <a:r>
              <a:rPr sz="2122" spc="73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42" dirty="0">
                <a:solidFill>
                  <a:srgbClr val="1D1C1D"/>
                </a:solidFill>
                <a:latin typeface="Calibri"/>
                <a:cs typeface="Calibri"/>
              </a:rPr>
              <a:t> workflow </a:t>
            </a:r>
            <a:r>
              <a:rPr sz="2122" spc="97" dirty="0">
                <a:solidFill>
                  <a:srgbClr val="1D1C1D"/>
                </a:solidFill>
                <a:latin typeface="Calibri"/>
                <a:cs typeface="Calibri"/>
              </a:rPr>
              <a:t>(Map&gt;Optimize&gt;Run&gt;Post-process)</a:t>
            </a:r>
            <a:r>
              <a:rPr sz="2122" spc="85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-30" dirty="0">
                <a:solidFill>
                  <a:srgbClr val="1D1C1D"/>
                </a:solidFill>
                <a:latin typeface="Calibri"/>
                <a:cs typeface="Calibri"/>
              </a:rPr>
              <a:t>in </a:t>
            </a:r>
            <a:r>
              <a:rPr sz="2122" spc="67" dirty="0">
                <a:solidFill>
                  <a:srgbClr val="1D1C1D"/>
                </a:solidFill>
                <a:latin typeface="Calibri"/>
                <a:cs typeface="Calibri"/>
              </a:rPr>
              <a:t>the</a:t>
            </a:r>
            <a:r>
              <a:rPr sz="2122" spc="6" dirty="0">
                <a:solidFill>
                  <a:srgbClr val="1D1C1D"/>
                </a:solidFill>
                <a:latin typeface="Calibri"/>
                <a:cs typeface="Calibri"/>
              </a:rPr>
              <a:t> </a:t>
            </a:r>
            <a:r>
              <a:rPr sz="2122" spc="79" dirty="0">
                <a:solidFill>
                  <a:srgbClr val="1D1C1D"/>
                </a:solidFill>
                <a:latin typeface="Calibri"/>
                <a:cs typeface="Calibri"/>
              </a:rPr>
              <a:t>process.</a:t>
            </a:r>
            <a:endParaRPr sz="2122">
              <a:latin typeface="Calibri"/>
              <a:cs typeface="Calibri"/>
            </a:endParaRPr>
          </a:p>
          <a:p>
            <a:pPr marL="15403">
              <a:spcBef>
                <a:spcPts val="261"/>
              </a:spcBef>
            </a:pPr>
            <a:r>
              <a:rPr sz="2122" spc="-61" dirty="0">
                <a:latin typeface="Calibri"/>
                <a:cs typeface="Calibri"/>
              </a:rPr>
              <a:t>.</a:t>
            </a:r>
            <a:endParaRPr sz="2122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377" y="10787226"/>
            <a:ext cx="1649205" cy="164376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64890" y="12914221"/>
            <a:ext cx="1303059" cy="264470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sz="1577" spc="97" dirty="0">
                <a:latin typeface="Calibri"/>
                <a:cs typeface="Calibri"/>
              </a:rPr>
              <a:t>IBM</a:t>
            </a:r>
            <a:r>
              <a:rPr sz="1577" spc="91" dirty="0">
                <a:latin typeface="Calibri"/>
                <a:cs typeface="Calibri"/>
              </a:rPr>
              <a:t> </a:t>
            </a:r>
            <a:r>
              <a:rPr sz="1577" spc="55" dirty="0">
                <a:latin typeface="Calibri"/>
                <a:cs typeface="Calibri"/>
              </a:rPr>
              <a:t>Quantum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9129537"/>
            <a:ext cx="451736" cy="264470"/>
          </a:xfrm>
          <a:prstGeom prst="rect">
            <a:avLst/>
          </a:prstGeom>
        </p:spPr>
        <p:txBody>
          <a:bodyPr vert="horz" wrap="square" lIns="0" tIns="21564" rIns="0" bIns="0" rtlCol="0" anchor="b" anchorCtr="0">
            <a:spAutoFit/>
          </a:bodyPr>
          <a:lstStyle/>
          <a:p>
            <a:pPr marL="89335">
              <a:spcBef>
                <a:spcPts val="170"/>
              </a:spcBef>
            </a:pPr>
            <a:fld id="{81D60167-4931-47E6-BA6A-407CBD079E47}" type="slidenum">
              <a:rPr spc="109" dirty="0"/>
              <a:pPr marL="89335">
                <a:spcBef>
                  <a:spcPts val="170"/>
                </a:spcBef>
              </a:pPr>
              <a:t>41</a:t>
            </a:fld>
            <a:endParaRPr spc="109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25346" y="5132299"/>
            <a:ext cx="8711701" cy="266505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15"/>
              </a:spcBef>
            </a:pPr>
            <a:r>
              <a:rPr sz="17222" dirty="0"/>
              <a:t>A</a:t>
            </a:r>
            <a:r>
              <a:rPr sz="17222" spc="-158" dirty="0"/>
              <a:t> </a:t>
            </a:r>
            <a:r>
              <a:rPr sz="17222" dirty="0"/>
              <a:t>note</a:t>
            </a:r>
            <a:r>
              <a:rPr sz="17222" spc="-152" dirty="0"/>
              <a:t> </a:t>
            </a:r>
            <a:r>
              <a:rPr sz="17222" spc="-30" dirty="0"/>
              <a:t>on</a:t>
            </a:r>
            <a:endParaRPr sz="17222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8706" y="5863461"/>
            <a:ext cx="2280474" cy="147646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7524" y="998113"/>
            <a:ext cx="6735549" cy="1000816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64"/>
              </a:spcBef>
            </a:pPr>
            <a:r>
              <a:rPr sz="6367" spc="230" dirty="0">
                <a:solidFill>
                  <a:srgbClr val="161616"/>
                </a:solidFill>
              </a:rPr>
              <a:t>Qiskit</a:t>
            </a:r>
            <a:r>
              <a:rPr sz="6367" spc="-30" dirty="0">
                <a:solidFill>
                  <a:srgbClr val="161616"/>
                </a:solidFill>
              </a:rPr>
              <a:t> </a:t>
            </a:r>
            <a:r>
              <a:rPr sz="6367" spc="255" dirty="0">
                <a:solidFill>
                  <a:srgbClr val="161616"/>
                </a:solidFill>
              </a:rPr>
              <a:t>MCP</a:t>
            </a:r>
            <a:r>
              <a:rPr sz="6367" spc="18" dirty="0">
                <a:solidFill>
                  <a:srgbClr val="161616"/>
                </a:solidFill>
              </a:rPr>
              <a:t> </a:t>
            </a:r>
            <a:r>
              <a:rPr sz="6367" spc="278" dirty="0">
                <a:solidFill>
                  <a:srgbClr val="161616"/>
                </a:solidFill>
              </a:rPr>
              <a:t>servers</a:t>
            </a:r>
            <a:endParaRPr sz="6367"/>
          </a:p>
        </p:txBody>
      </p:sp>
      <p:sp>
        <p:nvSpPr>
          <p:cNvPr id="3" name="object 3"/>
          <p:cNvSpPr/>
          <p:nvPr/>
        </p:nvSpPr>
        <p:spPr>
          <a:xfrm>
            <a:off x="733819" y="4744810"/>
            <a:ext cx="11245426" cy="1691974"/>
          </a:xfrm>
          <a:custGeom>
            <a:avLst/>
            <a:gdLst/>
            <a:ahLst/>
            <a:cxnLst/>
            <a:rect l="l" t="t" r="r" b="b"/>
            <a:pathLst>
              <a:path w="9272270" h="1395095">
                <a:moveTo>
                  <a:pt x="9146326" y="0"/>
                </a:moveTo>
                <a:lnTo>
                  <a:pt x="125509" y="0"/>
                </a:lnTo>
                <a:lnTo>
                  <a:pt x="76654" y="9867"/>
                </a:lnTo>
                <a:lnTo>
                  <a:pt x="36759" y="36774"/>
                </a:lnTo>
                <a:lnTo>
                  <a:pt x="9862" y="76676"/>
                </a:lnTo>
                <a:lnTo>
                  <a:pt x="0" y="125530"/>
                </a:lnTo>
                <a:lnTo>
                  <a:pt x="0" y="1269017"/>
                </a:lnTo>
                <a:lnTo>
                  <a:pt x="9862" y="1317915"/>
                </a:lnTo>
                <a:lnTo>
                  <a:pt x="36759" y="1357812"/>
                </a:lnTo>
                <a:lnTo>
                  <a:pt x="76654" y="1384694"/>
                </a:lnTo>
                <a:lnTo>
                  <a:pt x="125509" y="1394547"/>
                </a:lnTo>
                <a:lnTo>
                  <a:pt x="9146326" y="1394547"/>
                </a:lnTo>
                <a:lnTo>
                  <a:pt x="9195180" y="1384694"/>
                </a:lnTo>
                <a:lnTo>
                  <a:pt x="9235082" y="1357812"/>
                </a:lnTo>
                <a:lnTo>
                  <a:pt x="9261989" y="1317915"/>
                </a:lnTo>
                <a:lnTo>
                  <a:pt x="9271856" y="1269017"/>
                </a:lnTo>
                <a:lnTo>
                  <a:pt x="9271856" y="125530"/>
                </a:lnTo>
                <a:lnTo>
                  <a:pt x="9261989" y="76676"/>
                </a:lnTo>
                <a:lnTo>
                  <a:pt x="9235082" y="36774"/>
                </a:lnTo>
                <a:lnTo>
                  <a:pt x="9195180" y="9867"/>
                </a:lnTo>
                <a:lnTo>
                  <a:pt x="9146326" y="0"/>
                </a:lnTo>
                <a:close/>
              </a:path>
            </a:pathLst>
          </a:custGeom>
          <a:solidFill>
            <a:srgbClr val="F6F1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4" name="object 4"/>
          <p:cNvSpPr txBox="1"/>
          <p:nvPr/>
        </p:nvSpPr>
        <p:spPr>
          <a:xfrm>
            <a:off x="1054151" y="4851414"/>
            <a:ext cx="8054011" cy="961515"/>
          </a:xfrm>
          <a:prstGeom prst="rect">
            <a:avLst/>
          </a:prstGeom>
        </p:spPr>
        <p:txBody>
          <a:bodyPr vert="horz" wrap="square" lIns="0" tIns="165578" rIns="0" bIns="0" rtlCol="0">
            <a:spAutoFit/>
          </a:bodyPr>
          <a:lstStyle/>
          <a:p>
            <a:pPr marL="15403">
              <a:spcBef>
                <a:spcPts val="1304"/>
              </a:spcBef>
            </a:pPr>
            <a:r>
              <a:rPr sz="2244" b="1" spc="-42" dirty="0">
                <a:solidFill>
                  <a:srgbClr val="161616"/>
                </a:solidFill>
                <a:latin typeface="Courier New"/>
                <a:cs typeface="Courier New"/>
              </a:rPr>
              <a:t>qiskit-docs-</a:t>
            </a:r>
            <a:r>
              <a:rPr sz="2244" b="1" spc="-36" dirty="0">
                <a:solidFill>
                  <a:srgbClr val="161616"/>
                </a:solidFill>
                <a:latin typeface="Courier New"/>
                <a:cs typeface="Courier New"/>
              </a:rPr>
              <a:t>mcp-</a:t>
            </a:r>
            <a:r>
              <a:rPr sz="2244" b="1" spc="-12" dirty="0">
                <a:solidFill>
                  <a:srgbClr val="161616"/>
                </a:solidFill>
                <a:latin typeface="Courier New"/>
                <a:cs typeface="Courier New"/>
              </a:rPr>
              <a:t>server</a:t>
            </a:r>
            <a:endParaRPr sz="2244">
              <a:latin typeface="Courier New"/>
              <a:cs typeface="Courier New"/>
            </a:endParaRPr>
          </a:p>
          <a:p>
            <a:pPr marL="15403">
              <a:spcBef>
                <a:spcPts val="1084"/>
              </a:spcBef>
            </a:pPr>
            <a:r>
              <a:rPr sz="2001" spc="79" dirty="0">
                <a:solidFill>
                  <a:srgbClr val="393939"/>
                </a:solidFill>
                <a:latin typeface="Calibri"/>
                <a:cs typeface="Calibri"/>
              </a:rPr>
              <a:t>Live</a:t>
            </a:r>
            <a:r>
              <a:rPr sz="2001" spc="85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27" dirty="0">
                <a:solidFill>
                  <a:srgbClr val="393939"/>
                </a:solidFill>
                <a:latin typeface="Calibri"/>
                <a:cs typeface="Calibri"/>
              </a:rPr>
              <a:t>docs</a:t>
            </a:r>
            <a:r>
              <a:rPr sz="2001" spc="61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7" dirty="0">
                <a:solidFill>
                  <a:srgbClr val="393939"/>
                </a:solidFill>
                <a:latin typeface="Calibri"/>
                <a:cs typeface="Calibri"/>
              </a:rPr>
              <a:t>search</a:t>
            </a:r>
            <a:r>
              <a:rPr sz="2001" spc="121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into</a:t>
            </a:r>
            <a:r>
              <a:rPr sz="2001" spc="61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7" dirty="0">
                <a:solidFill>
                  <a:srgbClr val="393939"/>
                </a:solidFill>
                <a:latin typeface="Calibri"/>
                <a:cs typeface="Calibri"/>
              </a:rPr>
              <a:t>any</a:t>
            </a:r>
            <a:r>
              <a:rPr sz="2001" spc="3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1" dirty="0">
                <a:solidFill>
                  <a:srgbClr val="393939"/>
                </a:solidFill>
                <a:latin typeface="Calibri"/>
                <a:cs typeface="Calibri"/>
              </a:rPr>
              <a:t>assistant.</a:t>
            </a:r>
            <a:r>
              <a:rPr sz="2001" spc="14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Tool</a:t>
            </a:r>
            <a:r>
              <a:rPr sz="2001" spc="67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for</a:t>
            </a:r>
            <a:r>
              <a:rPr sz="2001" spc="1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9" dirty="0">
                <a:solidFill>
                  <a:srgbClr val="393939"/>
                </a:solidFill>
                <a:latin typeface="Calibri"/>
                <a:cs typeface="Calibri"/>
              </a:rPr>
              <a:t>every</a:t>
            </a:r>
            <a:r>
              <a:rPr sz="2001" spc="3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67" dirty="0">
                <a:solidFill>
                  <a:srgbClr val="393939"/>
                </a:solidFill>
                <a:latin typeface="Calibri"/>
                <a:cs typeface="Calibri"/>
              </a:rPr>
              <a:t>participant</a:t>
            </a:r>
            <a:r>
              <a:rPr sz="2001" spc="127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to</a:t>
            </a:r>
            <a:r>
              <a:rPr sz="2001" spc="13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55" dirty="0">
                <a:solidFill>
                  <a:srgbClr val="393939"/>
                </a:solidFill>
                <a:latin typeface="Calibri"/>
                <a:cs typeface="Calibri"/>
              </a:rPr>
              <a:t>attach.</a:t>
            </a:r>
            <a:endParaRPr sz="2001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52" y="6622650"/>
            <a:ext cx="7271559" cy="960737"/>
          </a:xfrm>
          <a:prstGeom prst="rect">
            <a:avLst/>
          </a:prstGeom>
        </p:spPr>
        <p:txBody>
          <a:bodyPr vert="horz" wrap="square" lIns="0" tIns="164808" rIns="0" bIns="0" rtlCol="0">
            <a:spAutoFit/>
          </a:bodyPr>
          <a:lstStyle/>
          <a:p>
            <a:pPr marL="15403">
              <a:spcBef>
                <a:spcPts val="1298"/>
              </a:spcBef>
            </a:pPr>
            <a:r>
              <a:rPr sz="2244" b="1" spc="-42" dirty="0">
                <a:solidFill>
                  <a:srgbClr val="161616"/>
                </a:solidFill>
                <a:latin typeface="Courier New"/>
                <a:cs typeface="Courier New"/>
              </a:rPr>
              <a:t>qiskit-</a:t>
            </a:r>
            <a:r>
              <a:rPr sz="2244" b="1" spc="-36" dirty="0">
                <a:solidFill>
                  <a:srgbClr val="161616"/>
                </a:solidFill>
                <a:latin typeface="Courier New"/>
                <a:cs typeface="Courier New"/>
              </a:rPr>
              <a:t>mcp-</a:t>
            </a:r>
            <a:r>
              <a:rPr sz="2244" b="1" spc="-12" dirty="0">
                <a:solidFill>
                  <a:srgbClr val="161616"/>
                </a:solidFill>
                <a:latin typeface="Courier New"/>
                <a:cs typeface="Courier New"/>
              </a:rPr>
              <a:t>server</a:t>
            </a:r>
            <a:endParaRPr sz="2244">
              <a:latin typeface="Courier New"/>
              <a:cs typeface="Courier New"/>
            </a:endParaRPr>
          </a:p>
          <a:p>
            <a:pPr marL="15403">
              <a:spcBef>
                <a:spcPts val="1085"/>
              </a:spcBef>
            </a:pPr>
            <a:r>
              <a:rPr sz="2001" spc="97" dirty="0">
                <a:solidFill>
                  <a:srgbClr val="393939"/>
                </a:solidFill>
                <a:latin typeface="Calibri"/>
                <a:cs typeface="Calibri"/>
              </a:rPr>
              <a:t>Build,</a:t>
            </a:r>
            <a:r>
              <a:rPr sz="2001" spc="1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85" dirty="0">
                <a:solidFill>
                  <a:srgbClr val="393939"/>
                </a:solidFill>
                <a:latin typeface="Calibri"/>
                <a:cs typeface="Calibri"/>
              </a:rPr>
              <a:t>transpile</a:t>
            </a:r>
            <a:r>
              <a:rPr sz="2001" spc="-30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&amp;</a:t>
            </a:r>
            <a:r>
              <a:rPr sz="2001" spc="3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1" dirty="0">
                <a:solidFill>
                  <a:srgbClr val="393939"/>
                </a:solidFill>
                <a:latin typeface="Calibri"/>
                <a:cs typeface="Calibri"/>
              </a:rPr>
              <a:t>serialize</a:t>
            </a:r>
            <a:r>
              <a:rPr sz="2001" spc="-3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1" dirty="0">
                <a:solidFill>
                  <a:srgbClr val="393939"/>
                </a:solidFill>
                <a:latin typeface="Calibri"/>
                <a:cs typeface="Calibri"/>
              </a:rPr>
              <a:t>circuits</a:t>
            </a:r>
            <a:r>
              <a:rPr sz="2001" spc="24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1" dirty="0">
                <a:solidFill>
                  <a:srgbClr val="393939"/>
                </a:solidFill>
                <a:latin typeface="Calibri"/>
                <a:cs typeface="Calibri"/>
              </a:rPr>
              <a:t>(QASM3/QPY)</a:t>
            </a:r>
            <a:r>
              <a:rPr sz="2001" spc="42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52" dirty="0">
                <a:solidFill>
                  <a:srgbClr val="393939"/>
                </a:solidFill>
                <a:latin typeface="Calibri"/>
                <a:cs typeface="Calibri"/>
              </a:rPr>
              <a:t>as</a:t>
            </a:r>
            <a:r>
              <a:rPr sz="2001" spc="24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3" dirty="0">
                <a:solidFill>
                  <a:srgbClr val="393939"/>
                </a:solidFill>
                <a:latin typeface="Calibri"/>
                <a:cs typeface="Calibri"/>
              </a:rPr>
              <a:t>agent</a:t>
            </a:r>
            <a:r>
              <a:rPr sz="2001" spc="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67" dirty="0">
                <a:solidFill>
                  <a:srgbClr val="393939"/>
                </a:solidFill>
                <a:latin typeface="Calibri"/>
                <a:cs typeface="Calibri"/>
              </a:rPr>
              <a:t>tools.</a:t>
            </a:r>
            <a:endParaRPr sz="2001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4152" y="7770647"/>
            <a:ext cx="9152985" cy="95996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15403">
              <a:spcBef>
                <a:spcPts val="1292"/>
              </a:spcBef>
            </a:pPr>
            <a:r>
              <a:rPr sz="2244" b="1" spc="-42" dirty="0">
                <a:solidFill>
                  <a:srgbClr val="161616"/>
                </a:solidFill>
                <a:latin typeface="Courier New"/>
                <a:cs typeface="Courier New"/>
              </a:rPr>
              <a:t>qiskit-</a:t>
            </a:r>
            <a:r>
              <a:rPr sz="2244" b="1" spc="-36" dirty="0">
                <a:solidFill>
                  <a:srgbClr val="161616"/>
                </a:solidFill>
                <a:latin typeface="Courier New"/>
                <a:cs typeface="Courier New"/>
              </a:rPr>
              <a:t>ibm-</a:t>
            </a:r>
            <a:r>
              <a:rPr sz="2244" b="1" spc="-42" dirty="0">
                <a:solidFill>
                  <a:srgbClr val="161616"/>
                </a:solidFill>
                <a:latin typeface="Courier New"/>
                <a:cs typeface="Courier New"/>
              </a:rPr>
              <a:t>runtime-mcp-</a:t>
            </a:r>
            <a:r>
              <a:rPr sz="2244" b="1" spc="-12" dirty="0">
                <a:solidFill>
                  <a:srgbClr val="161616"/>
                </a:solidFill>
                <a:latin typeface="Courier New"/>
                <a:cs typeface="Courier New"/>
              </a:rPr>
              <a:t>server</a:t>
            </a:r>
            <a:endParaRPr sz="2244">
              <a:latin typeface="Courier New"/>
              <a:cs typeface="Courier New"/>
            </a:endParaRPr>
          </a:p>
          <a:p>
            <a:pPr marL="15403">
              <a:spcBef>
                <a:spcPts val="1084"/>
              </a:spcBef>
            </a:pPr>
            <a:r>
              <a:rPr sz="2001" spc="115" dirty="0">
                <a:solidFill>
                  <a:srgbClr val="393939"/>
                </a:solidFill>
                <a:latin typeface="Calibri"/>
                <a:cs typeface="Calibri"/>
              </a:rPr>
              <a:t>Real</a:t>
            </a:r>
            <a:r>
              <a:rPr sz="2001" spc="24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9" dirty="0">
                <a:solidFill>
                  <a:srgbClr val="393939"/>
                </a:solidFill>
                <a:latin typeface="Calibri"/>
                <a:cs typeface="Calibri"/>
              </a:rPr>
              <a:t>hardware:</a:t>
            </a:r>
            <a:r>
              <a:rPr sz="2001" spc="-24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85" dirty="0">
                <a:solidFill>
                  <a:srgbClr val="393939"/>
                </a:solidFill>
                <a:latin typeface="Calibri"/>
                <a:cs typeface="Calibri"/>
              </a:rPr>
              <a:t>list</a:t>
            </a:r>
            <a:r>
              <a:rPr sz="2001" spc="79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09" dirty="0">
                <a:solidFill>
                  <a:srgbClr val="393939"/>
                </a:solidFill>
                <a:latin typeface="Calibri"/>
                <a:cs typeface="Calibri"/>
              </a:rPr>
              <a:t>backends,</a:t>
            </a:r>
            <a:r>
              <a:rPr sz="2001" spc="1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97" dirty="0">
                <a:solidFill>
                  <a:srgbClr val="393939"/>
                </a:solidFill>
                <a:latin typeface="Calibri"/>
                <a:cs typeface="Calibri"/>
              </a:rPr>
              <a:t>submit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 &amp;</a:t>
            </a:r>
            <a:r>
              <a:rPr sz="2001" spc="30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61" dirty="0">
                <a:solidFill>
                  <a:srgbClr val="393939"/>
                </a:solidFill>
                <a:latin typeface="Calibri"/>
                <a:cs typeface="Calibri"/>
              </a:rPr>
              <a:t>monitor</a:t>
            </a:r>
            <a:r>
              <a:rPr sz="2001" spc="42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3" dirty="0">
                <a:solidFill>
                  <a:srgbClr val="393939"/>
                </a:solidFill>
                <a:latin typeface="Calibri"/>
                <a:cs typeface="Calibri"/>
              </a:rPr>
              <a:t>jobs.</a:t>
            </a:r>
            <a:r>
              <a:rPr sz="2001" spc="1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21" dirty="0">
                <a:solidFill>
                  <a:srgbClr val="393939"/>
                </a:solidFill>
                <a:latin typeface="Calibri"/>
                <a:cs typeface="Calibri"/>
              </a:rPr>
              <a:t>Needs</a:t>
            </a:r>
            <a:r>
              <a:rPr sz="2001" spc="73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1759" spc="-12" dirty="0">
                <a:solidFill>
                  <a:srgbClr val="393939"/>
                </a:solidFill>
                <a:latin typeface="Courier New"/>
                <a:cs typeface="Courier New"/>
              </a:rPr>
              <a:t>QISKIT_IBM_TOKEN</a:t>
            </a:r>
            <a:r>
              <a:rPr sz="2001" spc="-12" dirty="0">
                <a:solidFill>
                  <a:srgbClr val="393939"/>
                </a:solidFill>
                <a:latin typeface="Calibri"/>
                <a:cs typeface="Calibri"/>
              </a:rPr>
              <a:t>.</a:t>
            </a:r>
            <a:endParaRPr sz="2001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152" y="8918502"/>
            <a:ext cx="6138699" cy="95996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15403">
              <a:spcBef>
                <a:spcPts val="1292"/>
              </a:spcBef>
            </a:pPr>
            <a:r>
              <a:rPr sz="2244" b="1" spc="-42" dirty="0">
                <a:solidFill>
                  <a:srgbClr val="161616"/>
                </a:solidFill>
                <a:latin typeface="Courier New"/>
                <a:cs typeface="Courier New"/>
              </a:rPr>
              <a:t>qiskit-</a:t>
            </a:r>
            <a:r>
              <a:rPr sz="2244" b="1" spc="-36" dirty="0">
                <a:solidFill>
                  <a:srgbClr val="161616"/>
                </a:solidFill>
                <a:latin typeface="Courier New"/>
                <a:cs typeface="Courier New"/>
              </a:rPr>
              <a:t>ibm-</a:t>
            </a:r>
            <a:r>
              <a:rPr sz="2244" b="1" spc="-42" dirty="0">
                <a:solidFill>
                  <a:srgbClr val="161616"/>
                </a:solidFill>
                <a:latin typeface="Courier New"/>
                <a:cs typeface="Courier New"/>
              </a:rPr>
              <a:t>transpiler-</a:t>
            </a:r>
            <a:r>
              <a:rPr sz="2244" b="1" spc="-36" dirty="0">
                <a:solidFill>
                  <a:srgbClr val="161616"/>
                </a:solidFill>
                <a:latin typeface="Courier New"/>
                <a:cs typeface="Courier New"/>
              </a:rPr>
              <a:t>mcp-</a:t>
            </a:r>
            <a:r>
              <a:rPr sz="2244" b="1" spc="-12" dirty="0">
                <a:solidFill>
                  <a:srgbClr val="161616"/>
                </a:solidFill>
                <a:latin typeface="Courier New"/>
                <a:cs typeface="Courier New"/>
              </a:rPr>
              <a:t>server</a:t>
            </a:r>
            <a:endParaRPr sz="2244">
              <a:latin typeface="Courier New"/>
              <a:cs typeface="Courier New"/>
            </a:endParaRPr>
          </a:p>
          <a:p>
            <a:pPr marL="15403">
              <a:spcBef>
                <a:spcPts val="1084"/>
              </a:spcBef>
            </a:pPr>
            <a:r>
              <a:rPr sz="2001" spc="218" dirty="0">
                <a:solidFill>
                  <a:srgbClr val="393939"/>
                </a:solidFill>
                <a:latin typeface="Calibri"/>
                <a:cs typeface="Calibri"/>
              </a:rPr>
              <a:t>AI</a:t>
            </a:r>
            <a:r>
              <a:rPr sz="2001" spc="49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3" dirty="0">
                <a:solidFill>
                  <a:srgbClr val="393939"/>
                </a:solidFill>
                <a:latin typeface="Calibri"/>
                <a:cs typeface="Calibri"/>
              </a:rPr>
              <a:t>transpiler</a:t>
            </a:r>
            <a:r>
              <a:rPr sz="2001" spc="-24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46" dirty="0">
                <a:solidFill>
                  <a:srgbClr val="393939"/>
                </a:solidFill>
                <a:latin typeface="Calibri"/>
                <a:cs typeface="Calibri"/>
              </a:rPr>
              <a:t>passes</a:t>
            </a:r>
            <a:r>
              <a:rPr sz="2001" spc="1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55" dirty="0">
                <a:solidFill>
                  <a:srgbClr val="393939"/>
                </a:solidFill>
                <a:latin typeface="Calibri"/>
                <a:cs typeface="Calibri"/>
              </a:rPr>
              <a:t>(routing</a:t>
            </a:r>
            <a:r>
              <a:rPr sz="2001" spc="85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&amp;</a:t>
            </a:r>
            <a:r>
              <a:rPr sz="2001" spc="-3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09" dirty="0">
                <a:solidFill>
                  <a:srgbClr val="393939"/>
                </a:solidFill>
                <a:latin typeface="Calibri"/>
                <a:cs typeface="Calibri"/>
              </a:rPr>
              <a:t>synthesis)</a:t>
            </a:r>
            <a:r>
              <a:rPr sz="2001" spc="-36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85" dirty="0">
                <a:solidFill>
                  <a:srgbClr val="393939"/>
                </a:solidFill>
                <a:latin typeface="Calibri"/>
                <a:cs typeface="Calibri"/>
              </a:rPr>
              <a:t>on</a:t>
            </a:r>
            <a:r>
              <a:rPr sz="2001" spc="73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9" dirty="0">
                <a:solidFill>
                  <a:srgbClr val="393939"/>
                </a:solidFill>
                <a:latin typeface="Calibri"/>
                <a:cs typeface="Calibri"/>
              </a:rPr>
              <a:t>demand.</a:t>
            </a:r>
            <a:endParaRPr sz="2001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152" y="10066506"/>
            <a:ext cx="3801357" cy="95996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15403">
              <a:spcBef>
                <a:spcPts val="1292"/>
              </a:spcBef>
            </a:pPr>
            <a:r>
              <a:rPr sz="2244" b="1" spc="-36" dirty="0">
                <a:solidFill>
                  <a:srgbClr val="161616"/>
                </a:solidFill>
                <a:latin typeface="Courier New"/>
                <a:cs typeface="Courier New"/>
              </a:rPr>
              <a:t>qiskit-gym-mcp-</a:t>
            </a:r>
            <a:r>
              <a:rPr sz="2244" b="1" spc="-12" dirty="0">
                <a:solidFill>
                  <a:srgbClr val="161616"/>
                </a:solidFill>
                <a:latin typeface="Courier New"/>
                <a:cs typeface="Courier New"/>
              </a:rPr>
              <a:t>server</a:t>
            </a:r>
            <a:endParaRPr sz="2244">
              <a:latin typeface="Courier New"/>
              <a:cs typeface="Courier New"/>
            </a:endParaRPr>
          </a:p>
          <a:p>
            <a:pPr marL="15403">
              <a:spcBef>
                <a:spcPts val="1084"/>
              </a:spcBef>
            </a:pPr>
            <a:r>
              <a:rPr sz="2001" spc="182" dirty="0">
                <a:solidFill>
                  <a:srgbClr val="393939"/>
                </a:solidFill>
                <a:latin typeface="Calibri"/>
                <a:cs typeface="Calibri"/>
              </a:rPr>
              <a:t>RL</a:t>
            </a:r>
            <a:r>
              <a:rPr sz="2001" spc="-12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73" dirty="0">
                <a:solidFill>
                  <a:srgbClr val="393939"/>
                </a:solidFill>
                <a:latin typeface="Calibri"/>
                <a:cs typeface="Calibri"/>
              </a:rPr>
              <a:t>circuit</a:t>
            </a:r>
            <a:r>
              <a:rPr sz="2001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103" dirty="0">
                <a:solidFill>
                  <a:srgbClr val="393939"/>
                </a:solidFill>
                <a:latin typeface="Calibri"/>
                <a:cs typeface="Calibri"/>
              </a:rPr>
              <a:t>synthesis</a:t>
            </a:r>
            <a:r>
              <a:rPr sz="2001" spc="18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2001" spc="67" dirty="0">
                <a:solidFill>
                  <a:srgbClr val="393939"/>
                </a:solidFill>
                <a:latin typeface="Calibri"/>
                <a:cs typeface="Calibri"/>
              </a:rPr>
              <a:t>(community).</a:t>
            </a:r>
            <a:endParaRPr sz="2001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15021" y="4588148"/>
            <a:ext cx="959581" cy="259026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1577" b="1" spc="273" dirty="0">
                <a:solidFill>
                  <a:srgbClr val="525252"/>
                </a:solidFill>
                <a:latin typeface="Calibri"/>
                <a:cs typeface="Calibri"/>
              </a:rPr>
              <a:t>INSTALL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892966" y="5083071"/>
            <a:ext cx="9782180" cy="795543"/>
          </a:xfrm>
          <a:custGeom>
            <a:avLst/>
            <a:gdLst/>
            <a:ahLst/>
            <a:cxnLst/>
            <a:rect l="l" t="t" r="r" b="b"/>
            <a:pathLst>
              <a:path w="8065769" h="655954">
                <a:moveTo>
                  <a:pt x="7940231" y="0"/>
                </a:moveTo>
                <a:lnTo>
                  <a:pt x="125530" y="0"/>
                </a:lnTo>
                <a:lnTo>
                  <a:pt x="76676" y="9869"/>
                </a:lnTo>
                <a:lnTo>
                  <a:pt x="36774" y="36787"/>
                </a:lnTo>
                <a:lnTo>
                  <a:pt x="9867" y="76720"/>
                </a:lnTo>
                <a:lnTo>
                  <a:pt x="0" y="125634"/>
                </a:lnTo>
                <a:lnTo>
                  <a:pt x="0" y="530284"/>
                </a:lnTo>
                <a:lnTo>
                  <a:pt x="9867" y="579137"/>
                </a:lnTo>
                <a:lnTo>
                  <a:pt x="36774" y="619039"/>
                </a:lnTo>
                <a:lnTo>
                  <a:pt x="76676" y="645946"/>
                </a:lnTo>
                <a:lnTo>
                  <a:pt x="125530" y="655814"/>
                </a:lnTo>
                <a:lnTo>
                  <a:pt x="7940231" y="655814"/>
                </a:lnTo>
                <a:lnTo>
                  <a:pt x="7989085" y="645946"/>
                </a:lnTo>
                <a:lnTo>
                  <a:pt x="8028987" y="619039"/>
                </a:lnTo>
                <a:lnTo>
                  <a:pt x="8055894" y="579137"/>
                </a:lnTo>
                <a:lnTo>
                  <a:pt x="8065761" y="530284"/>
                </a:lnTo>
                <a:lnTo>
                  <a:pt x="8065761" y="125634"/>
                </a:lnTo>
                <a:lnTo>
                  <a:pt x="8055894" y="76720"/>
                </a:lnTo>
                <a:lnTo>
                  <a:pt x="8028987" y="36787"/>
                </a:lnTo>
                <a:lnTo>
                  <a:pt x="7989085" y="9869"/>
                </a:lnTo>
                <a:lnTo>
                  <a:pt x="7940231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1" name="object 11"/>
          <p:cNvSpPr txBox="1"/>
          <p:nvPr/>
        </p:nvSpPr>
        <p:spPr>
          <a:xfrm>
            <a:off x="13245411" y="5327142"/>
            <a:ext cx="5958489" cy="335994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2062" dirty="0">
                <a:solidFill>
                  <a:srgbClr val="161616"/>
                </a:solidFill>
                <a:latin typeface="Courier New"/>
                <a:cs typeface="Courier New"/>
              </a:rPr>
              <a:t>pip</a:t>
            </a:r>
            <a:r>
              <a:rPr sz="2062" spc="79" dirty="0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161616"/>
                </a:solidFill>
                <a:latin typeface="Courier New"/>
                <a:cs typeface="Courier New"/>
              </a:rPr>
              <a:t>install</a:t>
            </a:r>
            <a:r>
              <a:rPr sz="2062" spc="97" dirty="0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161616"/>
                </a:solidFill>
                <a:latin typeface="Courier New"/>
                <a:cs typeface="Courier New"/>
              </a:rPr>
              <a:t>"qiskit-mcp-</a:t>
            </a:r>
            <a:r>
              <a:rPr sz="2062" spc="-12" dirty="0">
                <a:solidFill>
                  <a:srgbClr val="161616"/>
                </a:solidFill>
                <a:latin typeface="Courier New"/>
                <a:cs typeface="Courier New"/>
              </a:rPr>
              <a:t>servers[all]"</a:t>
            </a:r>
            <a:endParaRPr sz="2062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15022" y="6223081"/>
            <a:ext cx="7449459" cy="259026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1577" b="1" spc="255" dirty="0">
                <a:solidFill>
                  <a:srgbClr val="525252"/>
                </a:solidFill>
                <a:latin typeface="Calibri"/>
                <a:cs typeface="Calibri"/>
              </a:rPr>
              <a:t>CONFIG</a:t>
            </a:r>
            <a:r>
              <a:rPr sz="1577" b="1" spc="278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dirty="0">
                <a:solidFill>
                  <a:srgbClr val="525252"/>
                </a:solidFill>
                <a:latin typeface="Calibri"/>
                <a:cs typeface="Calibri"/>
              </a:rPr>
              <a:t>—</a:t>
            </a:r>
            <a:r>
              <a:rPr sz="1577" b="1" spc="267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243" dirty="0">
                <a:solidFill>
                  <a:srgbClr val="525252"/>
                </a:solidFill>
                <a:latin typeface="Calibri"/>
                <a:cs typeface="Calibri"/>
              </a:rPr>
              <a:t>CLAUDE</a:t>
            </a:r>
            <a:r>
              <a:rPr sz="1577" b="1" spc="2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212" dirty="0">
                <a:solidFill>
                  <a:srgbClr val="525252"/>
                </a:solidFill>
                <a:latin typeface="Calibri"/>
                <a:cs typeface="Calibri"/>
              </a:rPr>
              <a:t>CODE</a:t>
            </a:r>
            <a:r>
              <a:rPr sz="1577" b="1" spc="261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218" dirty="0">
                <a:solidFill>
                  <a:srgbClr val="525252"/>
                </a:solidFill>
                <a:latin typeface="Calibri"/>
                <a:cs typeface="Calibri"/>
              </a:rPr>
              <a:t>(.MCP.JSON)</a:t>
            </a:r>
            <a:r>
              <a:rPr sz="1577" b="1" spc="2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138" dirty="0">
                <a:solidFill>
                  <a:srgbClr val="525252"/>
                </a:solidFill>
                <a:latin typeface="Calibri"/>
                <a:cs typeface="Calibri"/>
              </a:rPr>
              <a:t>·</a:t>
            </a:r>
            <a:r>
              <a:rPr sz="1577" b="1" spc="22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243" dirty="0">
                <a:solidFill>
                  <a:srgbClr val="525252"/>
                </a:solidFill>
                <a:latin typeface="Calibri"/>
                <a:cs typeface="Calibri"/>
              </a:rPr>
              <a:t>CLAUDE</a:t>
            </a:r>
            <a:r>
              <a:rPr sz="1577" b="1" spc="2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261" dirty="0">
                <a:solidFill>
                  <a:srgbClr val="525252"/>
                </a:solidFill>
                <a:latin typeface="Calibri"/>
                <a:cs typeface="Calibri"/>
              </a:rPr>
              <a:t>DESKTOP</a:t>
            </a:r>
            <a:r>
              <a:rPr sz="1577" b="1" spc="2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138" dirty="0">
                <a:solidFill>
                  <a:srgbClr val="525252"/>
                </a:solidFill>
                <a:latin typeface="Calibri"/>
                <a:cs typeface="Calibri"/>
              </a:rPr>
              <a:t>·</a:t>
            </a:r>
            <a:r>
              <a:rPr sz="1577" b="1" spc="22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b="1" spc="243" dirty="0">
                <a:solidFill>
                  <a:srgbClr val="525252"/>
                </a:solidFill>
                <a:latin typeface="Calibri"/>
                <a:cs typeface="Calibri"/>
              </a:rPr>
              <a:t>CURSOR</a:t>
            </a:r>
            <a:endParaRPr sz="1577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892958" y="6719533"/>
            <a:ext cx="9782180" cy="4452887"/>
          </a:xfrm>
          <a:custGeom>
            <a:avLst/>
            <a:gdLst/>
            <a:ahLst/>
            <a:cxnLst/>
            <a:rect l="l" t="t" r="r" b="b"/>
            <a:pathLst>
              <a:path w="8065769" h="3671570">
                <a:moveTo>
                  <a:pt x="8065757" y="125742"/>
                </a:moveTo>
                <a:lnTo>
                  <a:pt x="8055877" y="76809"/>
                </a:lnTo>
                <a:lnTo>
                  <a:pt x="8028927" y="36842"/>
                </a:lnTo>
                <a:lnTo>
                  <a:pt x="7988960" y="9893"/>
                </a:lnTo>
                <a:lnTo>
                  <a:pt x="7940027" y="0"/>
                </a:lnTo>
                <a:lnTo>
                  <a:pt x="125742" y="0"/>
                </a:lnTo>
                <a:lnTo>
                  <a:pt x="76809" y="9893"/>
                </a:lnTo>
                <a:lnTo>
                  <a:pt x="36842" y="36842"/>
                </a:lnTo>
                <a:lnTo>
                  <a:pt x="9893" y="76809"/>
                </a:lnTo>
                <a:lnTo>
                  <a:pt x="0" y="125742"/>
                </a:lnTo>
                <a:lnTo>
                  <a:pt x="0" y="3545421"/>
                </a:lnTo>
                <a:lnTo>
                  <a:pt x="9893" y="3594328"/>
                </a:lnTo>
                <a:lnTo>
                  <a:pt x="36842" y="3634270"/>
                </a:lnTo>
                <a:lnTo>
                  <a:pt x="76809" y="3661181"/>
                </a:lnTo>
                <a:lnTo>
                  <a:pt x="125742" y="3671049"/>
                </a:lnTo>
                <a:lnTo>
                  <a:pt x="7940027" y="3671049"/>
                </a:lnTo>
                <a:lnTo>
                  <a:pt x="7988960" y="3661181"/>
                </a:lnTo>
                <a:lnTo>
                  <a:pt x="8028927" y="3634270"/>
                </a:lnTo>
                <a:lnTo>
                  <a:pt x="8055877" y="3594328"/>
                </a:lnTo>
                <a:lnTo>
                  <a:pt x="8065757" y="3545421"/>
                </a:lnTo>
                <a:lnTo>
                  <a:pt x="8065757" y="125742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4" name="object 14"/>
          <p:cNvSpPr txBox="1"/>
          <p:nvPr/>
        </p:nvSpPr>
        <p:spPr>
          <a:xfrm>
            <a:off x="13296201" y="7064100"/>
            <a:ext cx="3255336" cy="1497835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{</a:t>
            </a:r>
            <a:r>
              <a:rPr sz="1213" spc="-67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"mcpServers"</a:t>
            </a:r>
            <a:r>
              <a:rPr sz="1213" spc="-67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 {</a:t>
            </a:r>
            <a:endParaRPr sz="1213">
              <a:latin typeface="Courier New"/>
              <a:cs typeface="Courier New"/>
            </a:endParaRPr>
          </a:p>
          <a:p>
            <a:pPr>
              <a:spcBef>
                <a:spcPts val="49"/>
              </a:spcBef>
            </a:pPr>
            <a:endParaRPr sz="1213">
              <a:latin typeface="Courier New"/>
              <a:cs typeface="Courier New"/>
            </a:endParaRPr>
          </a:p>
          <a:p>
            <a:pPr marL="15403"/>
            <a:r>
              <a:rPr sz="1213" spc="-12" dirty="0">
                <a:solidFill>
                  <a:srgbClr val="A6C7FF"/>
                </a:solidFill>
                <a:latin typeface="Courier New"/>
                <a:cs typeface="Courier New"/>
              </a:rPr>
              <a:t>"qiskit-</a:t>
            </a: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docs"</a:t>
            </a:r>
            <a:r>
              <a:rPr sz="1213" spc="12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12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{</a:t>
            </a:r>
            <a:endParaRPr sz="1213">
              <a:latin typeface="Courier New"/>
              <a:cs typeface="Courier New"/>
            </a:endParaRPr>
          </a:p>
          <a:p>
            <a:pPr>
              <a:spcBef>
                <a:spcPts val="49"/>
              </a:spcBef>
            </a:pPr>
            <a:endParaRPr sz="1213">
              <a:latin typeface="Courier New"/>
              <a:cs typeface="Courier New"/>
            </a:endParaRPr>
          </a:p>
          <a:p>
            <a:pPr marL="15403">
              <a:spcBef>
                <a:spcPts val="6"/>
              </a:spcBef>
            </a:pP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"command"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115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D3BAFF"/>
                </a:solidFill>
                <a:latin typeface="Courier New"/>
                <a:cs typeface="Courier New"/>
              </a:rPr>
              <a:t>"uvx"</a:t>
            </a:r>
            <a:r>
              <a:rPr sz="1213" spc="-85" dirty="0">
                <a:solidFill>
                  <a:srgbClr val="D3BAFF"/>
                </a:solidFill>
                <a:latin typeface="Courier New"/>
                <a:cs typeface="Courier New"/>
              </a:rPr>
              <a:t> 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,</a:t>
            </a:r>
            <a:endParaRPr sz="1213">
              <a:latin typeface="Courier New"/>
              <a:cs typeface="Courier New"/>
            </a:endParaRPr>
          </a:p>
          <a:p>
            <a:pPr>
              <a:spcBef>
                <a:spcPts val="49"/>
              </a:spcBef>
            </a:pPr>
            <a:endParaRPr sz="1213">
              <a:latin typeface="Courier New"/>
              <a:cs typeface="Courier New"/>
            </a:endParaRPr>
          </a:p>
          <a:p>
            <a:pPr marL="15403">
              <a:lnSpc>
                <a:spcPts val="1449"/>
              </a:lnSpc>
            </a:pP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"args"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115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spc="-12" dirty="0">
                <a:solidFill>
                  <a:srgbClr val="F4F4F4"/>
                </a:solidFill>
                <a:latin typeface="Courier New"/>
                <a:cs typeface="Courier New"/>
              </a:rPr>
              <a:t>[</a:t>
            </a:r>
            <a:r>
              <a:rPr sz="1213" spc="-12" dirty="0">
                <a:solidFill>
                  <a:srgbClr val="D3BAFF"/>
                </a:solidFill>
                <a:latin typeface="Courier New"/>
                <a:cs typeface="Courier New"/>
              </a:rPr>
              <a:t>"qiskit-docs-mcp-</a:t>
            </a:r>
            <a:r>
              <a:rPr sz="1213" dirty="0">
                <a:solidFill>
                  <a:srgbClr val="D3BAFF"/>
                </a:solidFill>
                <a:latin typeface="Courier New"/>
                <a:cs typeface="Courier New"/>
              </a:rPr>
              <a:t>server"</a:t>
            </a:r>
            <a:r>
              <a:rPr sz="1213" spc="-73" dirty="0">
                <a:solidFill>
                  <a:srgbClr val="D3BAFF"/>
                </a:solidFill>
                <a:latin typeface="Courier New"/>
                <a:cs typeface="Courier New"/>
              </a:rPr>
              <a:t> 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]</a:t>
            </a:r>
            <a:endParaRPr sz="1213">
              <a:latin typeface="Courier New"/>
              <a:cs typeface="Courier New"/>
            </a:endParaRPr>
          </a:p>
          <a:p>
            <a:pPr marL="383524">
              <a:lnSpc>
                <a:spcPts val="1449"/>
              </a:lnSpc>
            </a:pPr>
            <a:r>
              <a:rPr sz="1213" spc="-30" dirty="0">
                <a:solidFill>
                  <a:srgbClr val="F4F4F4"/>
                </a:solidFill>
                <a:latin typeface="Courier New"/>
                <a:cs typeface="Courier New"/>
              </a:rPr>
              <a:t>},</a:t>
            </a:r>
            <a:endParaRPr sz="1213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96202" y="8710715"/>
            <a:ext cx="3990039" cy="963201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1213" spc="-24" dirty="0">
                <a:solidFill>
                  <a:srgbClr val="A6C7FF"/>
                </a:solidFill>
                <a:latin typeface="Courier New"/>
                <a:cs typeface="Courier New"/>
              </a:rPr>
              <a:t>"qiskit-</a:t>
            </a: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runtime" 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36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{</a:t>
            </a:r>
            <a:endParaRPr sz="1213">
              <a:latin typeface="Courier New"/>
              <a:cs typeface="Courier New"/>
            </a:endParaRPr>
          </a:p>
          <a:p>
            <a:pPr>
              <a:spcBef>
                <a:spcPts val="49"/>
              </a:spcBef>
            </a:pPr>
            <a:endParaRPr sz="1213">
              <a:latin typeface="Courier New"/>
              <a:cs typeface="Courier New"/>
            </a:endParaRPr>
          </a:p>
          <a:p>
            <a:pPr marL="15403"/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"command"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115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D3BAFF"/>
                </a:solidFill>
                <a:latin typeface="Courier New"/>
                <a:cs typeface="Courier New"/>
              </a:rPr>
              <a:t>"uvx"</a:t>
            </a:r>
            <a:r>
              <a:rPr sz="1213" spc="-85" dirty="0">
                <a:solidFill>
                  <a:srgbClr val="D3BAFF"/>
                </a:solidFill>
                <a:latin typeface="Courier New"/>
                <a:cs typeface="Courier New"/>
              </a:rPr>
              <a:t> 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,</a:t>
            </a:r>
            <a:endParaRPr sz="1213">
              <a:latin typeface="Courier New"/>
              <a:cs typeface="Courier New"/>
            </a:endParaRPr>
          </a:p>
          <a:p>
            <a:pPr>
              <a:spcBef>
                <a:spcPts val="55"/>
              </a:spcBef>
            </a:pPr>
            <a:endParaRPr sz="1213">
              <a:latin typeface="Courier New"/>
              <a:cs typeface="Courier New"/>
            </a:endParaRPr>
          </a:p>
          <a:p>
            <a:pPr marL="15403"/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"args"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73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spc="-12" dirty="0">
                <a:solidFill>
                  <a:srgbClr val="F4F4F4"/>
                </a:solidFill>
                <a:latin typeface="Courier New"/>
                <a:cs typeface="Courier New"/>
              </a:rPr>
              <a:t>[</a:t>
            </a:r>
            <a:r>
              <a:rPr sz="1213" spc="-12" dirty="0">
                <a:solidFill>
                  <a:srgbClr val="D3BAFF"/>
                </a:solidFill>
                <a:latin typeface="Courier New"/>
                <a:cs typeface="Courier New"/>
              </a:rPr>
              <a:t>"qiskit-ibm-</a:t>
            </a:r>
            <a:r>
              <a:rPr sz="1213" spc="-24" dirty="0">
                <a:solidFill>
                  <a:srgbClr val="D3BAFF"/>
                </a:solidFill>
                <a:latin typeface="Courier New"/>
                <a:cs typeface="Courier New"/>
              </a:rPr>
              <a:t>runtime-</a:t>
            </a:r>
            <a:r>
              <a:rPr sz="1213" spc="-12" dirty="0">
                <a:solidFill>
                  <a:srgbClr val="D3BAFF"/>
                </a:solidFill>
                <a:latin typeface="Courier New"/>
                <a:cs typeface="Courier New"/>
              </a:rPr>
              <a:t>mcp-</a:t>
            </a:r>
            <a:r>
              <a:rPr sz="1213" dirty="0">
                <a:solidFill>
                  <a:srgbClr val="D3BAFF"/>
                </a:solidFill>
                <a:latin typeface="Courier New"/>
                <a:cs typeface="Courier New"/>
              </a:rPr>
              <a:t>server"</a:t>
            </a:r>
            <a:r>
              <a:rPr sz="1213" spc="-24" dirty="0">
                <a:solidFill>
                  <a:srgbClr val="D3BAFF"/>
                </a:solidFill>
                <a:latin typeface="Courier New"/>
                <a:cs typeface="Courier New"/>
              </a:rPr>
              <a:t> </a:t>
            </a:r>
            <a:r>
              <a:rPr sz="1213" spc="-30" dirty="0">
                <a:solidFill>
                  <a:srgbClr val="F4F4F4"/>
                </a:solidFill>
                <a:latin typeface="Courier New"/>
                <a:cs typeface="Courier New"/>
              </a:rPr>
              <a:t>],</a:t>
            </a:r>
            <a:endParaRPr sz="1213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96201" y="9808098"/>
            <a:ext cx="3808289" cy="20376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  <a:tabLst>
                <a:tab pos="3698925" algn="l"/>
              </a:tabLst>
            </a:pP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"env"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{</a:t>
            </a:r>
            <a:r>
              <a:rPr sz="1213" spc="-42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dirty="0">
                <a:solidFill>
                  <a:srgbClr val="A6C7FF"/>
                </a:solidFill>
                <a:latin typeface="Courier New"/>
                <a:cs typeface="Courier New"/>
              </a:rPr>
              <a:t>"QISKIT_IBM_TOKEN"</a:t>
            </a: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:</a:t>
            </a:r>
            <a:r>
              <a:rPr sz="1213" spc="-49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spc="-12" dirty="0">
                <a:solidFill>
                  <a:srgbClr val="D3BAFF"/>
                </a:solidFill>
                <a:latin typeface="Courier New"/>
                <a:cs typeface="Courier New"/>
              </a:rPr>
              <a:t>"&lt;token&gt;"</a:t>
            </a:r>
            <a:r>
              <a:rPr sz="1213" dirty="0">
                <a:solidFill>
                  <a:srgbClr val="D3BAFF"/>
                </a:solidFill>
                <a:latin typeface="Courier New"/>
                <a:cs typeface="Courier New"/>
              </a:rPr>
              <a:t>	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}</a:t>
            </a:r>
            <a:endParaRPr sz="1213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64428" y="9991514"/>
            <a:ext cx="124761" cy="20376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}</a:t>
            </a:r>
            <a:endParaRPr sz="1213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96201" y="10174040"/>
            <a:ext cx="307282" cy="20376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1213" dirty="0">
                <a:solidFill>
                  <a:srgbClr val="F4F4F4"/>
                </a:solidFill>
                <a:latin typeface="Courier New"/>
                <a:cs typeface="Courier New"/>
              </a:rPr>
              <a:t>}</a:t>
            </a:r>
            <a:r>
              <a:rPr sz="1213" spc="-18" dirty="0">
                <a:solidFill>
                  <a:srgbClr val="F4F4F4"/>
                </a:solidFill>
                <a:latin typeface="Courier New"/>
                <a:cs typeface="Courier New"/>
              </a:rPr>
              <a:t> </a:t>
            </a:r>
            <a:r>
              <a:rPr sz="1213" spc="-61" dirty="0">
                <a:solidFill>
                  <a:srgbClr val="F4F4F4"/>
                </a:solidFill>
                <a:latin typeface="Courier New"/>
                <a:cs typeface="Courier New"/>
              </a:rPr>
              <a:t>}</a:t>
            </a:r>
            <a:endParaRPr sz="1213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4152" y="12033784"/>
            <a:ext cx="12875789" cy="92166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2062" i="1" spc="109" dirty="0">
                <a:solidFill>
                  <a:srgbClr val="525252"/>
                </a:solidFill>
                <a:latin typeface="Calibri"/>
                <a:cs typeface="Calibri"/>
              </a:rPr>
              <a:t>T</a:t>
            </a:r>
            <a:r>
              <a:rPr lang="en-US" sz="2062" i="1" spc="109" dirty="0">
                <a:solidFill>
                  <a:srgbClr val="525252"/>
                </a:solidFill>
                <a:latin typeface="Calibri"/>
                <a:cs typeface="Calibri"/>
              </a:rPr>
              <a:t>ry</a:t>
            </a:r>
            <a:r>
              <a:rPr sz="2062" i="1" spc="36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62" i="1" spc="115" dirty="0">
                <a:solidFill>
                  <a:srgbClr val="525252"/>
                </a:solidFill>
                <a:latin typeface="Calibri"/>
                <a:cs typeface="Calibri"/>
              </a:rPr>
              <a:t>Docs</a:t>
            </a:r>
            <a:r>
              <a:rPr sz="2062" i="1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62" i="1" dirty="0">
                <a:solidFill>
                  <a:srgbClr val="525252"/>
                </a:solidFill>
                <a:latin typeface="Calibri"/>
                <a:cs typeface="Calibri"/>
              </a:rPr>
              <a:t>firs</a:t>
            </a:r>
            <a:r>
              <a:rPr lang="en-US" sz="2062" i="1" dirty="0">
                <a:solidFill>
                  <a:srgbClr val="525252"/>
                </a:solidFill>
                <a:latin typeface="Calibri"/>
                <a:cs typeface="Calibri"/>
              </a:rPr>
              <a:t>t.  Use</a:t>
            </a:r>
            <a:r>
              <a:rPr sz="2062" i="1" spc="73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62" i="1" spc="97" dirty="0">
                <a:solidFill>
                  <a:srgbClr val="525252"/>
                </a:solidFill>
                <a:latin typeface="Calibri"/>
                <a:cs typeface="Calibri"/>
              </a:rPr>
              <a:t>Runtime</a:t>
            </a:r>
            <a:r>
              <a:rPr sz="2062" i="1" spc="79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62" i="1" spc="85" dirty="0">
                <a:solidFill>
                  <a:srgbClr val="525252"/>
                </a:solidFill>
                <a:latin typeface="Calibri"/>
                <a:cs typeface="Calibri"/>
              </a:rPr>
              <a:t>only</a:t>
            </a:r>
            <a:r>
              <a:rPr sz="2062" i="1" spc="61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62" i="1" spc="73" dirty="0">
                <a:solidFill>
                  <a:srgbClr val="525252"/>
                </a:solidFill>
                <a:latin typeface="Calibri"/>
                <a:cs typeface="Calibri"/>
              </a:rPr>
              <a:t>whe</a:t>
            </a:r>
            <a:r>
              <a:rPr lang="en-US" sz="2062" i="1" spc="73" dirty="0">
                <a:solidFill>
                  <a:srgbClr val="525252"/>
                </a:solidFill>
                <a:latin typeface="Calibri"/>
                <a:cs typeface="Calibri"/>
              </a:rPr>
              <a:t>n ready to use</a:t>
            </a:r>
            <a:r>
              <a:rPr sz="2062" i="1" spc="6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62" i="1" spc="121" dirty="0">
                <a:solidFill>
                  <a:srgbClr val="525252"/>
                </a:solidFill>
                <a:latin typeface="Calibri"/>
                <a:cs typeface="Calibri"/>
              </a:rPr>
              <a:t>real-</a:t>
            </a:r>
            <a:r>
              <a:rPr sz="2062" i="1" spc="85" dirty="0">
                <a:solidFill>
                  <a:srgbClr val="525252"/>
                </a:solidFill>
                <a:latin typeface="Calibri"/>
                <a:cs typeface="Calibri"/>
              </a:rPr>
              <a:t>hardware</a:t>
            </a:r>
            <a:r>
              <a:rPr sz="2062" i="1" spc="61" dirty="0">
                <a:solidFill>
                  <a:srgbClr val="525252"/>
                </a:solidFill>
                <a:latin typeface="Calibri"/>
                <a:cs typeface="Calibri"/>
              </a:rPr>
              <a:t>.</a:t>
            </a:r>
            <a:endParaRPr lang="en-US" sz="2062" i="1" spc="61" dirty="0">
              <a:latin typeface="Calibri"/>
              <a:cs typeface="Calibri"/>
            </a:endParaRPr>
          </a:p>
          <a:p>
            <a:pPr marL="15403">
              <a:spcBef>
                <a:spcPts val="146"/>
              </a:spcBef>
            </a:pPr>
            <a:endParaRPr lang="en-US" sz="2062" i="1" spc="61" dirty="0">
              <a:solidFill>
                <a:srgbClr val="525252"/>
              </a:solidFill>
              <a:latin typeface="Calibri"/>
              <a:cs typeface="Calibri"/>
            </a:endParaRPr>
          </a:p>
          <a:p>
            <a:pPr marL="15403">
              <a:spcBef>
                <a:spcPts val="146"/>
              </a:spcBef>
            </a:pPr>
            <a:r>
              <a:rPr sz="1577" dirty="0">
                <a:solidFill>
                  <a:srgbClr val="525252"/>
                </a:solidFill>
                <a:latin typeface="Calibri"/>
                <a:cs typeface="Calibri"/>
              </a:rPr>
              <a:t>© </a:t>
            </a:r>
            <a:r>
              <a:rPr sz="1577" spc="146" dirty="0">
                <a:solidFill>
                  <a:srgbClr val="525252"/>
                </a:solidFill>
                <a:latin typeface="Calibri"/>
                <a:cs typeface="Calibri"/>
              </a:rPr>
              <a:t>202</a:t>
            </a:r>
            <a:r>
              <a:rPr lang="en-US" sz="1577" spc="146" dirty="0">
                <a:solidFill>
                  <a:srgbClr val="525252"/>
                </a:solidFill>
                <a:latin typeface="Calibri"/>
                <a:cs typeface="Calibri"/>
              </a:rPr>
              <a:t>6</a:t>
            </a:r>
            <a:r>
              <a:rPr sz="1577" spc="18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spc="97" dirty="0">
                <a:solidFill>
                  <a:srgbClr val="525252"/>
                </a:solidFill>
                <a:latin typeface="Calibri"/>
                <a:cs typeface="Calibri"/>
              </a:rPr>
              <a:t>IBM</a:t>
            </a:r>
            <a:r>
              <a:rPr sz="1577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77" spc="42" dirty="0">
                <a:solidFill>
                  <a:srgbClr val="525252"/>
                </a:solidFill>
                <a:latin typeface="Calibri"/>
                <a:cs typeface="Calibri"/>
              </a:rPr>
              <a:t>Corporation</a:t>
            </a:r>
            <a:endParaRPr sz="1577" dirty="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4231" y="598929"/>
            <a:ext cx="2715267" cy="26972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8728E6-DCCF-8015-2775-4E5144CAA2C8}"/>
              </a:ext>
            </a:extLst>
          </p:cNvPr>
          <p:cNvSpPr txBox="1"/>
          <p:nvPr/>
        </p:nvSpPr>
        <p:spPr>
          <a:xfrm>
            <a:off x="9097072" y="1562104"/>
            <a:ext cx="95187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</a:t>
            </a:r>
            <a:r>
              <a:rPr lang="en-US" sz="2400" b="1" dirty="0"/>
              <a:t>MCP Server</a:t>
            </a:r>
            <a:r>
              <a:rPr lang="en-US" sz="2400" dirty="0"/>
              <a:t> (Model Context Protocol Server) is a lightweight helper program that gives AI models a secure, standardized way to connect to external data sources, databases, and tools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9508" y="3565464"/>
            <a:ext cx="12067924" cy="6583064"/>
          </a:xfrm>
          <a:custGeom>
            <a:avLst/>
            <a:gdLst/>
            <a:ahLst/>
            <a:cxnLst/>
            <a:rect l="l" t="t" r="r" b="b"/>
            <a:pathLst>
              <a:path w="9950450" h="5427980">
                <a:moveTo>
                  <a:pt x="9844752" y="0"/>
                </a:moveTo>
                <a:lnTo>
                  <a:pt x="105512" y="0"/>
                </a:lnTo>
                <a:lnTo>
                  <a:pt x="64441" y="8288"/>
                </a:lnTo>
                <a:lnTo>
                  <a:pt x="30903" y="30898"/>
                </a:lnTo>
                <a:lnTo>
                  <a:pt x="8291" y="64441"/>
                </a:lnTo>
                <a:lnTo>
                  <a:pt x="0" y="105533"/>
                </a:lnTo>
                <a:lnTo>
                  <a:pt x="0" y="5321999"/>
                </a:lnTo>
                <a:lnTo>
                  <a:pt x="8291" y="5363030"/>
                </a:lnTo>
                <a:lnTo>
                  <a:pt x="30903" y="5396543"/>
                </a:lnTo>
                <a:lnTo>
                  <a:pt x="64441" y="5419141"/>
                </a:lnTo>
                <a:lnTo>
                  <a:pt x="105512" y="5427428"/>
                </a:lnTo>
                <a:lnTo>
                  <a:pt x="9844752" y="5427428"/>
                </a:lnTo>
                <a:lnTo>
                  <a:pt x="9885843" y="5419141"/>
                </a:lnTo>
                <a:lnTo>
                  <a:pt x="9919387" y="5396543"/>
                </a:lnTo>
                <a:lnTo>
                  <a:pt x="9941996" y="5363030"/>
                </a:lnTo>
                <a:lnTo>
                  <a:pt x="9950285" y="5321999"/>
                </a:lnTo>
                <a:lnTo>
                  <a:pt x="9950285" y="105533"/>
                </a:lnTo>
                <a:lnTo>
                  <a:pt x="9941996" y="64441"/>
                </a:lnTo>
                <a:lnTo>
                  <a:pt x="9919387" y="30898"/>
                </a:lnTo>
                <a:lnTo>
                  <a:pt x="9885843" y="8288"/>
                </a:lnTo>
                <a:lnTo>
                  <a:pt x="9844752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" name="object 3"/>
          <p:cNvSpPr txBox="1"/>
          <p:nvPr/>
        </p:nvSpPr>
        <p:spPr>
          <a:xfrm>
            <a:off x="1488522" y="3695832"/>
            <a:ext cx="7562668" cy="4656887"/>
          </a:xfrm>
          <a:prstGeom prst="rect">
            <a:avLst/>
          </a:prstGeom>
        </p:spPr>
        <p:txBody>
          <a:bodyPr vert="horz" wrap="square" lIns="0" tIns="141703" rIns="0" bIns="0" rtlCol="0">
            <a:spAutoFit/>
          </a:bodyPr>
          <a:lstStyle/>
          <a:p>
            <a:pPr marL="15403">
              <a:spcBef>
                <a:spcPts val="1115"/>
              </a:spcBef>
            </a:pPr>
            <a:r>
              <a:rPr sz="2001" b="1" spc="-12" dirty="0">
                <a:solidFill>
                  <a:srgbClr val="A8A8A8"/>
                </a:solidFill>
                <a:latin typeface="Arial"/>
                <a:cs typeface="Arial"/>
              </a:rPr>
              <a:t>vanilla_llm_output.py</a:t>
            </a:r>
            <a:endParaRPr sz="2001">
              <a:latin typeface="Arial"/>
              <a:cs typeface="Arial"/>
            </a:endParaRPr>
          </a:p>
          <a:p>
            <a:pPr marL="15403" marR="6161">
              <a:lnSpc>
                <a:spcPct val="117900"/>
              </a:lnSpc>
              <a:spcBef>
                <a:spcPts val="606"/>
              </a:spcBef>
            </a:pP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#</a:t>
            </a:r>
            <a:r>
              <a:rPr sz="2062" i="1" spc="30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what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a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frontier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model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happily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writes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in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spc="-12" dirty="0">
                <a:solidFill>
                  <a:srgbClr val="797979"/>
                </a:solidFill>
                <a:latin typeface="Courier New"/>
                <a:cs typeface="Courier New"/>
              </a:rPr>
              <a:t>2026: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from</a:t>
            </a:r>
            <a:r>
              <a:rPr sz="2062" spc="55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qiskit</a:t>
            </a:r>
            <a:r>
              <a:rPr sz="2062" spc="73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import</a:t>
            </a:r>
            <a:r>
              <a:rPr sz="2062" spc="67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QuantumCircuit,</a:t>
            </a:r>
            <a:r>
              <a:rPr sz="2062" spc="73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FF8388"/>
                </a:solidFill>
                <a:latin typeface="Courier New"/>
                <a:cs typeface="Courier New"/>
              </a:rPr>
              <a:t>execute 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from</a:t>
            </a:r>
            <a:r>
              <a:rPr sz="2062" spc="49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qiskit</a:t>
            </a:r>
            <a:r>
              <a:rPr sz="2062" spc="49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import</a:t>
            </a:r>
            <a:r>
              <a:rPr sz="2062" spc="49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24" dirty="0">
                <a:solidFill>
                  <a:srgbClr val="FF8388"/>
                </a:solidFill>
                <a:latin typeface="Courier New"/>
                <a:cs typeface="Courier New"/>
              </a:rPr>
              <a:t>IBMQ</a:t>
            </a:r>
            <a:endParaRPr sz="2062">
              <a:latin typeface="Courier New"/>
              <a:cs typeface="Courier New"/>
            </a:endParaRPr>
          </a:p>
          <a:p>
            <a:pPr marL="15403">
              <a:spcBef>
                <a:spcPts val="406"/>
              </a:spcBef>
            </a:pPr>
            <a:r>
              <a:rPr sz="2062" spc="-12" dirty="0">
                <a:solidFill>
                  <a:srgbClr val="FF8388"/>
                </a:solidFill>
                <a:latin typeface="Courier New"/>
                <a:cs typeface="Courier New"/>
              </a:rPr>
              <a:t>IBMQ.load_account()</a:t>
            </a:r>
            <a:endParaRPr sz="2062">
              <a:latin typeface="Courier New"/>
              <a:cs typeface="Courier New"/>
            </a:endParaRPr>
          </a:p>
          <a:p>
            <a:pPr marL="656919" marR="2572998" indent="-642287">
              <a:lnSpc>
                <a:spcPct val="116500"/>
              </a:lnSpc>
            </a:pP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backend</a:t>
            </a:r>
            <a:r>
              <a:rPr sz="2062" spc="18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=</a:t>
            </a:r>
            <a:r>
              <a:rPr sz="2062" spc="36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FF8388"/>
                </a:solidFill>
                <a:latin typeface="Courier New"/>
                <a:cs typeface="Courier New"/>
              </a:rPr>
              <a:t>provider.get_backend( 'ibmq_qasm_simulator')</a:t>
            </a:r>
            <a:endParaRPr sz="2062">
              <a:latin typeface="Courier New"/>
              <a:cs typeface="Courier New"/>
            </a:endParaRPr>
          </a:p>
          <a:p>
            <a:pPr marL="15403">
              <a:spcBef>
                <a:spcPts val="479"/>
              </a:spcBef>
            </a:pP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job</a:t>
            </a:r>
            <a:r>
              <a:rPr sz="2062" spc="30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=</a:t>
            </a:r>
            <a:r>
              <a:rPr sz="2062" spc="49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execute(qc,</a:t>
            </a:r>
            <a:r>
              <a:rPr sz="2062" spc="49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backend,</a:t>
            </a:r>
            <a:r>
              <a:rPr sz="2062" spc="49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FF8388"/>
                </a:solidFill>
                <a:latin typeface="Courier New"/>
                <a:cs typeface="Courier New"/>
              </a:rPr>
              <a:t>shots=1024)</a:t>
            </a:r>
            <a:endParaRPr sz="2062">
              <a:latin typeface="Courier New"/>
              <a:cs typeface="Courier New"/>
            </a:endParaRPr>
          </a:p>
          <a:p>
            <a:pPr>
              <a:spcBef>
                <a:spcPts val="952"/>
              </a:spcBef>
            </a:pPr>
            <a:endParaRPr sz="2062">
              <a:latin typeface="Courier New"/>
              <a:cs typeface="Courier New"/>
            </a:endParaRPr>
          </a:p>
          <a:p>
            <a:pPr marL="15403"/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#</a:t>
            </a:r>
            <a:r>
              <a:rPr sz="2062" i="1" spc="36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execute():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removed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in</a:t>
            </a:r>
            <a:r>
              <a:rPr sz="2062" i="1" spc="49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Qiskit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1.0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spc="-12" dirty="0">
                <a:solidFill>
                  <a:srgbClr val="797979"/>
                </a:solidFill>
                <a:latin typeface="Courier New"/>
                <a:cs typeface="Courier New"/>
              </a:rPr>
              <a:t>(2024)</a:t>
            </a:r>
            <a:endParaRPr sz="2062">
              <a:latin typeface="Courier New"/>
              <a:cs typeface="Courier New"/>
            </a:endParaRPr>
          </a:p>
          <a:p>
            <a:pPr marL="15403">
              <a:spcBef>
                <a:spcPts val="406"/>
              </a:spcBef>
            </a:pP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#</a:t>
            </a:r>
            <a:r>
              <a:rPr sz="2062" i="1" spc="36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IBMQ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provider: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gone.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That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backend: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spc="-12" dirty="0">
                <a:solidFill>
                  <a:srgbClr val="797979"/>
                </a:solidFill>
                <a:latin typeface="Courier New"/>
                <a:cs typeface="Courier New"/>
              </a:rPr>
              <a:t>retired.</a:t>
            </a:r>
            <a:endParaRPr sz="2062">
              <a:latin typeface="Courier New"/>
              <a:cs typeface="Courier New"/>
            </a:endParaRPr>
          </a:p>
          <a:p>
            <a:pPr marL="15403">
              <a:spcBef>
                <a:spcPts val="479"/>
              </a:spcBef>
            </a:pPr>
            <a:r>
              <a:rPr sz="2062" dirty="0">
                <a:solidFill>
                  <a:srgbClr val="FFB3B8"/>
                </a:solidFill>
                <a:latin typeface="Courier New"/>
                <a:cs typeface="Courier New"/>
              </a:rPr>
              <a:t>ImportError:</a:t>
            </a:r>
            <a:r>
              <a:rPr sz="2062" spc="42" dirty="0">
                <a:solidFill>
                  <a:srgbClr val="FFB3B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B3B8"/>
                </a:solidFill>
                <a:latin typeface="Courier New"/>
                <a:cs typeface="Courier New"/>
              </a:rPr>
              <a:t>cannot</a:t>
            </a:r>
            <a:r>
              <a:rPr sz="2062" spc="61" dirty="0">
                <a:solidFill>
                  <a:srgbClr val="FFB3B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B3B8"/>
                </a:solidFill>
                <a:latin typeface="Courier New"/>
                <a:cs typeface="Courier New"/>
              </a:rPr>
              <a:t>import</a:t>
            </a:r>
            <a:r>
              <a:rPr sz="2062" spc="61" dirty="0">
                <a:solidFill>
                  <a:srgbClr val="FFB3B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B3B8"/>
                </a:solidFill>
                <a:latin typeface="Courier New"/>
                <a:cs typeface="Courier New"/>
              </a:rPr>
              <a:t>name</a:t>
            </a:r>
            <a:r>
              <a:rPr sz="2062" spc="61" dirty="0">
                <a:solidFill>
                  <a:srgbClr val="FFB3B8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FFB3B8"/>
                </a:solidFill>
                <a:latin typeface="Courier New"/>
                <a:cs typeface="Courier New"/>
              </a:rPr>
              <a:t>'execute'</a:t>
            </a:r>
            <a:endParaRPr sz="2062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24343" y="3565464"/>
            <a:ext cx="9654338" cy="2011577"/>
          </a:xfrm>
          <a:custGeom>
            <a:avLst/>
            <a:gdLst/>
            <a:ahLst/>
            <a:cxnLst/>
            <a:rect l="l" t="t" r="r" b="b"/>
            <a:pathLst>
              <a:path w="7960359" h="1658620">
                <a:moveTo>
                  <a:pt x="7839618" y="0"/>
                </a:moveTo>
                <a:lnTo>
                  <a:pt x="120609" y="0"/>
                </a:lnTo>
                <a:lnTo>
                  <a:pt x="73673" y="9481"/>
                </a:lnTo>
                <a:lnTo>
                  <a:pt x="35334" y="35334"/>
                </a:lnTo>
                <a:lnTo>
                  <a:pt x="9481" y="73673"/>
                </a:lnTo>
                <a:lnTo>
                  <a:pt x="0" y="120609"/>
                </a:lnTo>
                <a:lnTo>
                  <a:pt x="0" y="1537771"/>
                </a:lnTo>
                <a:lnTo>
                  <a:pt x="9481" y="1584707"/>
                </a:lnTo>
                <a:lnTo>
                  <a:pt x="35334" y="1623046"/>
                </a:lnTo>
                <a:lnTo>
                  <a:pt x="73673" y="1648899"/>
                </a:lnTo>
                <a:lnTo>
                  <a:pt x="120609" y="1658380"/>
                </a:lnTo>
                <a:lnTo>
                  <a:pt x="7839618" y="1658380"/>
                </a:lnTo>
                <a:lnTo>
                  <a:pt x="7886555" y="1648899"/>
                </a:lnTo>
                <a:lnTo>
                  <a:pt x="7924893" y="1623046"/>
                </a:lnTo>
                <a:lnTo>
                  <a:pt x="7950746" y="1584707"/>
                </a:lnTo>
                <a:lnTo>
                  <a:pt x="7960228" y="1537771"/>
                </a:lnTo>
                <a:lnTo>
                  <a:pt x="7960228" y="120609"/>
                </a:lnTo>
                <a:lnTo>
                  <a:pt x="7950746" y="73673"/>
                </a:lnTo>
                <a:lnTo>
                  <a:pt x="7924893" y="35334"/>
                </a:lnTo>
                <a:lnTo>
                  <a:pt x="7886555" y="9481"/>
                </a:lnTo>
                <a:lnTo>
                  <a:pt x="7839618" y="0"/>
                </a:lnTo>
                <a:close/>
              </a:path>
            </a:pathLst>
          </a:custGeom>
          <a:solidFill>
            <a:srgbClr val="FFEFF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" name="object 5"/>
          <p:cNvSpPr txBox="1"/>
          <p:nvPr/>
        </p:nvSpPr>
        <p:spPr>
          <a:xfrm>
            <a:off x="14073036" y="3722664"/>
            <a:ext cx="8469880" cy="1362805"/>
          </a:xfrm>
          <a:prstGeom prst="rect">
            <a:avLst/>
          </a:prstGeom>
        </p:spPr>
        <p:txBody>
          <a:bodyPr vert="horz" wrap="square" lIns="0" tIns="174049" rIns="0" bIns="0" rtlCol="0">
            <a:spAutoFit/>
          </a:bodyPr>
          <a:lstStyle/>
          <a:p>
            <a:pPr marL="15403">
              <a:spcBef>
                <a:spcPts val="1370"/>
              </a:spcBef>
            </a:pP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Trained</a:t>
            </a:r>
            <a:r>
              <a:rPr sz="2547" b="1" spc="79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on</a:t>
            </a:r>
            <a:r>
              <a:rPr sz="2547" b="1" spc="79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the</a:t>
            </a:r>
            <a:r>
              <a:rPr sz="2547" b="1" spc="97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2023</a:t>
            </a:r>
            <a:r>
              <a:rPr sz="2547" b="1" spc="121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spc="-12" dirty="0">
                <a:solidFill>
                  <a:srgbClr val="D0256F"/>
                </a:solidFill>
                <a:latin typeface="Arial"/>
                <a:cs typeface="Arial"/>
              </a:rPr>
              <a:t>internet</a:t>
            </a:r>
            <a:endParaRPr sz="2547">
              <a:latin typeface="Arial"/>
              <a:cs typeface="Arial"/>
            </a:endParaRPr>
          </a:p>
          <a:p>
            <a:pPr marL="15403">
              <a:lnSpc>
                <a:spcPts val="2644"/>
              </a:lnSpc>
              <a:spcBef>
                <a:spcPts val="1043"/>
              </a:spcBef>
            </a:pP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Most</a:t>
            </a:r>
            <a:r>
              <a:rPr sz="2244" spc="-15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public</a:t>
            </a:r>
            <a:r>
              <a:rPr sz="2244" spc="-12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Qiskit</a:t>
            </a:r>
            <a:r>
              <a:rPr sz="2244" spc="-10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code</a:t>
            </a:r>
            <a:r>
              <a:rPr sz="2244" spc="-8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predates</a:t>
            </a:r>
            <a:r>
              <a:rPr sz="2244" spc="-10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1.0</a:t>
            </a:r>
            <a:r>
              <a:rPr sz="2244" spc="-9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—</a:t>
            </a:r>
            <a:r>
              <a:rPr sz="2244" spc="-12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models</a:t>
            </a:r>
            <a:r>
              <a:rPr sz="2244" spc="-10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30" dirty="0">
                <a:solidFill>
                  <a:srgbClr val="525252"/>
                </a:solidFill>
                <a:latin typeface="Arial"/>
                <a:cs typeface="Arial"/>
              </a:rPr>
              <a:t>learned</a:t>
            </a:r>
            <a:r>
              <a:rPr sz="2244" spc="-13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APIs</a:t>
            </a:r>
            <a:r>
              <a:rPr sz="2244" spc="-10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that</a:t>
            </a:r>
            <a:r>
              <a:rPr sz="2244" spc="-10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30" dirty="0">
                <a:solidFill>
                  <a:srgbClr val="525252"/>
                </a:solidFill>
                <a:latin typeface="Arial"/>
                <a:cs typeface="Arial"/>
              </a:rPr>
              <a:t>no</a:t>
            </a:r>
            <a:endParaRPr sz="2244">
              <a:latin typeface="Arial"/>
              <a:cs typeface="Arial"/>
            </a:endParaRPr>
          </a:p>
          <a:p>
            <a:pPr marL="15403">
              <a:lnSpc>
                <a:spcPts val="2644"/>
              </a:lnSpc>
            </a:pP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longer</a:t>
            </a:r>
            <a:r>
              <a:rPr sz="2244" spc="-13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exist.</a:t>
            </a:r>
            <a:endParaRPr sz="2244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24343" y="5851018"/>
            <a:ext cx="9654338" cy="2011577"/>
          </a:xfrm>
          <a:custGeom>
            <a:avLst/>
            <a:gdLst/>
            <a:ahLst/>
            <a:cxnLst/>
            <a:rect l="l" t="t" r="r" b="b"/>
            <a:pathLst>
              <a:path w="7960359" h="1658620">
                <a:moveTo>
                  <a:pt x="7839618" y="0"/>
                </a:moveTo>
                <a:lnTo>
                  <a:pt x="120609" y="0"/>
                </a:lnTo>
                <a:lnTo>
                  <a:pt x="73673" y="9481"/>
                </a:lnTo>
                <a:lnTo>
                  <a:pt x="35334" y="35334"/>
                </a:lnTo>
                <a:lnTo>
                  <a:pt x="9481" y="73673"/>
                </a:lnTo>
                <a:lnTo>
                  <a:pt x="0" y="120609"/>
                </a:lnTo>
                <a:lnTo>
                  <a:pt x="0" y="1537771"/>
                </a:lnTo>
                <a:lnTo>
                  <a:pt x="9481" y="1584751"/>
                </a:lnTo>
                <a:lnTo>
                  <a:pt x="35334" y="1623085"/>
                </a:lnTo>
                <a:lnTo>
                  <a:pt x="73673" y="1648914"/>
                </a:lnTo>
                <a:lnTo>
                  <a:pt x="120609" y="1658380"/>
                </a:lnTo>
                <a:lnTo>
                  <a:pt x="7839618" y="1658380"/>
                </a:lnTo>
                <a:lnTo>
                  <a:pt x="7886555" y="1648914"/>
                </a:lnTo>
                <a:lnTo>
                  <a:pt x="7924893" y="1623085"/>
                </a:lnTo>
                <a:lnTo>
                  <a:pt x="7950746" y="1584751"/>
                </a:lnTo>
                <a:lnTo>
                  <a:pt x="7960228" y="1537771"/>
                </a:lnTo>
                <a:lnTo>
                  <a:pt x="7960228" y="120609"/>
                </a:lnTo>
                <a:lnTo>
                  <a:pt x="7950746" y="73673"/>
                </a:lnTo>
                <a:lnTo>
                  <a:pt x="7924893" y="35334"/>
                </a:lnTo>
                <a:lnTo>
                  <a:pt x="7886555" y="9481"/>
                </a:lnTo>
                <a:lnTo>
                  <a:pt x="7839618" y="0"/>
                </a:lnTo>
                <a:close/>
              </a:path>
            </a:pathLst>
          </a:custGeom>
          <a:solidFill>
            <a:srgbClr val="FFEFF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7" name="object 7"/>
          <p:cNvSpPr txBox="1"/>
          <p:nvPr/>
        </p:nvSpPr>
        <p:spPr>
          <a:xfrm>
            <a:off x="14073036" y="6010015"/>
            <a:ext cx="8753287" cy="1362805"/>
          </a:xfrm>
          <a:prstGeom prst="rect">
            <a:avLst/>
          </a:prstGeom>
        </p:spPr>
        <p:txBody>
          <a:bodyPr vert="horz" wrap="square" lIns="0" tIns="174049" rIns="0" bIns="0" rtlCol="0">
            <a:spAutoFit/>
          </a:bodyPr>
          <a:lstStyle/>
          <a:p>
            <a:pPr marL="15403">
              <a:spcBef>
                <a:spcPts val="1370"/>
              </a:spcBef>
            </a:pP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Prompting</a:t>
            </a:r>
            <a:r>
              <a:rPr sz="2547" b="1" spc="109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isn't</a:t>
            </a:r>
            <a:r>
              <a:rPr sz="2547" b="1" spc="115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spc="-12" dirty="0">
                <a:solidFill>
                  <a:srgbClr val="D0256F"/>
                </a:solidFill>
                <a:latin typeface="Arial"/>
                <a:cs typeface="Arial"/>
              </a:rPr>
              <a:t>enough</a:t>
            </a:r>
            <a:endParaRPr sz="2547">
              <a:latin typeface="Arial"/>
              <a:cs typeface="Arial"/>
            </a:endParaRPr>
          </a:p>
          <a:p>
            <a:pPr marL="15403">
              <a:lnSpc>
                <a:spcPts val="2644"/>
              </a:lnSpc>
              <a:spcBef>
                <a:spcPts val="1037"/>
              </a:spcBef>
            </a:pP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Saying</a:t>
            </a:r>
            <a:r>
              <a:rPr sz="2244" spc="-7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“use</a:t>
            </a:r>
            <a:r>
              <a:rPr sz="2244" spc="-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Qiskit</a:t>
            </a:r>
            <a:r>
              <a:rPr sz="2244" spc="-9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2.x”</a:t>
            </a:r>
            <a:r>
              <a:rPr sz="2244" spc="-13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sz="2244" spc="-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244" spc="-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prompt</a:t>
            </a:r>
            <a:r>
              <a:rPr sz="2244" spc="-9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is</a:t>
            </a:r>
            <a:r>
              <a:rPr sz="2244" spc="-8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often</a:t>
            </a:r>
            <a:r>
              <a:rPr sz="2244" spc="-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24" dirty="0">
                <a:solidFill>
                  <a:srgbClr val="525252"/>
                </a:solidFill>
                <a:latin typeface="Arial"/>
                <a:cs typeface="Arial"/>
              </a:rPr>
              <a:t>ignored</a:t>
            </a:r>
            <a:r>
              <a:rPr sz="2244" spc="-13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36" dirty="0">
                <a:solidFill>
                  <a:srgbClr val="525252"/>
                </a:solidFill>
                <a:latin typeface="Arial"/>
                <a:cs typeface="Arial"/>
              </a:rPr>
              <a:t>(QUANTUM-</a:t>
            </a:r>
            <a:r>
              <a:rPr sz="2244" spc="-24" dirty="0">
                <a:solidFill>
                  <a:srgbClr val="525252"/>
                </a:solidFill>
                <a:latin typeface="Arial"/>
                <a:cs typeface="Arial"/>
              </a:rPr>
              <a:t>API-</a:t>
            </a:r>
            <a:endParaRPr sz="2244">
              <a:latin typeface="Arial"/>
              <a:cs typeface="Arial"/>
            </a:endParaRPr>
          </a:p>
          <a:p>
            <a:pPr marL="15403">
              <a:lnSpc>
                <a:spcPts val="2644"/>
              </a:lnSpc>
            </a:pPr>
            <a:r>
              <a:rPr sz="2244" spc="-24" dirty="0">
                <a:solidFill>
                  <a:srgbClr val="525252"/>
                </a:solidFill>
                <a:latin typeface="Arial"/>
                <a:cs typeface="Arial"/>
              </a:rPr>
              <a:t>DRIFT</a:t>
            </a:r>
            <a:r>
              <a:rPr sz="2244" spc="-9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24" dirty="0">
                <a:solidFill>
                  <a:srgbClr val="525252"/>
                </a:solidFill>
                <a:latin typeface="Arial"/>
                <a:cs typeface="Arial"/>
              </a:rPr>
              <a:t>benchmark,</a:t>
            </a:r>
            <a:r>
              <a:rPr sz="2244" spc="-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Jul</a:t>
            </a:r>
            <a:r>
              <a:rPr sz="2244" spc="-7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2026).</a:t>
            </a:r>
            <a:endParaRPr sz="2244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624343" y="8136572"/>
            <a:ext cx="9654338" cy="2011577"/>
          </a:xfrm>
          <a:custGeom>
            <a:avLst/>
            <a:gdLst/>
            <a:ahLst/>
            <a:cxnLst/>
            <a:rect l="l" t="t" r="r" b="b"/>
            <a:pathLst>
              <a:path w="7960359" h="1658620">
                <a:moveTo>
                  <a:pt x="7839618" y="0"/>
                </a:moveTo>
                <a:lnTo>
                  <a:pt x="120609" y="0"/>
                </a:lnTo>
                <a:lnTo>
                  <a:pt x="73673" y="9481"/>
                </a:lnTo>
                <a:lnTo>
                  <a:pt x="35334" y="35334"/>
                </a:lnTo>
                <a:lnTo>
                  <a:pt x="9481" y="73673"/>
                </a:lnTo>
                <a:lnTo>
                  <a:pt x="0" y="120609"/>
                </a:lnTo>
                <a:lnTo>
                  <a:pt x="0" y="1537771"/>
                </a:lnTo>
                <a:lnTo>
                  <a:pt x="9481" y="1584751"/>
                </a:lnTo>
                <a:lnTo>
                  <a:pt x="35334" y="1623085"/>
                </a:lnTo>
                <a:lnTo>
                  <a:pt x="73673" y="1648914"/>
                </a:lnTo>
                <a:lnTo>
                  <a:pt x="120609" y="1658380"/>
                </a:lnTo>
                <a:lnTo>
                  <a:pt x="7839618" y="1658380"/>
                </a:lnTo>
                <a:lnTo>
                  <a:pt x="7886555" y="1648914"/>
                </a:lnTo>
                <a:lnTo>
                  <a:pt x="7924893" y="1623085"/>
                </a:lnTo>
                <a:lnTo>
                  <a:pt x="7950746" y="1584751"/>
                </a:lnTo>
                <a:lnTo>
                  <a:pt x="7960228" y="1537771"/>
                </a:lnTo>
                <a:lnTo>
                  <a:pt x="7960228" y="120609"/>
                </a:lnTo>
                <a:lnTo>
                  <a:pt x="7950746" y="73673"/>
                </a:lnTo>
                <a:lnTo>
                  <a:pt x="7924893" y="35334"/>
                </a:lnTo>
                <a:lnTo>
                  <a:pt x="7886555" y="9481"/>
                </a:lnTo>
                <a:lnTo>
                  <a:pt x="7839618" y="0"/>
                </a:lnTo>
                <a:close/>
              </a:path>
            </a:pathLst>
          </a:custGeom>
          <a:solidFill>
            <a:srgbClr val="FFEFF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9" name="object 9"/>
          <p:cNvSpPr txBox="1"/>
          <p:nvPr/>
        </p:nvSpPr>
        <p:spPr>
          <a:xfrm>
            <a:off x="14073036" y="8295462"/>
            <a:ext cx="8807196" cy="1390008"/>
          </a:xfrm>
          <a:prstGeom prst="rect">
            <a:avLst/>
          </a:prstGeom>
        </p:spPr>
        <p:txBody>
          <a:bodyPr vert="horz" wrap="square" lIns="0" tIns="175589" rIns="0" bIns="0" rtlCol="0">
            <a:spAutoFit/>
          </a:bodyPr>
          <a:lstStyle/>
          <a:p>
            <a:pPr marL="15403">
              <a:spcBef>
                <a:spcPts val="1383"/>
              </a:spcBef>
            </a:pP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Hardware</a:t>
            </a:r>
            <a:r>
              <a:rPr sz="2547" b="1" spc="91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code</a:t>
            </a:r>
            <a:r>
              <a:rPr sz="2547" b="1" spc="97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dirty="0">
                <a:solidFill>
                  <a:srgbClr val="D0256F"/>
                </a:solidFill>
                <a:latin typeface="Arial"/>
                <a:cs typeface="Arial"/>
              </a:rPr>
              <a:t>is</a:t>
            </a:r>
            <a:r>
              <a:rPr sz="2547" b="1" spc="164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547" b="1" spc="-12" dirty="0">
                <a:solidFill>
                  <a:srgbClr val="D0256F"/>
                </a:solidFill>
                <a:latin typeface="Arial"/>
                <a:cs typeface="Arial"/>
              </a:rPr>
              <a:t>worst</a:t>
            </a:r>
            <a:endParaRPr sz="2547">
              <a:latin typeface="Arial"/>
              <a:cs typeface="Arial"/>
            </a:endParaRPr>
          </a:p>
          <a:p>
            <a:pPr marL="15403" marR="6161">
              <a:lnSpc>
                <a:spcPts val="2595"/>
              </a:lnSpc>
              <a:spcBef>
                <a:spcPts val="1206"/>
              </a:spcBef>
            </a:pP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One</a:t>
            </a:r>
            <a:r>
              <a:rPr sz="2244" spc="-12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study</a:t>
            </a:r>
            <a:r>
              <a:rPr sz="2244" spc="-7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found</a:t>
            </a:r>
            <a:r>
              <a:rPr sz="2244" spc="-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30" dirty="0">
                <a:solidFill>
                  <a:srgbClr val="525252"/>
                </a:solidFill>
                <a:latin typeface="Arial"/>
                <a:cs typeface="Arial"/>
              </a:rPr>
              <a:t>LLM-</a:t>
            </a:r>
            <a:r>
              <a:rPr sz="2244" spc="-24" dirty="0">
                <a:solidFill>
                  <a:srgbClr val="525252"/>
                </a:solidFill>
                <a:latin typeface="Arial"/>
                <a:cs typeface="Arial"/>
              </a:rPr>
              <a:t>generated</a:t>
            </a:r>
            <a:r>
              <a:rPr sz="2244" spc="-12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30" dirty="0">
                <a:solidFill>
                  <a:srgbClr val="525252"/>
                </a:solidFill>
                <a:latin typeface="Arial"/>
                <a:cs typeface="Arial"/>
              </a:rPr>
              <a:t>hardware-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access</a:t>
            </a:r>
            <a:r>
              <a:rPr sz="2244" spc="-7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code</a:t>
            </a:r>
            <a:r>
              <a:rPr sz="2244" spc="-11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failed</a:t>
            </a:r>
            <a:r>
              <a:rPr sz="2244" spc="-9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100%</a:t>
            </a:r>
            <a:r>
              <a:rPr sz="2244" spc="-8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30" dirty="0">
                <a:solidFill>
                  <a:srgbClr val="525252"/>
                </a:solidFill>
                <a:latin typeface="Arial"/>
                <a:cs typeface="Arial"/>
              </a:rPr>
              <a:t>of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244" spc="-13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time</a:t>
            </a:r>
            <a:r>
              <a:rPr sz="2244" spc="-13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on</a:t>
            </a:r>
            <a:r>
              <a:rPr sz="2244" spc="-7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dirty="0">
                <a:solidFill>
                  <a:srgbClr val="525252"/>
                </a:solidFill>
                <a:latin typeface="Arial"/>
                <a:cs typeface="Arial"/>
              </a:rPr>
              <a:t>current</a:t>
            </a:r>
            <a:r>
              <a:rPr sz="2244" spc="-9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44" spc="-12" dirty="0">
                <a:solidFill>
                  <a:srgbClr val="525252"/>
                </a:solidFill>
                <a:latin typeface="Arial"/>
                <a:cs typeface="Arial"/>
              </a:rPr>
              <a:t>platforms.</a:t>
            </a:r>
            <a:endParaRPr sz="224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5998" y="10788855"/>
            <a:ext cx="8725563" cy="422825"/>
          </a:xfrm>
          <a:prstGeom prst="rect">
            <a:avLst/>
          </a:prstGeom>
        </p:spPr>
        <p:txBody>
          <a:bodyPr vert="horz" wrap="square" lIns="0" tIns="37736" rIns="0" bIns="0" rtlCol="0">
            <a:spAutoFit/>
          </a:bodyPr>
          <a:lstStyle/>
          <a:p>
            <a:pPr marL="15403" marR="6161">
              <a:lnSpc>
                <a:spcPts val="3020"/>
              </a:lnSpc>
              <a:spcBef>
                <a:spcPts val="297"/>
              </a:spcBef>
            </a:pP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This</a:t>
            </a:r>
            <a:r>
              <a:rPr sz="2547" spc="13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is</a:t>
            </a:r>
            <a:r>
              <a:rPr sz="2547" spc="14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547" spc="14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single</a:t>
            </a:r>
            <a:r>
              <a:rPr sz="2547" spc="14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most</a:t>
            </a:r>
            <a:r>
              <a:rPr sz="2547" spc="14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common</a:t>
            </a:r>
            <a:r>
              <a:rPr sz="2547" spc="14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547" dirty="0">
                <a:solidFill>
                  <a:srgbClr val="525252"/>
                </a:solidFill>
                <a:latin typeface="Arial"/>
                <a:cs typeface="Arial"/>
              </a:rPr>
              <a:t>failure</a:t>
            </a:r>
            <a:r>
              <a:rPr sz="2547" spc="13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lang="en-US" sz="2547" spc="138" dirty="0">
                <a:solidFill>
                  <a:srgbClr val="525252"/>
                </a:solidFill>
                <a:latin typeface="Arial"/>
                <a:cs typeface="Arial"/>
              </a:rPr>
              <a:t>that will hit.</a:t>
            </a:r>
            <a:endParaRPr sz="2547" dirty="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120040" y="981988"/>
            <a:ext cx="12543863" cy="1000816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64"/>
              </a:spcBef>
            </a:pPr>
            <a:r>
              <a:rPr sz="6367" spc="321" dirty="0">
                <a:solidFill>
                  <a:srgbClr val="161616"/>
                </a:solidFill>
              </a:rPr>
              <a:t>Common</a:t>
            </a:r>
            <a:r>
              <a:rPr sz="6367" spc="-30" dirty="0">
                <a:solidFill>
                  <a:srgbClr val="161616"/>
                </a:solidFill>
              </a:rPr>
              <a:t> </a:t>
            </a:r>
            <a:r>
              <a:rPr sz="6367" spc="212" dirty="0">
                <a:solidFill>
                  <a:srgbClr val="161616"/>
                </a:solidFill>
              </a:rPr>
              <a:t>Pitfall</a:t>
            </a:r>
            <a:r>
              <a:rPr sz="6367" spc="24" dirty="0">
                <a:solidFill>
                  <a:srgbClr val="161616"/>
                </a:solidFill>
              </a:rPr>
              <a:t> </a:t>
            </a:r>
            <a:r>
              <a:rPr sz="6367" spc="570" dirty="0">
                <a:solidFill>
                  <a:srgbClr val="161616"/>
                </a:solidFill>
              </a:rPr>
              <a:t>–</a:t>
            </a:r>
            <a:r>
              <a:rPr sz="6367" spc="-18" dirty="0">
                <a:solidFill>
                  <a:srgbClr val="161616"/>
                </a:solidFill>
              </a:rPr>
              <a:t> </a:t>
            </a:r>
            <a:r>
              <a:rPr sz="6367" spc="273" dirty="0">
                <a:solidFill>
                  <a:srgbClr val="161616"/>
                </a:solidFill>
              </a:rPr>
              <a:t>Deprecated</a:t>
            </a:r>
            <a:r>
              <a:rPr sz="6367" spc="-18" dirty="0">
                <a:solidFill>
                  <a:srgbClr val="161616"/>
                </a:solidFill>
              </a:rPr>
              <a:t> </a:t>
            </a:r>
            <a:r>
              <a:rPr sz="6367" spc="291" dirty="0">
                <a:solidFill>
                  <a:srgbClr val="161616"/>
                </a:solidFill>
              </a:rPr>
              <a:t>code</a:t>
            </a:r>
            <a:endParaRPr sz="6367"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9948" y="780237"/>
            <a:ext cx="2405471" cy="239753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8951291"/>
            <a:ext cx="451736" cy="442716"/>
          </a:xfrm>
          <a:prstGeom prst="rect">
            <a:avLst/>
          </a:prstGeom>
        </p:spPr>
        <p:txBody>
          <a:bodyPr vert="horz" wrap="square" lIns="0" tIns="171734" rIns="0" bIns="0" rtlCol="0" anchor="b" anchorCtr="0">
            <a:spAutoFit/>
          </a:bodyPr>
          <a:lstStyle/>
          <a:p>
            <a:pPr marL="46208">
              <a:lnSpc>
                <a:spcPts val="2104"/>
              </a:lnSpc>
            </a:pPr>
            <a:r>
              <a:rPr sz="1759" spc="-30" dirty="0">
                <a:solidFill>
                  <a:srgbClr val="8D8D8D"/>
                </a:solidFill>
                <a:latin typeface="Arial"/>
                <a:cs typeface="Arial"/>
              </a:rPr>
              <a:t>28</a:t>
            </a:r>
            <a:endParaRPr sz="175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5997" y="825998"/>
            <a:ext cx="5100582" cy="38105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lang="en-US" sz="2365" b="1" spc="30" dirty="0">
                <a:solidFill>
                  <a:srgbClr val="D0256F"/>
                </a:solidFill>
                <a:latin typeface="Arial"/>
                <a:cs typeface="Arial"/>
              </a:rPr>
              <a:t>CAN TRY THIS</a:t>
            </a:r>
            <a:r>
              <a:rPr sz="2365" b="1" spc="30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365" b="1" dirty="0">
                <a:solidFill>
                  <a:srgbClr val="D0256F"/>
                </a:solidFill>
                <a:latin typeface="Arial"/>
                <a:cs typeface="Arial"/>
              </a:rPr>
              <a:t>·</a:t>
            </a:r>
            <a:r>
              <a:rPr sz="2365" b="1" spc="85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365" b="1" dirty="0">
                <a:solidFill>
                  <a:srgbClr val="D0256F"/>
                </a:solidFill>
                <a:latin typeface="Arial"/>
                <a:cs typeface="Arial"/>
              </a:rPr>
              <a:t>PART</a:t>
            </a:r>
            <a:r>
              <a:rPr sz="2365" b="1" spc="49" dirty="0">
                <a:solidFill>
                  <a:srgbClr val="D0256F"/>
                </a:solidFill>
                <a:latin typeface="Arial"/>
                <a:cs typeface="Arial"/>
              </a:rPr>
              <a:t> </a:t>
            </a:r>
            <a:r>
              <a:rPr sz="2365" b="1" spc="-61" dirty="0">
                <a:solidFill>
                  <a:srgbClr val="D0256F"/>
                </a:solidFill>
                <a:latin typeface="Arial"/>
                <a:cs typeface="Arial"/>
              </a:rPr>
              <a:t>1</a:t>
            </a:r>
            <a:endParaRPr sz="2365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85998" y="1631085"/>
            <a:ext cx="10908879" cy="934764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58"/>
              </a:spcBef>
            </a:pP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sz="5943" b="1" spc="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two-prompt</a:t>
            </a:r>
            <a:r>
              <a:rPr sz="5943" b="1" spc="7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test</a:t>
            </a:r>
            <a:r>
              <a:rPr sz="5943" b="1" spc="4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—</a:t>
            </a:r>
            <a:r>
              <a:rPr sz="5943" b="1" spc="61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spc="-12" dirty="0">
                <a:solidFill>
                  <a:srgbClr val="161616"/>
                </a:solidFill>
                <a:latin typeface="Arial"/>
                <a:cs typeface="Arial"/>
              </a:rPr>
              <a:t>vanilla</a:t>
            </a:r>
            <a:endParaRPr sz="5943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9508" y="3565464"/>
            <a:ext cx="22179719" cy="1829057"/>
          </a:xfrm>
          <a:custGeom>
            <a:avLst/>
            <a:gdLst/>
            <a:ahLst/>
            <a:cxnLst/>
            <a:rect l="l" t="t" r="r" b="b"/>
            <a:pathLst>
              <a:path w="18288000" h="1508125">
                <a:moveTo>
                  <a:pt x="18166809" y="0"/>
                </a:moveTo>
                <a:lnTo>
                  <a:pt x="120619" y="0"/>
                </a:lnTo>
                <a:lnTo>
                  <a:pt x="73668" y="9481"/>
                </a:lnTo>
                <a:lnTo>
                  <a:pt x="35328" y="35334"/>
                </a:lnTo>
                <a:lnTo>
                  <a:pt x="9478" y="73673"/>
                </a:lnTo>
                <a:lnTo>
                  <a:pt x="0" y="120609"/>
                </a:lnTo>
                <a:lnTo>
                  <a:pt x="0" y="1387009"/>
                </a:lnTo>
                <a:lnTo>
                  <a:pt x="9478" y="1433945"/>
                </a:lnTo>
                <a:lnTo>
                  <a:pt x="35328" y="1472284"/>
                </a:lnTo>
                <a:lnTo>
                  <a:pt x="73668" y="1498137"/>
                </a:lnTo>
                <a:lnTo>
                  <a:pt x="120619" y="1507619"/>
                </a:lnTo>
                <a:lnTo>
                  <a:pt x="18166809" y="1507619"/>
                </a:lnTo>
                <a:lnTo>
                  <a:pt x="18213745" y="1498137"/>
                </a:lnTo>
                <a:lnTo>
                  <a:pt x="18252083" y="1472284"/>
                </a:lnTo>
                <a:lnTo>
                  <a:pt x="18277937" y="1433945"/>
                </a:lnTo>
                <a:lnTo>
                  <a:pt x="18287418" y="1387009"/>
                </a:lnTo>
                <a:lnTo>
                  <a:pt x="18287418" y="120609"/>
                </a:lnTo>
                <a:lnTo>
                  <a:pt x="18277937" y="73673"/>
                </a:lnTo>
                <a:lnTo>
                  <a:pt x="18252083" y="35334"/>
                </a:lnTo>
                <a:lnTo>
                  <a:pt x="18213745" y="9481"/>
                </a:lnTo>
                <a:lnTo>
                  <a:pt x="18166809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5" name="object 5"/>
          <p:cNvSpPr txBox="1"/>
          <p:nvPr/>
        </p:nvSpPr>
        <p:spPr>
          <a:xfrm>
            <a:off x="1634797" y="4244552"/>
            <a:ext cx="12878870" cy="447105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15403">
              <a:spcBef>
                <a:spcPts val="138"/>
              </a:spcBef>
              <a:tabLst>
                <a:tab pos="1443990" algn="l"/>
              </a:tabLst>
            </a:pPr>
            <a:r>
              <a:rPr sz="2244" b="1" spc="-12" dirty="0">
                <a:solidFill>
                  <a:srgbClr val="8D8D8D"/>
                </a:solidFill>
                <a:latin typeface="Arial"/>
                <a:cs typeface="Arial"/>
              </a:rPr>
              <a:t>PROMPT</a:t>
            </a:r>
            <a:r>
              <a:rPr sz="2244" b="1" dirty="0">
                <a:solidFill>
                  <a:srgbClr val="8D8D8D"/>
                </a:solidFill>
                <a:latin typeface="Arial"/>
                <a:cs typeface="Arial"/>
              </a:rPr>
              <a:t>	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“Write</a:t>
            </a:r>
            <a:r>
              <a:rPr sz="2789" i="1" spc="36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Qiskit</a:t>
            </a:r>
            <a:r>
              <a:rPr sz="2789" i="1" spc="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code</a:t>
            </a:r>
            <a:r>
              <a:rPr sz="2789" i="1" spc="4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that</a:t>
            </a:r>
            <a:r>
              <a:rPr sz="2789" i="1" spc="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creates</a:t>
            </a:r>
            <a:r>
              <a:rPr sz="2789" i="1" spc="-18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a</a:t>
            </a:r>
            <a:r>
              <a:rPr sz="2789" i="1" spc="4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Bell</a:t>
            </a:r>
            <a:r>
              <a:rPr sz="2789" i="1" spc="-3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state</a:t>
            </a:r>
            <a:r>
              <a:rPr sz="2789" i="1" spc="-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and</a:t>
            </a:r>
            <a:r>
              <a:rPr sz="2789" i="1" spc="-3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runs</a:t>
            </a:r>
            <a:r>
              <a:rPr sz="2789" i="1" spc="-18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it</a:t>
            </a:r>
            <a:r>
              <a:rPr sz="2789" i="1" spc="-4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on</a:t>
            </a:r>
            <a:r>
              <a:rPr sz="2789" i="1" spc="-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dirty="0">
                <a:solidFill>
                  <a:srgbClr val="161616"/>
                </a:solidFill>
                <a:latin typeface="Arial"/>
                <a:cs typeface="Arial"/>
              </a:rPr>
              <a:t>IBM</a:t>
            </a:r>
            <a:r>
              <a:rPr sz="2789" i="1" spc="-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89" i="1" spc="-12" dirty="0">
                <a:solidFill>
                  <a:srgbClr val="161616"/>
                </a:solidFill>
                <a:latin typeface="Arial"/>
                <a:cs typeface="Arial"/>
              </a:rPr>
              <a:t>hardware.”</a:t>
            </a:r>
            <a:endParaRPr sz="27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5997" y="6089693"/>
            <a:ext cx="596080" cy="1245745"/>
          </a:xfrm>
          <a:prstGeom prst="rect">
            <a:avLst/>
          </a:prstGeom>
        </p:spPr>
        <p:txBody>
          <a:bodyPr vert="horz" wrap="square" lIns="0" tIns="13862" rIns="0" bIns="0" rtlCol="0">
            <a:spAutoFit/>
          </a:bodyPr>
          <a:lstStyle/>
          <a:p>
            <a:pPr marL="15403">
              <a:spcBef>
                <a:spcPts val="109"/>
              </a:spcBef>
            </a:pPr>
            <a:r>
              <a:rPr sz="8004" b="1" spc="-61" dirty="0">
                <a:solidFill>
                  <a:srgbClr val="D0256F"/>
                </a:solidFill>
                <a:latin typeface="Arial"/>
                <a:cs typeface="Arial"/>
              </a:rPr>
              <a:t>1</a:t>
            </a:r>
            <a:endParaRPr sz="800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2244" y="5995602"/>
            <a:ext cx="9320873" cy="1001138"/>
          </a:xfrm>
          <a:prstGeom prst="rect">
            <a:avLst/>
          </a:prstGeom>
        </p:spPr>
        <p:txBody>
          <a:bodyPr vert="horz" wrap="square" lIns="0" tIns="87025" rIns="0" bIns="0" rtlCol="0">
            <a:spAutoFit/>
          </a:bodyPr>
          <a:lstStyle/>
          <a:p>
            <a:pPr marL="15403">
              <a:spcBef>
                <a:spcPts val="685"/>
              </a:spcBef>
            </a:pPr>
            <a:r>
              <a:rPr sz="3032" b="1" dirty="0">
                <a:solidFill>
                  <a:srgbClr val="161616"/>
                </a:solidFill>
                <a:latin typeface="Arial"/>
                <a:cs typeface="Arial"/>
              </a:rPr>
              <a:t>Plain</a:t>
            </a:r>
            <a:r>
              <a:rPr sz="3032" b="1" spc="-15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dirty="0">
                <a:solidFill>
                  <a:srgbClr val="161616"/>
                </a:solidFill>
                <a:latin typeface="Arial"/>
                <a:cs typeface="Arial"/>
              </a:rPr>
              <a:t>frontier</a:t>
            </a:r>
            <a:r>
              <a:rPr sz="3032" b="1" spc="-127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spc="-12" dirty="0">
                <a:solidFill>
                  <a:srgbClr val="161616"/>
                </a:solidFill>
                <a:latin typeface="Arial"/>
                <a:cs typeface="Arial"/>
              </a:rPr>
              <a:t>assistant,</a:t>
            </a:r>
            <a:r>
              <a:rPr sz="3032" b="1" spc="-138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dirty="0">
                <a:solidFill>
                  <a:srgbClr val="161616"/>
                </a:solidFill>
                <a:latin typeface="Arial"/>
                <a:cs typeface="Arial"/>
              </a:rPr>
              <a:t>no</a:t>
            </a:r>
            <a:r>
              <a:rPr sz="3032" b="1" spc="-13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spc="-12" dirty="0">
                <a:solidFill>
                  <a:srgbClr val="161616"/>
                </a:solidFill>
                <a:latin typeface="Arial"/>
                <a:cs typeface="Arial"/>
              </a:rPr>
              <a:t>grounding.</a:t>
            </a:r>
            <a:endParaRPr sz="3032" dirty="0">
              <a:latin typeface="Arial"/>
              <a:cs typeface="Arial"/>
            </a:endParaRPr>
          </a:p>
          <a:p>
            <a:pPr marL="15403">
              <a:spcBef>
                <a:spcPts val="509"/>
              </a:spcBef>
            </a:pP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Paste</a:t>
            </a:r>
            <a:r>
              <a:rPr sz="2486" spc="-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output</a:t>
            </a:r>
            <a:r>
              <a:rPr sz="2486" spc="4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into</a:t>
            </a:r>
            <a:r>
              <a:rPr sz="2486" spc="-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a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pinned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Qiskit</a:t>
            </a:r>
            <a:r>
              <a:rPr sz="2486" spc="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2.5</a:t>
            </a:r>
            <a:r>
              <a:rPr sz="2486" spc="-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environment</a:t>
            </a:r>
            <a:r>
              <a:rPr sz="2486" spc="-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run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it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.</a:t>
            </a:r>
            <a:endParaRPr sz="2486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892966" y="5942441"/>
            <a:ext cx="10385962" cy="3657343"/>
          </a:xfrm>
          <a:custGeom>
            <a:avLst/>
            <a:gdLst/>
            <a:ahLst/>
            <a:cxnLst/>
            <a:rect l="l" t="t" r="r" b="b"/>
            <a:pathLst>
              <a:path w="8563610" h="3015615">
                <a:moveTo>
                  <a:pt x="8457742" y="0"/>
                </a:moveTo>
                <a:lnTo>
                  <a:pt x="105533" y="0"/>
                </a:lnTo>
                <a:lnTo>
                  <a:pt x="64441" y="8303"/>
                </a:lnTo>
                <a:lnTo>
                  <a:pt x="30898" y="30937"/>
                </a:lnTo>
                <a:lnTo>
                  <a:pt x="8288" y="64486"/>
                </a:lnTo>
                <a:lnTo>
                  <a:pt x="0" y="105533"/>
                </a:lnTo>
                <a:lnTo>
                  <a:pt x="0" y="2909704"/>
                </a:lnTo>
                <a:lnTo>
                  <a:pt x="8288" y="2950796"/>
                </a:lnTo>
                <a:lnTo>
                  <a:pt x="30898" y="2984339"/>
                </a:lnTo>
                <a:lnTo>
                  <a:pt x="64441" y="3006949"/>
                </a:lnTo>
                <a:lnTo>
                  <a:pt x="105533" y="3015238"/>
                </a:lnTo>
                <a:lnTo>
                  <a:pt x="8457742" y="3015238"/>
                </a:lnTo>
                <a:lnTo>
                  <a:pt x="8498834" y="3006949"/>
                </a:lnTo>
                <a:lnTo>
                  <a:pt x="8532377" y="2984339"/>
                </a:lnTo>
                <a:lnTo>
                  <a:pt x="8554987" y="2950796"/>
                </a:lnTo>
                <a:lnTo>
                  <a:pt x="8563276" y="2909704"/>
                </a:lnTo>
                <a:lnTo>
                  <a:pt x="8563276" y="105533"/>
                </a:lnTo>
                <a:lnTo>
                  <a:pt x="8554987" y="64486"/>
                </a:lnTo>
                <a:lnTo>
                  <a:pt x="8532377" y="30937"/>
                </a:lnTo>
                <a:lnTo>
                  <a:pt x="8498834" y="8303"/>
                </a:lnTo>
                <a:lnTo>
                  <a:pt x="8457742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9" name="object 9"/>
          <p:cNvSpPr txBox="1"/>
          <p:nvPr/>
        </p:nvSpPr>
        <p:spPr>
          <a:xfrm>
            <a:off x="13286424" y="6167097"/>
            <a:ext cx="5479469" cy="1494705"/>
          </a:xfrm>
          <a:prstGeom prst="rect">
            <a:avLst/>
          </a:prstGeom>
        </p:spPr>
        <p:txBody>
          <a:bodyPr vert="horz" wrap="square" lIns="0" tIns="66231" rIns="0" bIns="0" rtlCol="0">
            <a:spAutoFit/>
          </a:bodyPr>
          <a:lstStyle/>
          <a:p>
            <a:pPr marL="15403">
              <a:spcBef>
                <a:spcPts val="522"/>
              </a:spcBef>
            </a:pPr>
            <a:r>
              <a:rPr sz="2062" dirty="0">
                <a:solidFill>
                  <a:srgbClr val="A8A8A8"/>
                </a:solidFill>
                <a:latin typeface="Courier New"/>
                <a:cs typeface="Courier New"/>
              </a:rPr>
              <a:t>$</a:t>
            </a:r>
            <a:r>
              <a:rPr sz="2062" spc="49" dirty="0">
                <a:solidFill>
                  <a:srgbClr val="A8A8A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A8A8A8"/>
                </a:solidFill>
                <a:latin typeface="Courier New"/>
                <a:cs typeface="Courier New"/>
              </a:rPr>
              <a:t>python</a:t>
            </a:r>
            <a:r>
              <a:rPr sz="2062" spc="49" dirty="0">
                <a:solidFill>
                  <a:srgbClr val="A8A8A8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A8A8A8"/>
                </a:solidFill>
                <a:latin typeface="Courier New"/>
                <a:cs typeface="Courier New"/>
              </a:rPr>
              <a:t>bell_vanilla.py</a:t>
            </a:r>
            <a:endParaRPr sz="2062">
              <a:latin typeface="Courier New"/>
              <a:cs typeface="Courier New"/>
            </a:endParaRPr>
          </a:p>
          <a:p>
            <a:pPr marL="15403">
              <a:spcBef>
                <a:spcPts val="406"/>
              </a:spcBef>
            </a:pP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Traceback</a:t>
            </a:r>
            <a:r>
              <a:rPr sz="2062" spc="24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(most</a:t>
            </a:r>
            <a:r>
              <a:rPr sz="2062" spc="115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recent</a:t>
            </a:r>
            <a:r>
              <a:rPr sz="2062" spc="36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call</a:t>
            </a:r>
            <a:r>
              <a:rPr sz="2062" spc="42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DFDFDF"/>
                </a:solidFill>
                <a:latin typeface="Courier New"/>
                <a:cs typeface="Courier New"/>
              </a:rPr>
              <a:t>last):</a:t>
            </a:r>
            <a:endParaRPr sz="2062">
              <a:latin typeface="Courier New"/>
              <a:cs typeface="Courier New"/>
            </a:endParaRPr>
          </a:p>
          <a:p>
            <a:pPr marL="335776" marR="488261" indent="-321143">
              <a:lnSpc>
                <a:spcPct val="116500"/>
              </a:lnSpc>
              <a:spcBef>
                <a:spcPts val="73"/>
              </a:spcBef>
            </a:pP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ImportError:</a:t>
            </a:r>
            <a:r>
              <a:rPr sz="2062" spc="55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cannot</a:t>
            </a:r>
            <a:r>
              <a:rPr sz="2062" spc="55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import</a:t>
            </a:r>
            <a:r>
              <a:rPr sz="2062" spc="61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24" dirty="0">
                <a:solidFill>
                  <a:srgbClr val="FF8388"/>
                </a:solidFill>
                <a:latin typeface="Courier New"/>
                <a:cs typeface="Courier New"/>
              </a:rPr>
              <a:t>name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'execute'</a:t>
            </a:r>
            <a:r>
              <a:rPr sz="2062" spc="55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from</a:t>
            </a:r>
            <a:r>
              <a:rPr sz="2062" spc="61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FF8388"/>
                </a:solidFill>
                <a:latin typeface="Courier New"/>
                <a:cs typeface="Courier New"/>
              </a:rPr>
              <a:t>'qiskit'</a:t>
            </a:r>
            <a:endParaRPr sz="206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6424" y="8053744"/>
            <a:ext cx="3290762" cy="335994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  <a:tabLst>
                <a:tab pos="392765" algn="l"/>
              </a:tabLst>
            </a:pPr>
            <a:r>
              <a:rPr sz="2062" spc="-61" dirty="0">
                <a:solidFill>
                  <a:srgbClr val="FF8388"/>
                </a:solidFill>
                <a:latin typeface="Segoe UI Symbol"/>
                <a:cs typeface="Segoe UI Symbol"/>
              </a:rPr>
              <a:t>✗</a:t>
            </a:r>
            <a:r>
              <a:rPr sz="2062" dirty="0">
                <a:solidFill>
                  <a:srgbClr val="FF8388"/>
                </a:solidFill>
                <a:latin typeface="Segoe UI Symbol"/>
                <a:cs typeface="Segoe UI Symbol"/>
              </a:rPr>
              <a:t>	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dead</a:t>
            </a:r>
            <a:r>
              <a:rPr sz="2062" spc="30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API</a:t>
            </a:r>
            <a:r>
              <a:rPr sz="2062" spc="30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FF8388"/>
                </a:solidFill>
                <a:latin typeface="Courier New"/>
                <a:cs typeface="Courier New"/>
              </a:rPr>
              <a:t>from</a:t>
            </a:r>
            <a:r>
              <a:rPr sz="2062" spc="36" dirty="0">
                <a:solidFill>
                  <a:srgbClr val="FF8388"/>
                </a:solidFill>
                <a:latin typeface="Courier New"/>
                <a:cs typeface="Courier New"/>
              </a:rPr>
              <a:t> </a:t>
            </a:r>
            <a:r>
              <a:rPr sz="2062" spc="-24" dirty="0">
                <a:solidFill>
                  <a:srgbClr val="FF8388"/>
                </a:solidFill>
                <a:latin typeface="Courier New"/>
                <a:cs typeface="Courier New"/>
              </a:rPr>
              <a:t>2023</a:t>
            </a:r>
            <a:endParaRPr sz="2062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99508" y="10239281"/>
            <a:ext cx="22179719" cy="1737411"/>
          </a:xfrm>
          <a:custGeom>
            <a:avLst/>
            <a:gdLst/>
            <a:ahLst/>
            <a:cxnLst/>
            <a:rect l="l" t="t" r="r" b="b"/>
            <a:pathLst>
              <a:path w="18288000" h="1432559">
                <a:moveTo>
                  <a:pt x="18166809" y="0"/>
                </a:moveTo>
                <a:lnTo>
                  <a:pt x="120619" y="0"/>
                </a:lnTo>
                <a:lnTo>
                  <a:pt x="73668" y="9481"/>
                </a:lnTo>
                <a:lnTo>
                  <a:pt x="35328" y="35334"/>
                </a:lnTo>
                <a:lnTo>
                  <a:pt x="9478" y="73673"/>
                </a:lnTo>
                <a:lnTo>
                  <a:pt x="0" y="120609"/>
                </a:lnTo>
                <a:lnTo>
                  <a:pt x="0" y="1311628"/>
                </a:lnTo>
                <a:lnTo>
                  <a:pt x="9478" y="1358609"/>
                </a:lnTo>
                <a:lnTo>
                  <a:pt x="35328" y="1396942"/>
                </a:lnTo>
                <a:lnTo>
                  <a:pt x="73668" y="1422771"/>
                </a:lnTo>
                <a:lnTo>
                  <a:pt x="120619" y="1432238"/>
                </a:lnTo>
                <a:lnTo>
                  <a:pt x="18166809" y="1432238"/>
                </a:lnTo>
                <a:lnTo>
                  <a:pt x="18213745" y="1422771"/>
                </a:lnTo>
                <a:lnTo>
                  <a:pt x="18252083" y="1396942"/>
                </a:lnTo>
                <a:lnTo>
                  <a:pt x="18277937" y="1358609"/>
                </a:lnTo>
                <a:lnTo>
                  <a:pt x="18287418" y="1311628"/>
                </a:lnTo>
                <a:lnTo>
                  <a:pt x="18287418" y="120609"/>
                </a:lnTo>
                <a:lnTo>
                  <a:pt x="18277937" y="73673"/>
                </a:lnTo>
                <a:lnTo>
                  <a:pt x="18252083" y="35334"/>
                </a:lnTo>
                <a:lnTo>
                  <a:pt x="18213745" y="9481"/>
                </a:lnTo>
                <a:lnTo>
                  <a:pt x="18166809" y="0"/>
                </a:lnTo>
                <a:close/>
              </a:path>
            </a:pathLst>
          </a:custGeom>
          <a:solidFill>
            <a:srgbClr val="FFEFF7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2" name="object 12"/>
          <p:cNvSpPr txBox="1"/>
          <p:nvPr/>
        </p:nvSpPr>
        <p:spPr>
          <a:xfrm>
            <a:off x="1634797" y="10718510"/>
            <a:ext cx="21223989" cy="414667"/>
          </a:xfrm>
          <a:prstGeom prst="rect">
            <a:avLst/>
          </a:prstGeom>
        </p:spPr>
        <p:txBody>
          <a:bodyPr vert="horz" wrap="square" lIns="0" tIns="42357" rIns="0" bIns="0" rtlCol="0">
            <a:spAutoFit/>
          </a:bodyPr>
          <a:lstStyle/>
          <a:p>
            <a:pPr marL="15403" marR="6161">
              <a:lnSpc>
                <a:spcPts val="2886"/>
              </a:lnSpc>
              <a:spcBef>
                <a:spcPts val="334"/>
              </a:spcBef>
              <a:tabLst>
                <a:tab pos="3144433" algn="l"/>
              </a:tabLst>
            </a:pPr>
            <a:r>
              <a:rPr lang="en-US" sz="2486" b="1" dirty="0">
                <a:solidFill>
                  <a:srgbClr val="D0256F"/>
                </a:solidFill>
                <a:latin typeface="Arial"/>
                <a:cs typeface="Arial"/>
              </a:rPr>
              <a:t>Deprecated code: </a:t>
            </a:r>
            <a:r>
              <a:rPr lang="en-US" sz="2486" b="1" dirty="0">
                <a:solidFill>
                  <a:srgbClr val="525252"/>
                </a:solidFill>
                <a:latin typeface="Arial"/>
                <a:cs typeface="Arial"/>
              </a:rPr>
              <a:t>needs newer info than trained on to improve the context.</a:t>
            </a:r>
            <a:endParaRPr sz="2486" dirty="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9948" y="780237"/>
            <a:ext cx="2405471" cy="239753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8951291"/>
            <a:ext cx="451736" cy="442716"/>
          </a:xfrm>
          <a:prstGeom prst="rect">
            <a:avLst/>
          </a:prstGeom>
        </p:spPr>
        <p:txBody>
          <a:bodyPr vert="horz" wrap="square" lIns="0" tIns="171734" rIns="0" bIns="0" rtlCol="0" anchor="b" anchorCtr="0">
            <a:spAutoFit/>
          </a:bodyPr>
          <a:lstStyle/>
          <a:p>
            <a:pPr marL="46208">
              <a:lnSpc>
                <a:spcPts val="2104"/>
              </a:lnSpc>
            </a:pPr>
            <a:r>
              <a:rPr sz="1759" spc="-30" dirty="0">
                <a:solidFill>
                  <a:srgbClr val="8D8D8D"/>
                </a:solidFill>
                <a:latin typeface="Arial"/>
                <a:cs typeface="Arial"/>
              </a:rPr>
              <a:t>29</a:t>
            </a:r>
            <a:endParaRPr sz="175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5997" y="825998"/>
            <a:ext cx="5372555" cy="38105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lang="en-US" sz="2365" b="1" spc="30" dirty="0">
                <a:solidFill>
                  <a:srgbClr val="ED5295"/>
                </a:solidFill>
                <a:latin typeface="Arial"/>
                <a:cs typeface="Arial"/>
              </a:rPr>
              <a:t>CAN TRY THIS</a:t>
            </a:r>
            <a:r>
              <a:rPr sz="2365" b="1" spc="30" dirty="0">
                <a:solidFill>
                  <a:srgbClr val="ED5295"/>
                </a:solidFill>
                <a:latin typeface="Arial"/>
                <a:cs typeface="Arial"/>
              </a:rPr>
              <a:t> </a:t>
            </a:r>
            <a:r>
              <a:rPr sz="2365" b="1" dirty="0">
                <a:solidFill>
                  <a:srgbClr val="ED5295"/>
                </a:solidFill>
                <a:latin typeface="Arial"/>
                <a:cs typeface="Arial"/>
              </a:rPr>
              <a:t>·</a:t>
            </a:r>
            <a:r>
              <a:rPr sz="2365" b="1" spc="85" dirty="0">
                <a:solidFill>
                  <a:srgbClr val="ED5295"/>
                </a:solidFill>
                <a:latin typeface="Arial"/>
                <a:cs typeface="Arial"/>
              </a:rPr>
              <a:t> </a:t>
            </a:r>
            <a:r>
              <a:rPr sz="2365" b="1" dirty="0">
                <a:solidFill>
                  <a:srgbClr val="ED5295"/>
                </a:solidFill>
                <a:latin typeface="Arial"/>
                <a:cs typeface="Arial"/>
              </a:rPr>
              <a:t>PART</a:t>
            </a:r>
            <a:r>
              <a:rPr sz="2365" b="1" spc="49" dirty="0">
                <a:solidFill>
                  <a:srgbClr val="ED5295"/>
                </a:solidFill>
                <a:latin typeface="Arial"/>
                <a:cs typeface="Arial"/>
              </a:rPr>
              <a:t> </a:t>
            </a:r>
            <a:r>
              <a:rPr sz="2365" b="1" spc="-61" dirty="0">
                <a:solidFill>
                  <a:srgbClr val="ED5295"/>
                </a:solidFill>
                <a:latin typeface="Arial"/>
                <a:cs typeface="Arial"/>
              </a:rPr>
              <a:t>2</a:t>
            </a:r>
            <a:endParaRPr sz="2365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85997" y="1631085"/>
            <a:ext cx="18982143" cy="934764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58"/>
              </a:spcBef>
            </a:pP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Same</a:t>
            </a:r>
            <a:r>
              <a:rPr sz="5943" b="1" spc="18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prompt</a:t>
            </a:r>
            <a:r>
              <a:rPr sz="5943" b="1" spc="2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—</a:t>
            </a:r>
            <a:r>
              <a:rPr sz="5943" b="1" spc="49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grounded</a:t>
            </a:r>
            <a:r>
              <a:rPr sz="5943" b="1" spc="3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with</a:t>
            </a:r>
            <a:r>
              <a:rPr sz="5943" b="1" spc="5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sz="5943" b="1" spc="8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Qiskit</a:t>
            </a:r>
            <a:r>
              <a:rPr sz="5943" b="1" spc="4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Docs</a:t>
            </a:r>
            <a:r>
              <a:rPr sz="5943" b="1" spc="6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spc="-30" dirty="0">
                <a:solidFill>
                  <a:srgbClr val="161616"/>
                </a:solidFill>
                <a:latin typeface="Arial"/>
                <a:cs typeface="Arial"/>
              </a:rPr>
              <a:t>MCP</a:t>
            </a:r>
            <a:endParaRPr sz="594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997" y="3711192"/>
            <a:ext cx="596080" cy="1245745"/>
          </a:xfrm>
          <a:prstGeom prst="rect">
            <a:avLst/>
          </a:prstGeom>
        </p:spPr>
        <p:txBody>
          <a:bodyPr vert="horz" wrap="square" lIns="0" tIns="13862" rIns="0" bIns="0" rtlCol="0">
            <a:spAutoFit/>
          </a:bodyPr>
          <a:lstStyle/>
          <a:p>
            <a:pPr marL="15403">
              <a:spcBef>
                <a:spcPts val="109"/>
              </a:spcBef>
            </a:pPr>
            <a:r>
              <a:rPr sz="8004" b="1" spc="-61" dirty="0">
                <a:solidFill>
                  <a:srgbClr val="188038"/>
                </a:solidFill>
                <a:latin typeface="Arial"/>
                <a:cs typeface="Arial"/>
              </a:rPr>
              <a:t>2</a:t>
            </a:r>
            <a:endParaRPr sz="800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2244" y="3616823"/>
            <a:ext cx="9638935" cy="1847459"/>
          </a:xfrm>
          <a:prstGeom prst="rect">
            <a:avLst/>
          </a:prstGeom>
        </p:spPr>
        <p:txBody>
          <a:bodyPr vert="horz" wrap="square" lIns="0" tIns="87025" rIns="0" bIns="0" rtlCol="0">
            <a:spAutoFit/>
          </a:bodyPr>
          <a:lstStyle/>
          <a:p>
            <a:pPr marL="15403">
              <a:spcBef>
                <a:spcPts val="685"/>
              </a:spcBef>
            </a:pPr>
            <a:r>
              <a:rPr sz="3032" b="1" dirty="0">
                <a:solidFill>
                  <a:srgbClr val="161616"/>
                </a:solidFill>
                <a:latin typeface="Arial"/>
                <a:cs typeface="Arial"/>
              </a:rPr>
              <a:t>Same</a:t>
            </a:r>
            <a:r>
              <a:rPr sz="3032" b="1" spc="-109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spc="-12" dirty="0">
                <a:solidFill>
                  <a:srgbClr val="161616"/>
                </a:solidFill>
                <a:latin typeface="Arial"/>
                <a:cs typeface="Arial"/>
              </a:rPr>
              <a:t>assistant,</a:t>
            </a:r>
            <a:r>
              <a:rPr sz="3032" b="1" spc="-11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dirty="0">
                <a:solidFill>
                  <a:srgbClr val="161616"/>
                </a:solidFill>
                <a:latin typeface="Arial"/>
                <a:cs typeface="Arial"/>
              </a:rPr>
              <a:t>one</a:t>
            </a:r>
            <a:r>
              <a:rPr sz="3032" b="1" spc="-10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3032" b="1" spc="-12" dirty="0">
                <a:solidFill>
                  <a:srgbClr val="161616"/>
                </a:solidFill>
                <a:latin typeface="Arial"/>
                <a:cs typeface="Arial"/>
              </a:rPr>
              <a:t>change:</a:t>
            </a:r>
            <a:endParaRPr sz="3032" dirty="0">
              <a:latin typeface="Arial"/>
              <a:cs typeface="Arial"/>
            </a:endParaRPr>
          </a:p>
          <a:p>
            <a:pPr marL="15403" marR="6161">
              <a:lnSpc>
                <a:spcPct val="115900"/>
              </a:lnSpc>
              <a:spcBef>
                <a:spcPts val="36"/>
              </a:spcBef>
            </a:pP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official</a:t>
            </a:r>
            <a:r>
              <a:rPr sz="2486" spc="-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Qiskit</a:t>
            </a:r>
            <a:r>
              <a:rPr sz="2486" spc="-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Docs MCP</a:t>
            </a:r>
            <a:r>
              <a:rPr sz="2486" spc="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server</a:t>
            </a:r>
            <a:r>
              <a:rPr sz="2486" spc="-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is attached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(Claude</a:t>
            </a:r>
            <a:r>
              <a:rPr sz="2486" spc="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Code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spc="-61" dirty="0">
                <a:solidFill>
                  <a:srgbClr val="525252"/>
                </a:solidFill>
                <a:latin typeface="Arial"/>
                <a:cs typeface="Arial"/>
              </a:rPr>
              <a:t>/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Cursor</a:t>
            </a:r>
            <a:r>
              <a:rPr sz="2486" spc="-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/</a:t>
            </a:r>
            <a:r>
              <a:rPr sz="2486" spc="-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any MCP</a:t>
            </a:r>
            <a:r>
              <a:rPr sz="2486" spc="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client).</a:t>
            </a:r>
            <a:r>
              <a:rPr sz="2486" spc="4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lang="en-US" sz="2486" spc="42" dirty="0">
                <a:solidFill>
                  <a:srgbClr val="525252"/>
                </a:solidFill>
                <a:latin typeface="Arial"/>
                <a:cs typeface="Arial"/>
              </a:rPr>
              <a:t> I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t</a:t>
            </a:r>
            <a:r>
              <a:rPr sz="2486" spc="-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consult</a:t>
            </a:r>
            <a:r>
              <a:rPr lang="en-US" sz="2486" dirty="0">
                <a:solidFill>
                  <a:srgbClr val="525252"/>
                </a:solidFill>
                <a:latin typeface="Arial"/>
                <a:cs typeface="Arial"/>
              </a:rPr>
              <a:t>s</a:t>
            </a:r>
            <a:r>
              <a:rPr sz="2486" spc="4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live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documentation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before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writing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a </a:t>
            </a:r>
            <a:r>
              <a:rPr sz="2486" spc="-24" dirty="0">
                <a:solidFill>
                  <a:srgbClr val="525252"/>
                </a:solidFill>
                <a:latin typeface="Arial"/>
                <a:cs typeface="Arial"/>
              </a:rPr>
              <a:t>line.</a:t>
            </a:r>
            <a:endParaRPr sz="2486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45107" y="7039505"/>
            <a:ext cx="9691305" cy="1316921"/>
          </a:xfrm>
          <a:custGeom>
            <a:avLst/>
            <a:gdLst/>
            <a:ahLst/>
            <a:cxnLst/>
            <a:rect l="l" t="t" r="r" b="b"/>
            <a:pathLst>
              <a:path w="7990840" h="1085850">
                <a:moveTo>
                  <a:pt x="7869771" y="0"/>
                </a:moveTo>
                <a:lnTo>
                  <a:pt x="120609" y="0"/>
                </a:lnTo>
                <a:lnTo>
                  <a:pt x="73673" y="9481"/>
                </a:lnTo>
                <a:lnTo>
                  <a:pt x="35334" y="35334"/>
                </a:lnTo>
                <a:lnTo>
                  <a:pt x="9481" y="73673"/>
                </a:lnTo>
                <a:lnTo>
                  <a:pt x="0" y="120609"/>
                </a:lnTo>
                <a:lnTo>
                  <a:pt x="0" y="964876"/>
                </a:lnTo>
                <a:lnTo>
                  <a:pt x="9481" y="1011856"/>
                </a:lnTo>
                <a:lnTo>
                  <a:pt x="35334" y="1050190"/>
                </a:lnTo>
                <a:lnTo>
                  <a:pt x="73673" y="1076018"/>
                </a:lnTo>
                <a:lnTo>
                  <a:pt x="120609" y="1085485"/>
                </a:lnTo>
                <a:lnTo>
                  <a:pt x="7869771" y="1085485"/>
                </a:lnTo>
                <a:lnTo>
                  <a:pt x="7916707" y="1076018"/>
                </a:lnTo>
                <a:lnTo>
                  <a:pt x="7955046" y="1050190"/>
                </a:lnTo>
                <a:lnTo>
                  <a:pt x="7980899" y="1011856"/>
                </a:lnTo>
                <a:lnTo>
                  <a:pt x="7990380" y="964876"/>
                </a:lnTo>
                <a:lnTo>
                  <a:pt x="7990380" y="120609"/>
                </a:lnTo>
                <a:lnTo>
                  <a:pt x="7980899" y="73673"/>
                </a:lnTo>
                <a:lnTo>
                  <a:pt x="7955046" y="35334"/>
                </a:lnTo>
                <a:lnTo>
                  <a:pt x="7916707" y="9481"/>
                </a:lnTo>
                <a:lnTo>
                  <a:pt x="7869771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7" name="object 7"/>
          <p:cNvSpPr txBox="1"/>
          <p:nvPr/>
        </p:nvSpPr>
        <p:spPr>
          <a:xfrm>
            <a:off x="3189608" y="7450930"/>
            <a:ext cx="7085188" cy="402759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2486" b="1" dirty="0">
                <a:solidFill>
                  <a:srgbClr val="6929C4"/>
                </a:solidFill>
                <a:latin typeface="Courier New"/>
                <a:cs typeface="Courier New"/>
              </a:rPr>
              <a:t>pip</a:t>
            </a:r>
            <a:r>
              <a:rPr sz="2486" b="1" spc="-6" dirty="0">
                <a:solidFill>
                  <a:srgbClr val="6929C4"/>
                </a:solidFill>
                <a:latin typeface="Courier New"/>
                <a:cs typeface="Courier New"/>
              </a:rPr>
              <a:t> </a:t>
            </a:r>
            <a:r>
              <a:rPr sz="2486" b="1" dirty="0">
                <a:solidFill>
                  <a:srgbClr val="6929C4"/>
                </a:solidFill>
                <a:latin typeface="Courier New"/>
                <a:cs typeface="Courier New"/>
              </a:rPr>
              <a:t>install</a:t>
            </a:r>
            <a:r>
              <a:rPr sz="2486" b="1" spc="85" dirty="0">
                <a:solidFill>
                  <a:srgbClr val="6929C4"/>
                </a:solidFill>
                <a:latin typeface="Courier New"/>
                <a:cs typeface="Courier New"/>
              </a:rPr>
              <a:t> </a:t>
            </a:r>
            <a:r>
              <a:rPr sz="2486" b="1" spc="-12" dirty="0">
                <a:solidFill>
                  <a:srgbClr val="6929C4"/>
                </a:solidFill>
                <a:latin typeface="Courier New"/>
                <a:cs typeface="Courier New"/>
              </a:rPr>
              <a:t>"qiskit-mcp-servers[all]"</a:t>
            </a:r>
            <a:endParaRPr sz="2486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892966" y="3565464"/>
            <a:ext cx="10385962" cy="6491419"/>
          </a:xfrm>
          <a:custGeom>
            <a:avLst/>
            <a:gdLst/>
            <a:ahLst/>
            <a:cxnLst/>
            <a:rect l="l" t="t" r="r" b="b"/>
            <a:pathLst>
              <a:path w="8563610" h="5352415">
                <a:moveTo>
                  <a:pt x="8457742" y="0"/>
                </a:moveTo>
                <a:lnTo>
                  <a:pt x="105533" y="0"/>
                </a:lnTo>
                <a:lnTo>
                  <a:pt x="64441" y="8288"/>
                </a:lnTo>
                <a:lnTo>
                  <a:pt x="30898" y="30898"/>
                </a:lnTo>
                <a:lnTo>
                  <a:pt x="8288" y="64441"/>
                </a:lnTo>
                <a:lnTo>
                  <a:pt x="0" y="105533"/>
                </a:lnTo>
                <a:lnTo>
                  <a:pt x="0" y="5246514"/>
                </a:lnTo>
                <a:lnTo>
                  <a:pt x="8288" y="5287605"/>
                </a:lnTo>
                <a:lnTo>
                  <a:pt x="30898" y="5321149"/>
                </a:lnTo>
                <a:lnTo>
                  <a:pt x="64441" y="5343758"/>
                </a:lnTo>
                <a:lnTo>
                  <a:pt x="105533" y="5352047"/>
                </a:lnTo>
                <a:lnTo>
                  <a:pt x="8457742" y="5352047"/>
                </a:lnTo>
                <a:lnTo>
                  <a:pt x="8498834" y="5343758"/>
                </a:lnTo>
                <a:lnTo>
                  <a:pt x="8532377" y="5321149"/>
                </a:lnTo>
                <a:lnTo>
                  <a:pt x="8554987" y="5287605"/>
                </a:lnTo>
                <a:lnTo>
                  <a:pt x="8563276" y="5246514"/>
                </a:lnTo>
                <a:lnTo>
                  <a:pt x="8563276" y="105533"/>
                </a:lnTo>
                <a:lnTo>
                  <a:pt x="8554987" y="64441"/>
                </a:lnTo>
                <a:lnTo>
                  <a:pt x="8532377" y="30898"/>
                </a:lnTo>
                <a:lnTo>
                  <a:pt x="8498834" y="8288"/>
                </a:lnTo>
                <a:lnTo>
                  <a:pt x="8457742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9" name="object 9"/>
          <p:cNvSpPr txBox="1"/>
          <p:nvPr/>
        </p:nvSpPr>
        <p:spPr>
          <a:xfrm>
            <a:off x="13286424" y="3695831"/>
            <a:ext cx="5482549" cy="4640985"/>
          </a:xfrm>
          <a:prstGeom prst="rect">
            <a:avLst/>
          </a:prstGeom>
        </p:spPr>
        <p:txBody>
          <a:bodyPr vert="horz" wrap="square" lIns="0" tIns="141703" rIns="0" bIns="0" rtlCol="0">
            <a:spAutoFit/>
          </a:bodyPr>
          <a:lstStyle/>
          <a:p>
            <a:pPr marL="15403">
              <a:spcBef>
                <a:spcPts val="1115"/>
              </a:spcBef>
            </a:pPr>
            <a:r>
              <a:rPr sz="2001" b="1" spc="-12" dirty="0">
                <a:solidFill>
                  <a:srgbClr val="A8A8A8"/>
                </a:solidFill>
                <a:latin typeface="Arial"/>
                <a:cs typeface="Arial"/>
              </a:rPr>
              <a:t>bell_grounded.py</a:t>
            </a:r>
            <a:endParaRPr sz="2001">
              <a:latin typeface="Arial"/>
              <a:cs typeface="Arial"/>
            </a:endParaRPr>
          </a:p>
          <a:p>
            <a:pPr marL="15403">
              <a:spcBef>
                <a:spcPts val="1049"/>
              </a:spcBef>
            </a:pP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#</a:t>
            </a:r>
            <a:r>
              <a:rPr sz="2062" i="1" spc="5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grounded</a:t>
            </a:r>
            <a:r>
              <a:rPr sz="2062" i="1" spc="61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output</a:t>
            </a:r>
            <a:r>
              <a:rPr sz="2062" i="1" spc="61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spc="-12" dirty="0">
                <a:solidFill>
                  <a:srgbClr val="797979"/>
                </a:solidFill>
                <a:latin typeface="Courier New"/>
                <a:cs typeface="Courier New"/>
              </a:rPr>
              <a:t>(abridged)</a:t>
            </a:r>
            <a:endParaRPr sz="2062">
              <a:latin typeface="Courier New"/>
              <a:cs typeface="Courier New"/>
            </a:endParaRPr>
          </a:p>
          <a:p>
            <a:pPr marL="15403" marR="170968">
              <a:lnSpc>
                <a:spcPts val="2959"/>
              </a:lnSpc>
              <a:spcBef>
                <a:spcPts val="97"/>
              </a:spcBef>
            </a:pP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from</a:t>
            </a:r>
            <a:r>
              <a:rPr sz="2062" spc="36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qiskit</a:t>
            </a:r>
            <a:r>
              <a:rPr sz="2062" spc="49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import</a:t>
            </a:r>
            <a:r>
              <a:rPr sz="2062" spc="49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A6C7FF"/>
                </a:solidFill>
                <a:latin typeface="Courier New"/>
                <a:cs typeface="Courier New"/>
              </a:rPr>
              <a:t>QuantumCircuit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from</a:t>
            </a:r>
            <a:r>
              <a:rPr sz="2062" spc="55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qiskit.transpiler</a:t>
            </a:r>
            <a:r>
              <a:rPr sz="2062" spc="73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A6C7FF"/>
                </a:solidFill>
                <a:latin typeface="Courier New"/>
                <a:cs typeface="Courier New"/>
              </a:rPr>
              <a:t>import</a:t>
            </a:r>
            <a:endParaRPr sz="2062">
              <a:latin typeface="Courier New"/>
              <a:cs typeface="Courier New"/>
            </a:endParaRPr>
          </a:p>
          <a:p>
            <a:pPr marL="335776">
              <a:spcBef>
                <a:spcPts val="224"/>
              </a:spcBef>
            </a:pPr>
            <a:r>
              <a:rPr sz="2062" spc="-12" dirty="0">
                <a:solidFill>
                  <a:srgbClr val="A6C7FF"/>
                </a:solidFill>
                <a:latin typeface="Courier New"/>
                <a:cs typeface="Courier New"/>
              </a:rPr>
              <a:t>generate_preset_pass_manager</a:t>
            </a:r>
            <a:endParaRPr sz="2062">
              <a:latin typeface="Courier New"/>
              <a:cs typeface="Courier New"/>
            </a:endParaRPr>
          </a:p>
          <a:p>
            <a:pPr marL="335776" marR="6161" indent="-321143">
              <a:lnSpc>
                <a:spcPct val="116500"/>
              </a:lnSpc>
            </a:pP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from</a:t>
            </a:r>
            <a:r>
              <a:rPr sz="2062" spc="79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qiskit_ibm_runtime</a:t>
            </a:r>
            <a:r>
              <a:rPr sz="2062" spc="85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import</a:t>
            </a:r>
            <a:r>
              <a:rPr sz="2062" spc="85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spc="-61" dirty="0">
                <a:solidFill>
                  <a:srgbClr val="A6C7FF"/>
                </a:solidFill>
                <a:latin typeface="Courier New"/>
                <a:cs typeface="Courier New"/>
              </a:rPr>
              <a:t>( </a:t>
            </a:r>
            <a:r>
              <a:rPr sz="2062" dirty="0">
                <a:solidFill>
                  <a:srgbClr val="A6C7FF"/>
                </a:solidFill>
                <a:latin typeface="Courier New"/>
                <a:cs typeface="Courier New"/>
              </a:rPr>
              <a:t>QiskitRuntimeService,</a:t>
            </a:r>
            <a:r>
              <a:rPr sz="2062" spc="138" dirty="0">
                <a:solidFill>
                  <a:srgbClr val="A6C7FF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A6C7FF"/>
                </a:solidFill>
                <a:latin typeface="Courier New"/>
                <a:cs typeface="Courier New"/>
              </a:rPr>
              <a:t>SamplerV2)</a:t>
            </a:r>
            <a:endParaRPr sz="2062">
              <a:latin typeface="Courier New"/>
              <a:cs typeface="Courier New"/>
            </a:endParaRPr>
          </a:p>
          <a:p>
            <a:pPr marL="15403" marR="1929941">
              <a:lnSpc>
                <a:spcPct val="116500"/>
              </a:lnSpc>
              <a:spcBef>
                <a:spcPts val="67"/>
              </a:spcBef>
            </a:pP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qc</a:t>
            </a:r>
            <a:r>
              <a:rPr sz="2062" spc="42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=</a:t>
            </a:r>
            <a:r>
              <a:rPr sz="2062" spc="42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spc="-12" dirty="0">
                <a:solidFill>
                  <a:srgbClr val="DFDFDF"/>
                </a:solidFill>
                <a:latin typeface="Courier New"/>
                <a:cs typeface="Courier New"/>
              </a:rPr>
              <a:t>QuantumCircuit(2) </a:t>
            </a: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qc.h(0);</a:t>
            </a:r>
            <a:r>
              <a:rPr sz="2062" spc="67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DFDFDF"/>
                </a:solidFill>
                <a:latin typeface="Courier New"/>
                <a:cs typeface="Courier New"/>
              </a:rPr>
              <a:t>qc.cx(0,</a:t>
            </a:r>
            <a:r>
              <a:rPr sz="2062" spc="79" dirty="0">
                <a:solidFill>
                  <a:srgbClr val="DFDFDF"/>
                </a:solidFill>
                <a:latin typeface="Courier New"/>
                <a:cs typeface="Courier New"/>
              </a:rPr>
              <a:t> </a:t>
            </a:r>
            <a:r>
              <a:rPr sz="2062" spc="-30" dirty="0">
                <a:solidFill>
                  <a:srgbClr val="DFDFDF"/>
                </a:solidFill>
                <a:latin typeface="Courier New"/>
                <a:cs typeface="Courier New"/>
              </a:rPr>
              <a:t>1) </a:t>
            </a:r>
            <a:r>
              <a:rPr sz="2062" spc="-12" dirty="0">
                <a:solidFill>
                  <a:srgbClr val="DFDFDF"/>
                </a:solidFill>
                <a:latin typeface="Courier New"/>
                <a:cs typeface="Courier New"/>
              </a:rPr>
              <a:t>qc.measure_all()</a:t>
            </a:r>
            <a:endParaRPr sz="2062">
              <a:latin typeface="Courier New"/>
              <a:cs typeface="Courier New"/>
            </a:endParaRPr>
          </a:p>
          <a:p>
            <a:pPr marL="15403">
              <a:spcBef>
                <a:spcPts val="406"/>
              </a:spcBef>
            </a:pP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#</a:t>
            </a:r>
            <a:r>
              <a:rPr sz="2062" i="1" spc="24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...ISA</a:t>
            </a:r>
            <a:r>
              <a:rPr sz="2062" i="1" spc="42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transpile</a:t>
            </a:r>
            <a:r>
              <a:rPr sz="2062" i="1" spc="85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dirty="0">
                <a:solidFill>
                  <a:srgbClr val="797979"/>
                </a:solidFill>
                <a:latin typeface="Courier New"/>
                <a:cs typeface="Courier New"/>
              </a:rPr>
              <a:t>→</a:t>
            </a:r>
            <a:r>
              <a:rPr sz="2062" i="1" spc="49" dirty="0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sz="2062" i="1" spc="-12" dirty="0">
                <a:solidFill>
                  <a:srgbClr val="797979"/>
                </a:solidFill>
                <a:latin typeface="Courier New"/>
                <a:cs typeface="Courier New"/>
              </a:rPr>
              <a:t>sampler.run()</a:t>
            </a:r>
            <a:endParaRPr sz="2062">
              <a:latin typeface="Courier New"/>
              <a:cs typeface="Courier New"/>
            </a:endParaRPr>
          </a:p>
          <a:p>
            <a:pPr marL="375052" indent="-359650">
              <a:spcBef>
                <a:spcPts val="485"/>
              </a:spcBef>
              <a:buFont typeface="Segoe UI Symbol"/>
              <a:buChar char="✓"/>
              <a:tabLst>
                <a:tab pos="375052" algn="l"/>
              </a:tabLst>
            </a:pPr>
            <a:r>
              <a:rPr sz="2062" dirty="0">
                <a:solidFill>
                  <a:srgbClr val="6EDC8B"/>
                </a:solidFill>
                <a:latin typeface="Courier New"/>
                <a:cs typeface="Courier New"/>
              </a:rPr>
              <a:t>runs</a:t>
            </a:r>
            <a:r>
              <a:rPr sz="2062" spc="36" dirty="0">
                <a:solidFill>
                  <a:srgbClr val="6EDC8B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6EDC8B"/>
                </a:solidFill>
                <a:latin typeface="Courier New"/>
                <a:cs typeface="Courier New"/>
              </a:rPr>
              <a:t>clean</a:t>
            </a:r>
            <a:r>
              <a:rPr sz="2062" spc="42" dirty="0">
                <a:solidFill>
                  <a:srgbClr val="6EDC8B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6EDC8B"/>
                </a:solidFill>
                <a:latin typeface="Courier New"/>
                <a:cs typeface="Courier New"/>
              </a:rPr>
              <a:t>on</a:t>
            </a:r>
            <a:r>
              <a:rPr sz="2062" spc="42" dirty="0">
                <a:solidFill>
                  <a:srgbClr val="6EDC8B"/>
                </a:solidFill>
                <a:latin typeface="Courier New"/>
                <a:cs typeface="Courier New"/>
              </a:rPr>
              <a:t> </a:t>
            </a:r>
            <a:r>
              <a:rPr sz="2062" dirty="0">
                <a:solidFill>
                  <a:srgbClr val="6EDC8B"/>
                </a:solidFill>
                <a:latin typeface="Courier New"/>
                <a:cs typeface="Courier New"/>
              </a:rPr>
              <a:t>Qiskit</a:t>
            </a:r>
            <a:r>
              <a:rPr sz="2062" spc="97" dirty="0">
                <a:solidFill>
                  <a:srgbClr val="6EDC8B"/>
                </a:solidFill>
                <a:latin typeface="Courier New"/>
                <a:cs typeface="Courier New"/>
              </a:rPr>
              <a:t> </a:t>
            </a:r>
            <a:r>
              <a:rPr sz="2062" spc="-30" dirty="0">
                <a:solidFill>
                  <a:srgbClr val="6EDC8B"/>
                </a:solidFill>
                <a:latin typeface="Courier New"/>
                <a:cs typeface="Courier New"/>
              </a:rPr>
              <a:t>2.5</a:t>
            </a:r>
            <a:endParaRPr sz="2062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9508" y="10513548"/>
            <a:ext cx="22179719" cy="1554891"/>
          </a:xfrm>
          <a:custGeom>
            <a:avLst/>
            <a:gdLst/>
            <a:ahLst/>
            <a:cxnLst/>
            <a:rect l="l" t="t" r="r" b="b"/>
            <a:pathLst>
              <a:path w="18288000" h="1282065">
                <a:moveTo>
                  <a:pt x="18166809" y="0"/>
                </a:moveTo>
                <a:lnTo>
                  <a:pt x="120619" y="0"/>
                </a:lnTo>
                <a:lnTo>
                  <a:pt x="73668" y="9483"/>
                </a:lnTo>
                <a:lnTo>
                  <a:pt x="35328" y="35347"/>
                </a:lnTo>
                <a:lnTo>
                  <a:pt x="9478" y="73717"/>
                </a:lnTo>
                <a:lnTo>
                  <a:pt x="0" y="120714"/>
                </a:lnTo>
                <a:lnTo>
                  <a:pt x="0" y="1160866"/>
                </a:lnTo>
                <a:lnTo>
                  <a:pt x="9478" y="1207847"/>
                </a:lnTo>
                <a:lnTo>
                  <a:pt x="35328" y="1246180"/>
                </a:lnTo>
                <a:lnTo>
                  <a:pt x="73668" y="1272009"/>
                </a:lnTo>
                <a:lnTo>
                  <a:pt x="120619" y="1281476"/>
                </a:lnTo>
                <a:lnTo>
                  <a:pt x="18166809" y="1281476"/>
                </a:lnTo>
                <a:lnTo>
                  <a:pt x="18213745" y="1272009"/>
                </a:lnTo>
                <a:lnTo>
                  <a:pt x="18252083" y="1246180"/>
                </a:lnTo>
                <a:lnTo>
                  <a:pt x="18277937" y="1207847"/>
                </a:lnTo>
                <a:lnTo>
                  <a:pt x="18287418" y="1160866"/>
                </a:lnTo>
                <a:lnTo>
                  <a:pt x="18287418" y="120714"/>
                </a:lnTo>
                <a:lnTo>
                  <a:pt x="18277937" y="73717"/>
                </a:lnTo>
                <a:lnTo>
                  <a:pt x="18252083" y="35347"/>
                </a:lnTo>
                <a:lnTo>
                  <a:pt x="18213745" y="9483"/>
                </a:lnTo>
                <a:lnTo>
                  <a:pt x="18166809" y="0"/>
                </a:lnTo>
                <a:close/>
              </a:path>
            </a:pathLst>
          </a:custGeom>
          <a:solidFill>
            <a:srgbClr val="DEFAE6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1" name="object 11"/>
          <p:cNvSpPr txBox="1"/>
          <p:nvPr/>
        </p:nvSpPr>
        <p:spPr>
          <a:xfrm>
            <a:off x="1634796" y="11064644"/>
            <a:ext cx="17942469" cy="402759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  <a:tabLst>
                <a:tab pos="8288118" algn="l"/>
              </a:tabLst>
            </a:pP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Current</a:t>
            </a:r>
            <a:r>
              <a:rPr sz="2486" b="1" spc="-97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APIs,</a:t>
            </a:r>
            <a:r>
              <a:rPr sz="2486" b="1" spc="-36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ISA</a:t>
            </a:r>
            <a:r>
              <a:rPr sz="2486" b="1" spc="-79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transpilation,</a:t>
            </a:r>
            <a:r>
              <a:rPr sz="2486" b="1" spc="-36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SamplerV2</a:t>
            </a:r>
            <a:r>
              <a:rPr sz="2486" b="1" spc="24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—</a:t>
            </a:r>
            <a:r>
              <a:rPr sz="2486" b="1" spc="-24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first</a:t>
            </a:r>
            <a:r>
              <a:rPr sz="2486" b="1" spc="42" dirty="0">
                <a:solidFill>
                  <a:srgbClr val="188038"/>
                </a:solidFill>
                <a:latin typeface="Arial"/>
                <a:cs typeface="Arial"/>
              </a:rPr>
              <a:t> </a:t>
            </a:r>
            <a:r>
              <a:rPr sz="2486" b="1" spc="-24" dirty="0">
                <a:solidFill>
                  <a:srgbClr val="188038"/>
                </a:solidFill>
                <a:latin typeface="Arial"/>
                <a:cs typeface="Arial"/>
              </a:rPr>
              <a:t>try.</a:t>
            </a:r>
            <a:r>
              <a:rPr sz="2486" b="1" dirty="0">
                <a:solidFill>
                  <a:srgbClr val="188038"/>
                </a:solidFill>
                <a:latin typeface="Arial"/>
                <a:cs typeface="Arial"/>
              </a:rPr>
              <a:t>	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fix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wasn't</a:t>
            </a:r>
            <a:r>
              <a:rPr sz="2486" spc="4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a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smarter</a:t>
            </a:r>
            <a:r>
              <a:rPr sz="2486" spc="-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model.</a:t>
            </a:r>
            <a:r>
              <a:rPr sz="2486" spc="-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It</a:t>
            </a:r>
            <a:r>
              <a:rPr sz="2486" spc="-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was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giving</a:t>
            </a:r>
            <a:r>
              <a:rPr sz="2486" spc="-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model</a:t>
            </a:r>
            <a:r>
              <a:rPr sz="2486" spc="-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dirty="0">
                <a:solidFill>
                  <a:srgbClr val="525252"/>
                </a:solidFill>
                <a:latin typeface="Arial"/>
                <a:cs typeface="Arial"/>
              </a:rPr>
              <a:t>today's</a:t>
            </a:r>
            <a:r>
              <a:rPr sz="2486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486" spc="-24" dirty="0">
                <a:solidFill>
                  <a:srgbClr val="525252"/>
                </a:solidFill>
                <a:latin typeface="Arial"/>
                <a:cs typeface="Arial"/>
              </a:rPr>
              <a:t>docs.</a:t>
            </a:r>
            <a:endParaRPr sz="2486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05885" y="560824"/>
            <a:ext cx="2405471" cy="239753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34585696" y="18951291"/>
            <a:ext cx="451736" cy="442716"/>
          </a:xfrm>
          <a:prstGeom prst="rect">
            <a:avLst/>
          </a:prstGeom>
        </p:spPr>
        <p:txBody>
          <a:bodyPr vert="horz" wrap="square" lIns="0" tIns="171734" rIns="0" bIns="0" rtlCol="0" anchor="b" anchorCtr="0">
            <a:spAutoFit/>
          </a:bodyPr>
          <a:lstStyle/>
          <a:p>
            <a:pPr marL="46208">
              <a:lnSpc>
                <a:spcPts val="2104"/>
              </a:lnSpc>
            </a:pPr>
            <a:r>
              <a:rPr sz="1759" spc="-30" dirty="0">
                <a:solidFill>
                  <a:srgbClr val="8D8D8D"/>
                </a:solidFill>
                <a:latin typeface="Arial"/>
                <a:cs typeface="Arial"/>
              </a:rPr>
              <a:t>30</a:t>
            </a:r>
            <a:endParaRPr sz="175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6443" y="6170995"/>
            <a:ext cx="11555788" cy="2486746"/>
          </a:xfrm>
          <a:custGeom>
            <a:avLst/>
            <a:gdLst/>
            <a:ahLst/>
            <a:cxnLst/>
            <a:rect l="l" t="t" r="r" b="b"/>
            <a:pathLst>
              <a:path w="9528175" h="2050415">
                <a:moveTo>
                  <a:pt x="9407542" y="0"/>
                </a:moveTo>
                <a:lnTo>
                  <a:pt x="120609" y="0"/>
                </a:lnTo>
                <a:lnTo>
                  <a:pt x="73673" y="9481"/>
                </a:lnTo>
                <a:lnTo>
                  <a:pt x="35334" y="35334"/>
                </a:lnTo>
                <a:lnTo>
                  <a:pt x="9481" y="73673"/>
                </a:lnTo>
                <a:lnTo>
                  <a:pt x="0" y="120609"/>
                </a:lnTo>
                <a:lnTo>
                  <a:pt x="0" y="1929752"/>
                </a:lnTo>
                <a:lnTo>
                  <a:pt x="9481" y="1976732"/>
                </a:lnTo>
                <a:lnTo>
                  <a:pt x="35334" y="2015066"/>
                </a:lnTo>
                <a:lnTo>
                  <a:pt x="73673" y="2040895"/>
                </a:lnTo>
                <a:lnTo>
                  <a:pt x="120609" y="2050361"/>
                </a:lnTo>
                <a:lnTo>
                  <a:pt x="9407542" y="2050361"/>
                </a:lnTo>
                <a:lnTo>
                  <a:pt x="9454479" y="2040895"/>
                </a:lnTo>
                <a:lnTo>
                  <a:pt x="9492817" y="2015066"/>
                </a:lnTo>
                <a:lnTo>
                  <a:pt x="9518670" y="1976732"/>
                </a:lnTo>
                <a:lnTo>
                  <a:pt x="9528152" y="1929752"/>
                </a:lnTo>
                <a:lnTo>
                  <a:pt x="9528152" y="120609"/>
                </a:lnTo>
                <a:lnTo>
                  <a:pt x="9518670" y="73673"/>
                </a:lnTo>
                <a:lnTo>
                  <a:pt x="9492817" y="35334"/>
                </a:lnTo>
                <a:lnTo>
                  <a:pt x="9454479" y="9481"/>
                </a:lnTo>
                <a:lnTo>
                  <a:pt x="9407542" y="0"/>
                </a:lnTo>
                <a:close/>
              </a:path>
            </a:pathLst>
          </a:custGeom>
          <a:solidFill>
            <a:srgbClr val="F6F1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3" name="object 3"/>
          <p:cNvSpPr txBox="1"/>
          <p:nvPr/>
        </p:nvSpPr>
        <p:spPr>
          <a:xfrm>
            <a:off x="1085997" y="825998"/>
            <a:ext cx="4530669" cy="38105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5403">
              <a:spcBef>
                <a:spcPts val="133"/>
              </a:spcBef>
            </a:pPr>
            <a:r>
              <a:rPr sz="2365" b="1" dirty="0">
                <a:solidFill>
                  <a:srgbClr val="893EFB"/>
                </a:solidFill>
                <a:latin typeface="Arial"/>
                <a:cs typeface="Arial"/>
              </a:rPr>
              <a:t>HAND</a:t>
            </a:r>
            <a:r>
              <a:rPr lang="en-US" sz="2365" b="1" spc="61" dirty="0">
                <a:solidFill>
                  <a:srgbClr val="893EFB"/>
                </a:solidFill>
                <a:latin typeface="Arial"/>
                <a:cs typeface="Arial"/>
              </a:rPr>
              <a:t>Y STEPS SHEET</a:t>
            </a:r>
            <a:endParaRPr sz="2365" dirty="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85997" y="1631085"/>
            <a:ext cx="15305547" cy="934764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58"/>
              </a:spcBef>
            </a:pP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The grounding</a:t>
            </a:r>
            <a:r>
              <a:rPr sz="5943" b="1" spc="49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ladder</a:t>
            </a:r>
            <a:r>
              <a:rPr sz="5943" b="1" spc="97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—</a:t>
            </a:r>
            <a:r>
              <a:rPr sz="5943" b="1" spc="42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six</a:t>
            </a:r>
            <a:r>
              <a:rPr sz="5943" b="1" spc="5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dirty="0">
                <a:solidFill>
                  <a:srgbClr val="161616"/>
                </a:solidFill>
                <a:latin typeface="Arial"/>
                <a:cs typeface="Arial"/>
              </a:rPr>
              <a:t>rungs, all</a:t>
            </a:r>
            <a:r>
              <a:rPr sz="5943" b="1" spc="6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5943" b="1" spc="-24" dirty="0">
                <a:solidFill>
                  <a:srgbClr val="161616"/>
                </a:solidFill>
                <a:latin typeface="Arial"/>
                <a:cs typeface="Arial"/>
              </a:rPr>
              <a:t>free</a:t>
            </a:r>
            <a:endParaRPr sz="5943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9508" y="3474042"/>
            <a:ext cx="10806452" cy="2486746"/>
          </a:xfrm>
          <a:custGeom>
            <a:avLst/>
            <a:gdLst/>
            <a:ahLst/>
            <a:cxnLst/>
            <a:rect l="l" t="t" r="r" b="b"/>
            <a:pathLst>
              <a:path w="8910320" h="2050414">
                <a:moveTo>
                  <a:pt x="8789418" y="0"/>
                </a:moveTo>
                <a:lnTo>
                  <a:pt x="120599" y="0"/>
                </a:lnTo>
                <a:lnTo>
                  <a:pt x="73655" y="9481"/>
                </a:lnTo>
                <a:lnTo>
                  <a:pt x="35321" y="35334"/>
                </a:lnTo>
                <a:lnTo>
                  <a:pt x="9476" y="73673"/>
                </a:lnTo>
                <a:lnTo>
                  <a:pt x="0" y="120609"/>
                </a:lnTo>
                <a:lnTo>
                  <a:pt x="0" y="1929752"/>
                </a:lnTo>
                <a:lnTo>
                  <a:pt x="9476" y="1976688"/>
                </a:lnTo>
                <a:lnTo>
                  <a:pt x="35321" y="2015027"/>
                </a:lnTo>
                <a:lnTo>
                  <a:pt x="73655" y="2040880"/>
                </a:lnTo>
                <a:lnTo>
                  <a:pt x="120599" y="2050361"/>
                </a:lnTo>
                <a:lnTo>
                  <a:pt x="8789418" y="2050361"/>
                </a:lnTo>
                <a:lnTo>
                  <a:pt x="8836355" y="2040880"/>
                </a:lnTo>
                <a:lnTo>
                  <a:pt x="8874693" y="2015027"/>
                </a:lnTo>
                <a:lnTo>
                  <a:pt x="8900546" y="1976688"/>
                </a:lnTo>
                <a:lnTo>
                  <a:pt x="8910028" y="1929752"/>
                </a:lnTo>
                <a:lnTo>
                  <a:pt x="8910028" y="120609"/>
                </a:lnTo>
                <a:lnTo>
                  <a:pt x="8900546" y="73673"/>
                </a:lnTo>
                <a:lnTo>
                  <a:pt x="8874693" y="35334"/>
                </a:lnTo>
                <a:lnTo>
                  <a:pt x="8836355" y="9481"/>
                </a:lnTo>
                <a:lnTo>
                  <a:pt x="8789418" y="0"/>
                </a:lnTo>
                <a:close/>
              </a:path>
            </a:pathLst>
          </a:custGeom>
          <a:solidFill>
            <a:srgbClr val="F6F1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6" name="object 6"/>
          <p:cNvSpPr txBox="1"/>
          <p:nvPr/>
        </p:nvSpPr>
        <p:spPr>
          <a:xfrm>
            <a:off x="1488522" y="4156558"/>
            <a:ext cx="453606" cy="933987"/>
          </a:xfrm>
          <a:prstGeom prst="rect">
            <a:avLst/>
          </a:prstGeom>
        </p:spPr>
        <p:txBody>
          <a:bodyPr vert="horz" wrap="square" lIns="0" tIns="19253" rIns="0" bIns="0" rtlCol="0">
            <a:spAutoFit/>
          </a:bodyPr>
          <a:lstStyle/>
          <a:p>
            <a:pPr marL="15403">
              <a:spcBef>
                <a:spcPts val="152"/>
              </a:spcBef>
            </a:pPr>
            <a:r>
              <a:rPr sz="5943" b="1" spc="-61" dirty="0">
                <a:solidFill>
                  <a:srgbClr val="893EFB"/>
                </a:solidFill>
                <a:latin typeface="Arial"/>
                <a:cs typeface="Arial"/>
              </a:rPr>
              <a:t>1</a:t>
            </a:r>
            <a:endParaRPr sz="594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3666" y="3648270"/>
            <a:ext cx="8124862" cy="1428611"/>
          </a:xfrm>
          <a:prstGeom prst="rect">
            <a:avLst/>
          </a:prstGeom>
        </p:spPr>
        <p:txBody>
          <a:bodyPr vert="horz" wrap="square" lIns="0" tIns="217947" rIns="0" bIns="0" rtlCol="0">
            <a:spAutoFit/>
          </a:bodyPr>
          <a:lstStyle/>
          <a:p>
            <a:pPr marL="15403">
              <a:spcBef>
                <a:spcPts val="1716"/>
              </a:spcBef>
            </a:pP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Attach</a:t>
            </a:r>
            <a:r>
              <a:rPr sz="2729" b="1" spc="-13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sz="2729" b="1" spc="-5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Docs</a:t>
            </a:r>
            <a:r>
              <a:rPr sz="2729" b="1" spc="-11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30" dirty="0">
                <a:solidFill>
                  <a:srgbClr val="161616"/>
                </a:solidFill>
                <a:latin typeface="Arial"/>
                <a:cs typeface="Arial"/>
              </a:rPr>
              <a:t>MCP</a:t>
            </a:r>
            <a:endParaRPr sz="2729">
              <a:latin typeface="Arial"/>
              <a:cs typeface="Arial"/>
            </a:endParaRPr>
          </a:p>
          <a:p>
            <a:pPr marL="15403">
              <a:spcBef>
                <a:spcPts val="1243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pip</a:t>
            </a:r>
            <a:r>
              <a:rPr sz="2062" spc="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install</a:t>
            </a:r>
            <a:r>
              <a:rPr sz="2062" spc="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"qiskit-mcp-servers[all]"</a:t>
            </a:r>
            <a:r>
              <a:rPr sz="2062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—</a:t>
            </a:r>
            <a:r>
              <a:rPr sz="2062" spc="7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assistants</a:t>
            </a:r>
            <a:r>
              <a:rPr sz="2062" spc="7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read</a:t>
            </a:r>
            <a:r>
              <a:rPr sz="2062" spc="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live</a:t>
            </a:r>
            <a:r>
              <a:rPr sz="2062" spc="12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docs</a:t>
            </a:r>
            <a:r>
              <a:rPr sz="2062" spc="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before</a:t>
            </a:r>
            <a:endParaRPr sz="2062">
              <a:latin typeface="Arial"/>
              <a:cs typeface="Arial"/>
            </a:endParaRPr>
          </a:p>
          <a:p>
            <a:pPr marL="15403">
              <a:spcBef>
                <a:spcPts val="49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writing</a:t>
            </a:r>
            <a:r>
              <a:rPr sz="2062" spc="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24" dirty="0">
                <a:solidFill>
                  <a:srgbClr val="525252"/>
                </a:solidFill>
                <a:latin typeface="Arial"/>
                <a:cs typeface="Arial"/>
              </a:rPr>
              <a:t>code</a:t>
            </a:r>
            <a:endParaRPr sz="2062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65628" y="4156558"/>
            <a:ext cx="453606" cy="933987"/>
          </a:xfrm>
          <a:prstGeom prst="rect">
            <a:avLst/>
          </a:prstGeom>
        </p:spPr>
        <p:txBody>
          <a:bodyPr vert="horz" wrap="square" lIns="0" tIns="19253" rIns="0" bIns="0" rtlCol="0">
            <a:spAutoFit/>
          </a:bodyPr>
          <a:lstStyle/>
          <a:p>
            <a:pPr marL="15403">
              <a:spcBef>
                <a:spcPts val="152"/>
              </a:spcBef>
            </a:pPr>
            <a:r>
              <a:rPr sz="5943" b="1" spc="-61" dirty="0">
                <a:solidFill>
                  <a:srgbClr val="0E61FD"/>
                </a:solidFill>
                <a:latin typeface="Arial"/>
                <a:cs typeface="Arial"/>
              </a:rPr>
              <a:t>2</a:t>
            </a:r>
            <a:endParaRPr sz="594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01027" y="3648270"/>
            <a:ext cx="8530720" cy="1428611"/>
          </a:xfrm>
          <a:prstGeom prst="rect">
            <a:avLst/>
          </a:prstGeom>
        </p:spPr>
        <p:txBody>
          <a:bodyPr vert="horz" wrap="square" lIns="0" tIns="217947" rIns="0" bIns="0" rtlCol="0">
            <a:spAutoFit/>
          </a:bodyPr>
          <a:lstStyle/>
          <a:p>
            <a:pPr marL="15403">
              <a:spcBef>
                <a:spcPts val="1716"/>
              </a:spcBef>
            </a:pP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Feed</a:t>
            </a:r>
            <a:r>
              <a:rPr sz="2729" b="1" spc="-138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24" dirty="0">
                <a:solidFill>
                  <a:srgbClr val="161616"/>
                </a:solidFill>
                <a:latin typeface="Arial"/>
                <a:cs typeface="Arial"/>
              </a:rPr>
              <a:t>LLM-</a:t>
            </a: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friendly</a:t>
            </a:r>
            <a:r>
              <a:rPr sz="2729" b="1" spc="-11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24" dirty="0">
                <a:solidFill>
                  <a:srgbClr val="161616"/>
                </a:solidFill>
                <a:latin typeface="Arial"/>
                <a:cs typeface="Arial"/>
              </a:rPr>
              <a:t>docs</a:t>
            </a:r>
            <a:endParaRPr sz="2729">
              <a:latin typeface="Arial"/>
              <a:cs typeface="Arial"/>
            </a:endParaRPr>
          </a:p>
          <a:p>
            <a:pPr marL="15403">
              <a:spcBef>
                <a:spcPts val="1243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quantum.cloud.ibm.com/llms.txt</a:t>
            </a:r>
            <a:r>
              <a:rPr sz="2062" spc="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—</a:t>
            </a:r>
            <a:r>
              <a:rPr sz="2062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or</a:t>
            </a:r>
            <a:r>
              <a:rPr sz="2062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append</a:t>
            </a:r>
            <a:r>
              <a:rPr sz="2062" spc="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.md</a:t>
            </a:r>
            <a:r>
              <a:rPr sz="2062" spc="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to</a:t>
            </a:r>
            <a:r>
              <a:rPr sz="2062" spc="2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any docs</a:t>
            </a:r>
            <a:r>
              <a:rPr sz="2062" spc="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URL</a:t>
            </a:r>
            <a:r>
              <a:rPr sz="2062" spc="-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for</a:t>
            </a:r>
            <a:r>
              <a:rPr sz="2062" spc="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61" dirty="0">
                <a:solidFill>
                  <a:srgbClr val="525252"/>
                </a:solidFill>
                <a:latin typeface="Arial"/>
                <a:cs typeface="Arial"/>
              </a:rPr>
              <a:t>a</a:t>
            </a:r>
            <a:endParaRPr sz="2062">
              <a:latin typeface="Arial"/>
              <a:cs typeface="Arial"/>
            </a:endParaRPr>
          </a:p>
          <a:p>
            <a:pPr marL="15403">
              <a:spcBef>
                <a:spcPts val="49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clean-markdown</a:t>
            </a:r>
            <a:r>
              <a:rPr sz="2062" spc="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24" dirty="0">
                <a:solidFill>
                  <a:srgbClr val="525252"/>
                </a:solidFill>
                <a:latin typeface="Arial"/>
                <a:cs typeface="Arial"/>
              </a:rPr>
              <a:t>twin</a:t>
            </a:r>
            <a:endParaRPr sz="2062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8522" y="6937125"/>
            <a:ext cx="453606" cy="934764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5943" b="1" spc="-61" dirty="0">
                <a:solidFill>
                  <a:srgbClr val="188038"/>
                </a:solidFill>
                <a:latin typeface="Arial"/>
                <a:cs typeface="Arial"/>
              </a:rPr>
              <a:t>3</a:t>
            </a:r>
            <a:endParaRPr sz="594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3666" y="6428108"/>
            <a:ext cx="8747897" cy="1429389"/>
          </a:xfrm>
          <a:prstGeom prst="rect">
            <a:avLst/>
          </a:prstGeom>
        </p:spPr>
        <p:txBody>
          <a:bodyPr vert="horz" wrap="square" lIns="0" tIns="218717" rIns="0" bIns="0" rtlCol="0">
            <a:spAutoFit/>
          </a:bodyPr>
          <a:lstStyle/>
          <a:p>
            <a:pPr marL="15403">
              <a:spcBef>
                <a:spcPts val="1722"/>
              </a:spcBef>
            </a:pP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Paste</a:t>
            </a:r>
            <a:r>
              <a:rPr sz="2729" b="1" spc="-10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sz="2729" b="1" spc="-97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12" dirty="0">
                <a:solidFill>
                  <a:srgbClr val="161616"/>
                </a:solidFill>
                <a:latin typeface="Arial"/>
                <a:cs typeface="Arial"/>
              </a:rPr>
              <a:t>migration</a:t>
            </a:r>
            <a:r>
              <a:rPr sz="2729" b="1" spc="-97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12" dirty="0">
                <a:solidFill>
                  <a:srgbClr val="161616"/>
                </a:solidFill>
                <a:latin typeface="Arial"/>
                <a:cs typeface="Arial"/>
              </a:rPr>
              <a:t>guide</a:t>
            </a:r>
            <a:endParaRPr sz="2729">
              <a:latin typeface="Arial"/>
              <a:cs typeface="Arial"/>
            </a:endParaRPr>
          </a:p>
          <a:p>
            <a:pPr marL="15403">
              <a:spcBef>
                <a:spcPts val="1249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when</a:t>
            </a:r>
            <a:r>
              <a:rPr sz="2062" spc="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stuck</a:t>
            </a:r>
            <a:r>
              <a:rPr sz="2062" spc="4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on old code, give the</a:t>
            </a:r>
            <a:r>
              <a:rPr sz="2062" spc="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model</a:t>
            </a:r>
            <a:r>
              <a:rPr sz="2062" spc="4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the official</a:t>
            </a:r>
            <a:r>
              <a:rPr sz="2062" spc="4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1.0/2.0 migration</a:t>
            </a:r>
            <a:r>
              <a:rPr sz="2062" spc="67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notes</a:t>
            </a:r>
            <a:endParaRPr sz="2062">
              <a:latin typeface="Arial"/>
              <a:cs typeface="Arial"/>
            </a:endParaRPr>
          </a:p>
          <a:p>
            <a:pPr marL="15403">
              <a:spcBef>
                <a:spcPts val="49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as</a:t>
            </a:r>
            <a:r>
              <a:rPr sz="2062" spc="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context</a:t>
            </a:r>
            <a:endParaRPr sz="2062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65628" y="6937125"/>
            <a:ext cx="453606" cy="934764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5943" b="1" spc="-61" dirty="0">
                <a:solidFill>
                  <a:srgbClr val="D0256F"/>
                </a:solidFill>
                <a:latin typeface="Arial"/>
                <a:cs typeface="Arial"/>
              </a:rPr>
              <a:t>4</a:t>
            </a:r>
            <a:endParaRPr sz="594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01027" y="6428108"/>
            <a:ext cx="8632378" cy="1429389"/>
          </a:xfrm>
          <a:prstGeom prst="rect">
            <a:avLst/>
          </a:prstGeom>
        </p:spPr>
        <p:txBody>
          <a:bodyPr vert="horz" wrap="square" lIns="0" tIns="218717" rIns="0" bIns="0" rtlCol="0">
            <a:spAutoFit/>
          </a:bodyPr>
          <a:lstStyle/>
          <a:p>
            <a:pPr marL="15403">
              <a:spcBef>
                <a:spcPts val="1722"/>
              </a:spcBef>
            </a:pP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Pin</a:t>
            </a:r>
            <a:r>
              <a:rPr sz="2729" b="1" spc="-79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and</a:t>
            </a:r>
            <a:r>
              <a:rPr sz="2729" b="1" spc="-7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12" dirty="0">
                <a:solidFill>
                  <a:srgbClr val="161616"/>
                </a:solidFill>
                <a:latin typeface="Arial"/>
                <a:cs typeface="Arial"/>
              </a:rPr>
              <a:t>declare</a:t>
            </a:r>
            <a:r>
              <a:rPr sz="2729" b="1" spc="-133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12" dirty="0">
                <a:solidFill>
                  <a:srgbClr val="161616"/>
                </a:solidFill>
                <a:latin typeface="Arial"/>
                <a:cs typeface="Arial"/>
              </a:rPr>
              <a:t>versions</a:t>
            </a:r>
            <a:endParaRPr sz="2729">
              <a:latin typeface="Arial"/>
              <a:cs typeface="Arial"/>
            </a:endParaRPr>
          </a:p>
          <a:p>
            <a:pPr marL="15403">
              <a:spcBef>
                <a:spcPts val="1249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pip install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"qiskit==2.5.*"</a:t>
            </a:r>
            <a:r>
              <a:rPr sz="2062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—</a:t>
            </a:r>
            <a:r>
              <a:rPr sz="2062" spc="3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sz="2062" spc="7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tell</a:t>
            </a:r>
            <a:r>
              <a:rPr sz="2062" spc="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sz="2062" spc="73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assistant</a:t>
            </a:r>
            <a:r>
              <a:rPr sz="2062" spc="7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which</a:t>
            </a:r>
            <a:r>
              <a:rPr sz="2062" spc="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version</a:t>
            </a:r>
            <a:r>
              <a:rPr sz="2062" spc="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it's</a:t>
            </a:r>
            <a:r>
              <a:rPr sz="2062" spc="49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writing</a:t>
            </a:r>
            <a:endParaRPr sz="2062">
              <a:latin typeface="Arial"/>
              <a:cs typeface="Arial"/>
            </a:endParaRPr>
          </a:p>
          <a:p>
            <a:pPr marL="15403">
              <a:spcBef>
                <a:spcPts val="49"/>
              </a:spcBef>
            </a:pPr>
            <a:r>
              <a:rPr sz="2062" spc="-30" dirty="0">
                <a:solidFill>
                  <a:srgbClr val="525252"/>
                </a:solidFill>
                <a:latin typeface="Arial"/>
                <a:cs typeface="Arial"/>
              </a:rPr>
              <a:t>for</a:t>
            </a:r>
            <a:endParaRPr sz="2062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9508" y="9032509"/>
            <a:ext cx="10806452" cy="2486746"/>
          </a:xfrm>
          <a:custGeom>
            <a:avLst/>
            <a:gdLst/>
            <a:ahLst/>
            <a:cxnLst/>
            <a:rect l="l" t="t" r="r" b="b"/>
            <a:pathLst>
              <a:path w="8910320" h="2050415">
                <a:moveTo>
                  <a:pt x="8789418" y="0"/>
                </a:moveTo>
                <a:lnTo>
                  <a:pt x="120599" y="0"/>
                </a:lnTo>
                <a:lnTo>
                  <a:pt x="73655" y="9481"/>
                </a:lnTo>
                <a:lnTo>
                  <a:pt x="35321" y="35334"/>
                </a:lnTo>
                <a:lnTo>
                  <a:pt x="9476" y="73673"/>
                </a:lnTo>
                <a:lnTo>
                  <a:pt x="0" y="120609"/>
                </a:lnTo>
                <a:lnTo>
                  <a:pt x="0" y="1929857"/>
                </a:lnTo>
                <a:lnTo>
                  <a:pt x="9476" y="1976777"/>
                </a:lnTo>
                <a:lnTo>
                  <a:pt x="35321" y="2015079"/>
                </a:lnTo>
                <a:lnTo>
                  <a:pt x="73655" y="2040896"/>
                </a:lnTo>
                <a:lnTo>
                  <a:pt x="120599" y="2050361"/>
                </a:lnTo>
                <a:lnTo>
                  <a:pt x="8789418" y="2050361"/>
                </a:lnTo>
                <a:lnTo>
                  <a:pt x="8836355" y="2040896"/>
                </a:lnTo>
                <a:lnTo>
                  <a:pt x="8874693" y="2015079"/>
                </a:lnTo>
                <a:lnTo>
                  <a:pt x="8900546" y="1976777"/>
                </a:lnTo>
                <a:lnTo>
                  <a:pt x="8910028" y="1929857"/>
                </a:lnTo>
                <a:lnTo>
                  <a:pt x="8910028" y="120609"/>
                </a:lnTo>
                <a:lnTo>
                  <a:pt x="8900546" y="73673"/>
                </a:lnTo>
                <a:lnTo>
                  <a:pt x="8874693" y="35334"/>
                </a:lnTo>
                <a:lnTo>
                  <a:pt x="8836355" y="9481"/>
                </a:lnTo>
                <a:lnTo>
                  <a:pt x="8789418" y="0"/>
                </a:lnTo>
                <a:close/>
              </a:path>
            </a:pathLst>
          </a:custGeom>
          <a:solidFill>
            <a:srgbClr val="F6F1FF"/>
          </a:solidFill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15" name="object 15"/>
          <p:cNvSpPr txBox="1"/>
          <p:nvPr/>
        </p:nvSpPr>
        <p:spPr>
          <a:xfrm>
            <a:off x="1488522" y="9718264"/>
            <a:ext cx="453606" cy="934764"/>
          </a:xfrm>
          <a:prstGeom prst="rect">
            <a:avLst/>
          </a:prstGeom>
        </p:spPr>
        <p:txBody>
          <a:bodyPr vert="horz" wrap="square" lIns="0" tIns="20023" rIns="0" bIns="0" rtlCol="0">
            <a:spAutoFit/>
          </a:bodyPr>
          <a:lstStyle/>
          <a:p>
            <a:pPr marL="15403">
              <a:spcBef>
                <a:spcPts val="158"/>
              </a:spcBef>
            </a:pPr>
            <a:r>
              <a:rPr sz="5943" b="1" spc="-61" dirty="0">
                <a:solidFill>
                  <a:srgbClr val="6929C4"/>
                </a:solidFill>
                <a:latin typeface="Arial"/>
                <a:cs typeface="Arial"/>
              </a:rPr>
              <a:t>5</a:t>
            </a:r>
            <a:endParaRPr sz="5943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5998" y="13088153"/>
            <a:ext cx="6802551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03">
              <a:lnSpc>
                <a:spcPts val="2104"/>
              </a:lnSpc>
            </a:pP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Qiskit</a:t>
            </a:r>
            <a:r>
              <a:rPr sz="1759" spc="-30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Fall</a:t>
            </a:r>
            <a:r>
              <a:rPr sz="1759" spc="91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Fest</a:t>
            </a:r>
            <a:r>
              <a:rPr sz="1759" spc="85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2026</a:t>
            </a:r>
            <a:r>
              <a:rPr sz="1759" spc="24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·</a:t>
            </a:r>
            <a:r>
              <a:rPr sz="1759" spc="24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©</a:t>
            </a:r>
            <a:r>
              <a:rPr sz="1759" spc="30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2026</a:t>
            </a:r>
            <a:r>
              <a:rPr sz="1759" spc="18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dirty="0">
                <a:solidFill>
                  <a:srgbClr val="8D8D8D"/>
                </a:solidFill>
                <a:latin typeface="Arial"/>
                <a:cs typeface="Arial"/>
              </a:rPr>
              <a:t>IBM</a:t>
            </a:r>
            <a:r>
              <a:rPr sz="1759" spc="-18" dirty="0">
                <a:solidFill>
                  <a:srgbClr val="8D8D8D"/>
                </a:solidFill>
                <a:latin typeface="Arial"/>
                <a:cs typeface="Arial"/>
              </a:rPr>
              <a:t> </a:t>
            </a:r>
            <a:r>
              <a:rPr sz="1759" spc="-12" dirty="0">
                <a:solidFill>
                  <a:srgbClr val="8D8D8D"/>
                </a:solidFill>
                <a:latin typeface="Arial"/>
                <a:cs typeface="Arial"/>
              </a:rPr>
              <a:t>Corporation</a:t>
            </a:r>
            <a:endParaRPr sz="1759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513134" y="13088153"/>
            <a:ext cx="288028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03">
              <a:lnSpc>
                <a:spcPts val="2104"/>
              </a:lnSpc>
            </a:pPr>
            <a:r>
              <a:rPr sz="1759" spc="-30" dirty="0">
                <a:solidFill>
                  <a:srgbClr val="8D8D8D"/>
                </a:solidFill>
                <a:latin typeface="Arial"/>
                <a:cs typeface="Arial"/>
              </a:rPr>
              <a:t>32</a:t>
            </a:r>
            <a:endParaRPr sz="1759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3666" y="9208587"/>
            <a:ext cx="8151047" cy="1422152"/>
          </a:xfrm>
          <a:prstGeom prst="rect">
            <a:avLst/>
          </a:prstGeom>
        </p:spPr>
        <p:txBody>
          <a:bodyPr vert="horz" wrap="square" lIns="0" tIns="219487" rIns="0" bIns="0" rtlCol="0">
            <a:spAutoFit/>
          </a:bodyPr>
          <a:lstStyle/>
          <a:p>
            <a:pPr marL="15403">
              <a:spcBef>
                <a:spcPts val="1728"/>
              </a:spcBef>
            </a:pPr>
            <a:r>
              <a:rPr sz="2729" b="1" dirty="0">
                <a:solidFill>
                  <a:srgbClr val="161616"/>
                </a:solidFill>
                <a:latin typeface="Arial"/>
                <a:cs typeface="Arial"/>
              </a:rPr>
              <a:t>Run</a:t>
            </a:r>
            <a:r>
              <a:rPr sz="2729" b="1" spc="-109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729" b="1" spc="-12" dirty="0">
                <a:solidFill>
                  <a:srgbClr val="161616"/>
                </a:solidFill>
                <a:latin typeface="Arial"/>
                <a:cs typeface="Arial"/>
              </a:rPr>
              <a:t>everything</a:t>
            </a:r>
            <a:endParaRPr sz="2729">
              <a:latin typeface="Arial"/>
              <a:cs typeface="Arial"/>
            </a:endParaRPr>
          </a:p>
          <a:p>
            <a:pPr marL="15403" marR="6161">
              <a:lnSpc>
                <a:spcPct val="101899"/>
              </a:lnSpc>
              <a:spcBef>
                <a:spcPts val="1201"/>
              </a:spcBef>
            </a:pP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simulators</a:t>
            </a:r>
            <a:r>
              <a:rPr sz="2062" spc="6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are</a:t>
            </a:r>
            <a:r>
              <a:rPr sz="2062" spc="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free</a:t>
            </a:r>
            <a:r>
              <a:rPr sz="2062" spc="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sz="2062" spc="18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instant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—</a:t>
            </a:r>
            <a:r>
              <a:rPr sz="2062" spc="4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hallucinated</a:t>
            </a:r>
            <a:r>
              <a:rPr sz="2062" spc="6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APIs</a:t>
            </a:r>
            <a:r>
              <a:rPr sz="2062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die</a:t>
            </a:r>
            <a:r>
              <a:rPr sz="2062" spc="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loudly</a:t>
            </a:r>
            <a:r>
              <a:rPr sz="2062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dirty="0">
                <a:solidFill>
                  <a:srgbClr val="525252"/>
                </a:solidFill>
                <a:latin typeface="Arial"/>
                <a:cs typeface="Arial"/>
              </a:rPr>
              <a:t>on</a:t>
            </a:r>
            <a:r>
              <a:rPr sz="2062" spc="12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062" spc="-12" dirty="0">
                <a:solidFill>
                  <a:srgbClr val="525252"/>
                </a:solidFill>
                <a:latin typeface="Arial"/>
                <a:cs typeface="Arial"/>
              </a:rPr>
              <a:t>first execution</a:t>
            </a:r>
            <a:endParaRPr sz="206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92E5-ED69-8259-29B7-B5397585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DB601C4-6FD7-9A30-E10C-3225B5931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6434" y="5132299"/>
            <a:ext cx="12590613" cy="2665052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lnSpc>
                <a:spcPct val="100000"/>
              </a:lnSpc>
              <a:spcBef>
                <a:spcPts val="115"/>
              </a:spcBef>
            </a:pPr>
            <a:r>
              <a:rPr sz="17222" dirty="0"/>
              <a:t>A</a:t>
            </a:r>
            <a:r>
              <a:rPr sz="17222" spc="-158" dirty="0"/>
              <a:t> </a:t>
            </a:r>
            <a:r>
              <a:rPr sz="17222" dirty="0"/>
              <a:t>note</a:t>
            </a:r>
            <a:r>
              <a:rPr sz="17222" spc="-152" dirty="0"/>
              <a:t> </a:t>
            </a:r>
            <a:r>
              <a:rPr sz="17222" spc="-30" dirty="0"/>
              <a:t>on</a:t>
            </a:r>
            <a:r>
              <a:rPr lang="en-US" sz="17222" spc="-30" dirty="0"/>
              <a:t> Q + </a:t>
            </a:r>
            <a:endParaRPr sz="17222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1E60918-4310-6A35-D6E4-912FE63DD1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9831" y="5863461"/>
            <a:ext cx="2280474" cy="147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271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EDF5A-BBDE-15A7-74A6-1245DDEE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80C62F-9DD9-75E2-0002-CAED5959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9C402-6947-C69E-CCDC-41D8AAF2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8116189" cy="1589131"/>
          </a:xfrm>
        </p:spPr>
        <p:txBody>
          <a:bodyPr/>
          <a:lstStyle/>
          <a:p>
            <a:r>
              <a:rPr lang="en-US" dirty="0"/>
              <a:t>What is possible with Q + AI?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01FD3E6E-BAED-A859-0FA4-4BE0F5E84690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5E5B-8655-B1A8-8F43-59B7AFAF3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dirty="0"/>
              <a:t>5 Year Outlook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25BD3A9D-0678-1120-6EBE-618C0C0F2EB8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6E358-6272-329B-363C-FF556CBF8E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endParaRPr lang="en-US" dirty="0"/>
          </a:p>
          <a:p>
            <a:r>
              <a:rPr lang="en-US" dirty="0"/>
              <a:t>The Players</a:t>
            </a:r>
          </a:p>
          <a:p>
            <a:endParaRPr lang="en-US" dirty="0"/>
          </a:p>
          <a:p>
            <a:r>
              <a:rPr lang="en-US" dirty="0"/>
              <a:t>-Known and unknown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6FE7D6AF-EA98-458C-6440-2720667C14E1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0E3FE-27ED-17E3-FC1C-C68F2D704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dirty="0"/>
              <a:t>The Algorithms </a:t>
            </a:r>
          </a:p>
          <a:p>
            <a:endParaRPr lang="en-US" dirty="0"/>
          </a:p>
          <a:p>
            <a:r>
              <a:rPr lang="en-US" dirty="0"/>
              <a:t>-Where Q helps AI</a:t>
            </a:r>
          </a:p>
          <a:p>
            <a:r>
              <a:rPr lang="en-US" dirty="0"/>
              <a:t>-Where AI helps Q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1E3C9B5-ABDD-AE77-A1FD-E51F7D91E129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318130-495A-5F97-5864-678673B914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dirty="0"/>
              <a:t>The Applications</a:t>
            </a:r>
          </a:p>
          <a:p>
            <a:endParaRPr lang="en-US" dirty="0"/>
          </a:p>
          <a:p>
            <a:r>
              <a:rPr lang="en-US" dirty="0"/>
              <a:t>-What can you imagine?</a:t>
            </a:r>
          </a:p>
          <a:p>
            <a:r>
              <a:rPr lang="en-US" dirty="0"/>
              <a:t>-What are the challenges?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CF2C84-CB79-B763-92B8-A1512BC076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61FC4A-9111-C705-511A-D0F6A9B6BABE}"/>
              </a:ext>
            </a:extLst>
          </p:cNvPr>
          <p:cNvSpPr txBox="1"/>
          <p:nvPr/>
        </p:nvSpPr>
        <p:spPr>
          <a:xfrm>
            <a:off x="4793380" y="3445844"/>
            <a:ext cx="15737305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CB990-6DB6-64B3-457C-5938D4CE19AE}"/>
              </a:ext>
            </a:extLst>
          </p:cNvPr>
          <p:cNvSpPr txBox="1"/>
          <p:nvPr/>
        </p:nvSpPr>
        <p:spPr>
          <a:xfrm>
            <a:off x="576072" y="2054343"/>
            <a:ext cx="13148110" cy="1437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This would be a good topic for a Winning Certificate essay</a:t>
            </a:r>
          </a:p>
        </p:txBody>
      </p:sp>
    </p:spTree>
    <p:extLst>
      <p:ext uri="{BB962C8B-B14F-4D97-AF65-F5344CB8AC3E}">
        <p14:creationId xmlns:p14="http://schemas.microsoft.com/office/powerpoint/2010/main" val="3784913098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0143-8399-4DD9-96AA-198E3EA6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9D31F6-16CB-A58E-65A6-E9F7318D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13442"/>
            <a:ext cx="1885073" cy="1885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F9FE0-2CD6-F590-5E66-6A9E149A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learn more about Quantum Computing and </a:t>
            </a:r>
            <a:r>
              <a:rPr lang="en-US" dirty="0" err="1"/>
              <a:t>Qiskit</a:t>
            </a:r>
            <a:r>
              <a:rPr lang="en-US" dirty="0"/>
              <a:t>?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4D6084DC-0D0A-FA5D-2209-9E4B51BDA520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DADDD-3191-1097-5F03-EE59AECC2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3A045-B28B-9849-3814-E5D93BEA48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9844238"/>
          </a:xfrm>
        </p:spPr>
        <p:txBody>
          <a:bodyPr/>
          <a:lstStyle/>
          <a:p>
            <a:r>
              <a:rPr lang="en-US" dirty="0"/>
              <a:t>IBM Quantum Platform</a:t>
            </a:r>
          </a:p>
          <a:p>
            <a:r>
              <a:rPr lang="en-US" dirty="0"/>
              <a:t>-free online classes</a:t>
            </a:r>
          </a:p>
          <a:p>
            <a:endParaRPr lang="en-US" dirty="0"/>
          </a:p>
          <a:p>
            <a:r>
              <a:rPr lang="en-US" dirty="0" err="1"/>
              <a:t>Qiskit</a:t>
            </a:r>
            <a:r>
              <a:rPr lang="en-US" dirty="0"/>
              <a:t> YouTube Channel</a:t>
            </a:r>
          </a:p>
          <a:p>
            <a:endParaRPr lang="en-US" dirty="0"/>
          </a:p>
          <a:p>
            <a:r>
              <a:rPr lang="en-US" dirty="0"/>
              <a:t>Books</a:t>
            </a:r>
          </a:p>
          <a:p>
            <a:r>
              <a:rPr lang="en-US" dirty="0"/>
              <a:t>-Nielsen and Chuang – the original text</a:t>
            </a:r>
          </a:p>
          <a:p>
            <a:r>
              <a:rPr lang="en-US" dirty="0"/>
              <a:t>-Robert Hundt – QC for Programmers </a:t>
            </a:r>
          </a:p>
          <a:p>
            <a:r>
              <a:rPr lang="en-US" dirty="0"/>
              <a:t>-Olivier Ezratty – free online, comprehensive, Understanding Quantum Technologies</a:t>
            </a:r>
          </a:p>
          <a:p>
            <a:r>
              <a:rPr lang="en-US" dirty="0"/>
              <a:t>-Dalzell – free online, resource estimation</a:t>
            </a:r>
          </a:p>
          <a:p>
            <a:r>
              <a:rPr lang="en-US" dirty="0"/>
              <a:t>-Nielsen – free online</a:t>
            </a:r>
          </a:p>
          <a:p>
            <a:r>
              <a:rPr lang="en-US" dirty="0"/>
              <a:t>-Thomas Wong – Intro to Classical and Quantum Computing</a:t>
            </a:r>
          </a:p>
          <a:p>
            <a:endParaRPr lang="en-US" dirty="0"/>
          </a:p>
          <a:p>
            <a:r>
              <a:rPr lang="en-US" dirty="0"/>
              <a:t>QC Lecture Notes</a:t>
            </a:r>
          </a:p>
          <a:p>
            <a:r>
              <a:rPr lang="en-US" dirty="0"/>
              <a:t>-Scott Aaronson</a:t>
            </a:r>
          </a:p>
          <a:p>
            <a:r>
              <a:rPr lang="en-US" dirty="0"/>
              <a:t>-Lin </a:t>
            </a:r>
            <a:r>
              <a:rPr lang="en-US" dirty="0" err="1"/>
              <a:t>Lin</a:t>
            </a:r>
            <a:endParaRPr lang="en-US" dirty="0"/>
          </a:p>
          <a:p>
            <a:r>
              <a:rPr lang="en-US" dirty="0"/>
              <a:t>-John </a:t>
            </a:r>
            <a:r>
              <a:rPr lang="en-US" dirty="0" err="1"/>
              <a:t>Preskill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Conferences</a:t>
            </a:r>
          </a:p>
          <a:p>
            <a:r>
              <a:rPr lang="en-US" dirty="0"/>
              <a:t>-IEEE Quantum Week, QCE26, on-demand</a:t>
            </a:r>
          </a:p>
          <a:p>
            <a:r>
              <a:rPr lang="en-US" dirty="0"/>
              <a:t>(can register thru Nov 1, 2026)</a:t>
            </a:r>
          </a:p>
          <a:p>
            <a:endParaRPr lang="en-US" dirty="0"/>
          </a:p>
          <a:p>
            <a:r>
              <a:rPr lang="en-US" dirty="0"/>
              <a:t>Talk to your favorite AI</a:t>
            </a:r>
          </a:p>
          <a:p>
            <a:endParaRPr lang="en-US" dirty="0"/>
          </a:p>
          <a:p>
            <a:r>
              <a:rPr lang="en-US" dirty="0"/>
              <a:t>Stay-tuned for SQCM events</a:t>
            </a:r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0304DF96-6EFE-5F65-F3FF-2BB83BC63E07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04179-A303-5F20-5E10-0282604720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v2.5+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14444D-A04D-77F1-E8CC-3AF656E58B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</a:t>
            </a:r>
            <a:r>
              <a:rPr lang="en-US" dirty="0" err="1"/>
              <a:t>Documentation:API</a:t>
            </a:r>
            <a:r>
              <a:rPr lang="en-US" dirty="0"/>
              <a:t> and more</a:t>
            </a:r>
          </a:p>
          <a:p>
            <a:endParaRPr lang="en-US" dirty="0"/>
          </a:p>
          <a:p>
            <a:r>
              <a:rPr lang="en-US" dirty="0" err="1"/>
              <a:t>Qiskit</a:t>
            </a:r>
            <a:r>
              <a:rPr lang="en-US" dirty="0"/>
              <a:t> YouTube Channel</a:t>
            </a:r>
          </a:p>
          <a:p>
            <a:endParaRPr lang="en-US" dirty="0"/>
          </a:p>
          <a:p>
            <a:r>
              <a:rPr lang="en-US" dirty="0"/>
              <a:t>Explore Circuits:</a:t>
            </a:r>
          </a:p>
          <a:p>
            <a:r>
              <a:rPr lang="en-US" dirty="0"/>
              <a:t>Quirk – https://algassert.com/quirk</a:t>
            </a:r>
          </a:p>
          <a:p>
            <a:r>
              <a:rPr lang="en-US" dirty="0"/>
              <a:t>Grokking the Bloch Sphere -</a:t>
            </a:r>
          </a:p>
          <a:p>
            <a:r>
              <a:rPr lang="en-US" dirty="0" err="1"/>
              <a:t>IBMQuantum</a:t>
            </a:r>
            <a:r>
              <a:rPr lang="en-US" dirty="0"/>
              <a:t> Composer –</a:t>
            </a:r>
          </a:p>
          <a:p>
            <a:endParaRPr lang="en-US" dirty="0"/>
          </a:p>
          <a:p>
            <a:r>
              <a:rPr lang="en-US" dirty="0"/>
              <a:t>Study for the </a:t>
            </a:r>
            <a:r>
              <a:rPr lang="en-US" dirty="0" err="1"/>
              <a:t>Qiskit</a:t>
            </a:r>
            <a:r>
              <a:rPr lang="en-US" dirty="0"/>
              <a:t> Developer Certification exam</a:t>
            </a:r>
          </a:p>
          <a:p>
            <a:endParaRPr lang="en-US" dirty="0"/>
          </a:p>
          <a:p>
            <a:r>
              <a:rPr lang="en-US" dirty="0" err="1"/>
              <a:t>Qiskit</a:t>
            </a:r>
            <a:r>
              <a:rPr lang="en-US" dirty="0"/>
              <a:t> Tutorials</a:t>
            </a:r>
          </a:p>
          <a:p>
            <a:endParaRPr lang="en-US" dirty="0"/>
          </a:p>
          <a:p>
            <a:r>
              <a:rPr lang="en-US" dirty="0"/>
              <a:t>Sign-up for the free open-plan on the IBM Quantum Platform (10 free mins of QPU time per month)</a:t>
            </a:r>
          </a:p>
          <a:p>
            <a:endParaRPr lang="en-US" dirty="0"/>
          </a:p>
          <a:p>
            <a:r>
              <a:rPr lang="en-US" dirty="0"/>
              <a:t>Consider joining the </a:t>
            </a:r>
            <a:r>
              <a:rPr lang="en-US" dirty="0" err="1"/>
              <a:t>Qiskit</a:t>
            </a:r>
            <a:r>
              <a:rPr lang="en-US" dirty="0"/>
              <a:t> Advocate Program</a:t>
            </a:r>
          </a:p>
          <a:p>
            <a:endParaRPr lang="en-US" dirty="0"/>
          </a:p>
          <a:p>
            <a:r>
              <a:rPr lang="en-US" dirty="0"/>
              <a:t>Talk to your favorite AI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28B4AE-F164-39B2-BF79-63094D872A1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92139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042A2-4675-AC81-9D95-5DE8F998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5A0F8-E6BE-A2CE-A991-2998D55C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9244" y="544512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579D2C-27C4-1C91-E047-C2EFA879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2533536" cy="11428724"/>
          </a:xfrm>
        </p:spPr>
        <p:txBody>
          <a:bodyPr/>
          <a:lstStyle/>
          <a:p>
            <a:r>
              <a:rPr lang="en-US" b="1" dirty="0"/>
              <a:t>What should I do next?</a:t>
            </a:r>
            <a:br>
              <a:rPr lang="en-US" dirty="0"/>
            </a:br>
            <a:br>
              <a:rPr lang="en-US" sz="4000" dirty="0"/>
            </a:br>
            <a:r>
              <a:rPr lang="en-US" sz="4000" dirty="0"/>
              <a:t>-Complete the registration form, so that we have your name for the IBM Quantum Certificate: </a:t>
            </a:r>
            <a:r>
              <a:rPr lang="en-US" sz="4000" dirty="0">
                <a:hlinkClick r:id="rId4"/>
              </a:rPr>
              <a:t>https://forms.gle/bRnicddwZMJeXm8G6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-Visit the </a:t>
            </a:r>
            <a:r>
              <a:rPr lang="en-US" sz="4000" dirty="0">
                <a:hlinkClick r:id="rId5"/>
              </a:rPr>
              <a:t>SQCM QFF26 </a:t>
            </a:r>
            <a:r>
              <a:rPr lang="en-US" sz="4000" dirty="0" err="1">
                <a:hlinkClick r:id="rId5"/>
              </a:rPr>
              <a:t>github</a:t>
            </a:r>
            <a:r>
              <a:rPr lang="en-US" sz="4000" dirty="0">
                <a:hlinkClick r:id="rId5"/>
              </a:rPr>
              <a:t> </a:t>
            </a:r>
            <a:r>
              <a:rPr lang="en-US" sz="4000" dirty="0"/>
              <a:t>to checkout the </a:t>
            </a:r>
            <a:r>
              <a:rPr lang="en-US" sz="4000" dirty="0" err="1"/>
              <a:t>Qiskit</a:t>
            </a:r>
            <a:r>
              <a:rPr lang="en-US" sz="4000" dirty="0"/>
              <a:t> coding exercises and schedule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-Join the </a:t>
            </a:r>
            <a:r>
              <a:rPr lang="en-US" sz="4000" dirty="0">
                <a:hlinkClick r:id="rId6"/>
              </a:rPr>
              <a:t>SQCM Discord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-Learn more about Quantum Computing and </a:t>
            </a:r>
            <a:r>
              <a:rPr lang="en-US" sz="4000" dirty="0" err="1"/>
              <a:t>Qiskit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-Plan to attend future sessions!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b="1" dirty="0"/>
              <a:t>Questions?</a:t>
            </a:r>
            <a:br>
              <a:rPr lang="en-US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0B521-F54D-AC50-C212-D5081824DE8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AAE80-D93F-003A-FA32-2DB9A33E2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63626" y="9268862"/>
            <a:ext cx="3333750" cy="3333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2F07AA-1D83-2D18-3258-7BD42A28C921}"/>
              </a:ext>
            </a:extLst>
          </p:cNvPr>
          <p:cNvSpPr txBox="1"/>
          <p:nvPr/>
        </p:nvSpPr>
        <p:spPr>
          <a:xfrm>
            <a:off x="20145675" y="6734275"/>
            <a:ext cx="3672655" cy="2276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Please scan this QR code to register with IBM Quantum:</a:t>
            </a:r>
          </a:p>
        </p:txBody>
      </p:sp>
    </p:spTree>
    <p:extLst>
      <p:ext uri="{BB962C8B-B14F-4D97-AF65-F5344CB8AC3E}">
        <p14:creationId xmlns:p14="http://schemas.microsoft.com/office/powerpoint/2010/main" val="1065133338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89C7-36AA-A246-CC50-2BE8C21D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16671"/>
            <a:ext cx="11050588" cy="2859087"/>
          </a:xfrm>
        </p:spPr>
        <p:txBody>
          <a:bodyPr/>
          <a:lstStyle/>
          <a:p>
            <a:r>
              <a:rPr lang="en-US" dirty="0"/>
              <a:t>Thanks for coming!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Qeep</a:t>
            </a:r>
            <a:r>
              <a:rPr lang="en-US" dirty="0"/>
              <a:t> on </a:t>
            </a:r>
            <a:r>
              <a:rPr lang="en-US" dirty="0" err="1"/>
              <a:t>Qeeping</a:t>
            </a:r>
            <a:r>
              <a:rPr lang="en-US" dirty="0"/>
              <a:t> On!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9D2CB-05D8-3EB0-C92C-D5C6FAC9DF4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B52FC-811B-428B-E82D-D222E12E5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6" name="object 13">
            <a:extLst>
              <a:ext uri="{FF2B5EF4-FFF2-40B4-BE49-F238E27FC236}">
                <a16:creationId xmlns:a16="http://schemas.microsoft.com/office/drawing/2014/main" id="{C4D5D8D1-7FD0-F420-7AC2-2019DE5F0F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1575" y="443353"/>
            <a:ext cx="2405471" cy="239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975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9729</TotalTime>
  <Words>4041</Words>
  <Application>Microsoft Office PowerPoint</Application>
  <PresentationFormat>Custom</PresentationFormat>
  <Paragraphs>677</Paragraphs>
  <Slides>52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Arial</vt:lpstr>
      <vt:lpstr>Calibri</vt:lpstr>
      <vt:lpstr>Courier New</vt:lpstr>
      <vt:lpstr>IBM Plex Mono</vt:lpstr>
      <vt:lpstr>IBM Plex Sans</vt:lpstr>
      <vt:lpstr>IBM Plex Sans ExtLt</vt:lpstr>
      <vt:lpstr>IBM Plex Sans Light</vt:lpstr>
      <vt:lpstr>IBM Plex Sans Medm</vt:lpstr>
      <vt:lpstr>Mona Sans VF</vt:lpstr>
      <vt:lpstr>Segoe UI Symbol</vt:lpstr>
      <vt:lpstr>Wingdings</vt:lpstr>
      <vt:lpstr>IBM presentation template</vt:lpstr>
      <vt:lpstr>Decade in the Cloud   Welcome!</vt:lpstr>
      <vt:lpstr>QFF26 Kickoff Agenda  - What is Qiskit Fall Fest?  What is Qiskit?  - What are we going to do?  Have Fun!  - How can I earn an IBM Quantum Certificate?  - What’s next event-wise?   - How can I learn more?</vt:lpstr>
      <vt:lpstr>QFF26 – Global Event 4000+ Applications, IBMQ Selected 200 Hosts  Oct 5 – Nov 30, 2026</vt:lpstr>
      <vt:lpstr>What’s in it for you?  From IBM Quantum: -Participant Certificate  -Winning Certificate -Learning Opportunity and Badge(s)  From SQCM: -A chance to present? -Community, Collaborators, Learning Opportunity  From Packt Publishing: -a copy of Quantum Chemistry and Computing for the Curious? </vt:lpstr>
      <vt:lpstr>What are we going to do?</vt:lpstr>
      <vt:lpstr>Highlights from the SQCM github page for QFF26: </vt:lpstr>
      <vt:lpstr>Highlights from the SQCM github page for QFF26: </vt:lpstr>
      <vt:lpstr>Highlights from the SQCM github page for QFF26: </vt:lpstr>
      <vt:lpstr>IBM Quantum Learning</vt:lpstr>
      <vt:lpstr>PowerPoint Presentation</vt:lpstr>
      <vt:lpstr>Highlights from the SQCM github page for QFF26: </vt:lpstr>
      <vt:lpstr>Qiskit</vt:lpstr>
      <vt:lpstr>Where is everybody on their Quantum journey?</vt:lpstr>
      <vt:lpstr>PowerPoint Presentation</vt:lpstr>
      <vt:lpstr>Qiskit SDK sets the foundation</vt:lpstr>
      <vt:lpstr>IBM Quantum Platform</vt:lpstr>
      <vt:lpstr>IBM Quantum Platform</vt:lpstr>
      <vt:lpstr>IBM Quantum Platform</vt:lpstr>
      <vt:lpstr>IBM Quantum Platform</vt:lpstr>
      <vt:lpstr>IBM Quantum Platform</vt:lpstr>
      <vt:lpstr>Example workflows</vt:lpstr>
      <vt:lpstr>IBM Quantum Platform</vt:lpstr>
      <vt:lpstr>IBM Quantum Platform</vt:lpstr>
      <vt:lpstr>Error Mitigation (optional – at Beginner stage)</vt:lpstr>
      <vt:lpstr>IBM Quantum Platform</vt:lpstr>
      <vt:lpstr>IBM Quantum Platform</vt:lpstr>
      <vt:lpstr>IBM Quantum Platform</vt:lpstr>
      <vt:lpstr>Where are your participants on their Quantum journey?</vt:lpstr>
      <vt:lpstr>PowerPoint Presentation</vt:lpstr>
      <vt:lpstr>Example workflows</vt:lpstr>
      <vt:lpstr>Qiskit addons build on the Qiskit SDK</vt:lpstr>
      <vt:lpstr>Executor and Samplomatic enable advanced classical error mitigation</vt:lpstr>
      <vt:lpstr>Qiskit Addon: Sampling-based quantum diagonalization</vt:lpstr>
      <vt:lpstr>Qiskit Addon: Matrix-free Measurement Mitigation (M3)</vt:lpstr>
      <vt:lpstr>IBM Quantum Platform</vt:lpstr>
      <vt:lpstr>IBM Quantum Platform</vt:lpstr>
      <vt:lpstr>IBM Quantum Platform</vt:lpstr>
      <vt:lpstr>IBM Quantum Platform</vt:lpstr>
      <vt:lpstr>IBM Quantum Platform</vt:lpstr>
      <vt:lpstr>PowerPoint Presentation</vt:lpstr>
      <vt:lpstr>Utility Scale Modules</vt:lpstr>
      <vt:lpstr>A note on</vt:lpstr>
      <vt:lpstr>Qiskit MCP servers</vt:lpstr>
      <vt:lpstr>Common Pitfall – Deprecated code</vt:lpstr>
      <vt:lpstr>The two-prompt test — vanilla</vt:lpstr>
      <vt:lpstr>Same prompt — grounded with the Qiskit Docs MCP</vt:lpstr>
      <vt:lpstr>The grounding ladder — six rungs, all free</vt:lpstr>
      <vt:lpstr>A note on Q + </vt:lpstr>
      <vt:lpstr>What is possible with Q + AI?</vt:lpstr>
      <vt:lpstr>How can I learn more about Quantum Computing and Qiskit?</vt:lpstr>
      <vt:lpstr>What should I do next?  -Complete the registration form, so that we have your name for the IBM Quantum Certificate: https://forms.gle/bRnicddwZMJeXm8G6  -Visit the SQCM QFF26 github to checkout the Qiskit coding exercises and schedule  -Join the SQCM Discord  -Learn more about Quantum Computing and Qiskit  -Plan to attend future sessions!   Questions? </vt:lpstr>
      <vt:lpstr>Thanks for coming!  Qeep on Qeeping 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Natalie Hawkins</cp:lastModifiedBy>
  <cp:revision>109</cp:revision>
  <cp:lastPrinted>2019-04-25T15:14:05Z</cp:lastPrinted>
  <dcterms:created xsi:type="dcterms:W3CDTF">2024-04-30T19:03:56Z</dcterms:created>
  <dcterms:modified xsi:type="dcterms:W3CDTF">2026-10-06T06:05:57Z</dcterms:modified>
  <cp:category/>
</cp:coreProperties>
</file>